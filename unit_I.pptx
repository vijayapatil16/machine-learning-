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1"/>
  </p:notesMasterIdLst>
  <p:sldIdLst>
    <p:sldId id="256" r:id="rId2"/>
    <p:sldId id="257" r:id="rId3"/>
    <p:sldId id="258" r:id="rId4"/>
    <p:sldId id="288" r:id="rId5"/>
    <p:sldId id="287" r:id="rId6"/>
    <p:sldId id="286" r:id="rId7"/>
    <p:sldId id="289" r:id="rId8"/>
    <p:sldId id="292" r:id="rId9"/>
    <p:sldId id="291" r:id="rId10"/>
    <p:sldId id="294" r:id="rId11"/>
    <p:sldId id="261" r:id="rId12"/>
    <p:sldId id="262" r:id="rId13"/>
    <p:sldId id="263" r:id="rId14"/>
    <p:sldId id="264" r:id="rId15"/>
    <p:sldId id="265" r:id="rId16"/>
    <p:sldId id="266" r:id="rId17"/>
    <p:sldId id="267" r:id="rId18"/>
    <p:sldId id="268" r:id="rId19"/>
    <p:sldId id="269" r:id="rId20"/>
    <p:sldId id="304" r:id="rId21"/>
    <p:sldId id="280" r:id="rId22"/>
    <p:sldId id="297" r:id="rId23"/>
    <p:sldId id="300" r:id="rId24"/>
    <p:sldId id="270" r:id="rId25"/>
    <p:sldId id="271" r:id="rId26"/>
    <p:sldId id="305" r:id="rId27"/>
    <p:sldId id="284" r:id="rId28"/>
    <p:sldId id="302" r:id="rId29"/>
    <p:sldId id="272" r:id="rId30"/>
    <p:sldId id="303" r:id="rId31"/>
    <p:sldId id="273" r:id="rId32"/>
    <p:sldId id="274" r:id="rId33"/>
    <p:sldId id="275" r:id="rId34"/>
    <p:sldId id="298" r:id="rId35"/>
    <p:sldId id="311" r:id="rId36"/>
    <p:sldId id="313" r:id="rId37"/>
    <p:sldId id="276" r:id="rId38"/>
    <p:sldId id="277" r:id="rId39"/>
    <p:sldId id="278" r:id="rId40"/>
    <p:sldId id="279" r:id="rId41"/>
    <p:sldId id="281" r:id="rId42"/>
    <p:sldId id="282" r:id="rId43"/>
    <p:sldId id="283" r:id="rId44"/>
    <p:sldId id="314" r:id="rId45"/>
    <p:sldId id="315" r:id="rId46"/>
    <p:sldId id="285" r:id="rId47"/>
    <p:sldId id="301" r:id="rId48"/>
    <p:sldId id="309" r:id="rId49"/>
    <p:sldId id="308" r:id="rId5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jF+axwt4yc3NUi2H8riIJ8txPF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02AA33A-A193-35ED-BC41-7E9526A3CEE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6ADB6A03-421D-597B-107A-4E0BDE3998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E6C2CE1A-CF5F-00D2-6D85-C8DC816563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a:extLst>
              <a:ext uri="{FF2B5EF4-FFF2-40B4-BE49-F238E27FC236}">
                <a16:creationId xmlns:a16="http://schemas.microsoft.com/office/drawing/2014/main" id="{97173256-179A-5950-CFFF-9073D07D8C1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1849162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00A486E-A8B8-F8B9-DC13-7F003881FDD7}"/>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F89A0110-4A7A-3400-6399-6C30AD924F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BD0E20EB-A956-1B22-8CB0-BA70C95B045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a:extLst>
              <a:ext uri="{FF2B5EF4-FFF2-40B4-BE49-F238E27FC236}">
                <a16:creationId xmlns:a16="http://schemas.microsoft.com/office/drawing/2014/main" id="{60D62929-A074-A6E7-6645-2656D51A5B2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1626032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69850CB-F77D-0776-20B4-143C4782078F}"/>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B24F4C33-82C3-215C-BBA6-47F1816BCD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829E3111-30ED-E1F1-F687-156262F54B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a:extLst>
              <a:ext uri="{FF2B5EF4-FFF2-40B4-BE49-F238E27FC236}">
                <a16:creationId xmlns:a16="http://schemas.microsoft.com/office/drawing/2014/main" id="{7546D820-3986-972C-92B3-9B5DF07FBA1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2562960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60C4C19-DAE1-33B4-ABE9-C694D6DBED9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1AE6F257-3A6D-5E6F-349F-C2B05C79EA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BD771259-48D8-864B-FA80-AAAA850702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a:extLst>
              <a:ext uri="{FF2B5EF4-FFF2-40B4-BE49-F238E27FC236}">
                <a16:creationId xmlns:a16="http://schemas.microsoft.com/office/drawing/2014/main" id="{011DC40B-0986-A49A-2628-998EED6FB4C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183991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C776F02-E997-D825-DF03-5AB29654F495}"/>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4BE0B905-AC14-CC39-5D6A-9ABB1B3457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8180BC6A-80C8-FD44-BD05-3B0C43233A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a:extLst>
              <a:ext uri="{FF2B5EF4-FFF2-40B4-BE49-F238E27FC236}">
                <a16:creationId xmlns:a16="http://schemas.microsoft.com/office/drawing/2014/main" id="{3F03E94E-BB01-4F6A-3CBF-A35AA076850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504578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EEB72D3-9978-46DE-2710-215990F4328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75DE60A-0D76-8803-64FD-0E9F095613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58743BB6-4779-1AA4-A0B8-316E5FC774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3:notes">
            <a:extLst>
              <a:ext uri="{FF2B5EF4-FFF2-40B4-BE49-F238E27FC236}">
                <a16:creationId xmlns:a16="http://schemas.microsoft.com/office/drawing/2014/main" id="{FAF474A6-9EC8-D504-23C4-1989A1905A5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473375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975F4BF-BB3C-5BD0-759F-CE64B3819192}"/>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CBCE1C4F-5F84-D9C5-4D02-1FB21F77FE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a:extLst>
              <a:ext uri="{FF2B5EF4-FFF2-40B4-BE49-F238E27FC236}">
                <a16:creationId xmlns:a16="http://schemas.microsoft.com/office/drawing/2014/main" id="{9678F536-5C9D-02CF-8A78-8E9301F621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9" name="Google Shape;109;p3:notes">
            <a:extLst>
              <a:ext uri="{FF2B5EF4-FFF2-40B4-BE49-F238E27FC236}">
                <a16:creationId xmlns:a16="http://schemas.microsoft.com/office/drawing/2014/main" id="{A8431279-A416-C31A-B35C-0087B536B1C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2664173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06" name="Google Shape;2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28858023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8" name="Google Shape;348;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0944631E-5FE7-2B17-CBE1-28FF630BAC0F}"/>
            </a:ext>
          </a:extLst>
        </p:cNvPr>
        <p:cNvGrpSpPr/>
        <p:nvPr/>
      </p:nvGrpSpPr>
      <p:grpSpPr>
        <a:xfrm>
          <a:off x="0" y="0"/>
          <a:ext cx="0" cy="0"/>
          <a:chOff x="0" y="0"/>
          <a:chExt cx="0" cy="0"/>
        </a:xfrm>
      </p:grpSpPr>
      <p:sp>
        <p:nvSpPr>
          <p:cNvPr id="225" name="Google Shape;225;p14:notes">
            <a:extLst>
              <a:ext uri="{FF2B5EF4-FFF2-40B4-BE49-F238E27FC236}">
                <a16:creationId xmlns:a16="http://schemas.microsoft.com/office/drawing/2014/main" id="{58D38D9A-7580-69F1-FB52-1F9FFD9CDB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4:notes">
            <a:extLst>
              <a:ext uri="{FF2B5EF4-FFF2-40B4-BE49-F238E27FC236}">
                <a16:creationId xmlns:a16="http://schemas.microsoft.com/office/drawing/2014/main" id="{034E706F-7FA3-F8A2-BB9F-ACBADC2A21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4:notes">
            <a:extLst>
              <a:ext uri="{FF2B5EF4-FFF2-40B4-BE49-F238E27FC236}">
                <a16:creationId xmlns:a16="http://schemas.microsoft.com/office/drawing/2014/main" id="{ADA113FF-62A7-8AB0-DF01-A3496884493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3521745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51E5FA24-DA15-000C-120E-CE809AF5ED6D}"/>
            </a:ext>
          </a:extLst>
        </p:cNvPr>
        <p:cNvGrpSpPr/>
        <p:nvPr/>
      </p:nvGrpSpPr>
      <p:grpSpPr>
        <a:xfrm>
          <a:off x="0" y="0"/>
          <a:ext cx="0" cy="0"/>
          <a:chOff x="0" y="0"/>
          <a:chExt cx="0" cy="0"/>
        </a:xfrm>
      </p:grpSpPr>
      <p:sp>
        <p:nvSpPr>
          <p:cNvPr id="237" name="Google Shape;237;p15:notes">
            <a:extLst>
              <a:ext uri="{FF2B5EF4-FFF2-40B4-BE49-F238E27FC236}">
                <a16:creationId xmlns:a16="http://schemas.microsoft.com/office/drawing/2014/main" id="{850C2FA2-4CC2-923C-905E-CEDD94C801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5:notes">
            <a:extLst>
              <a:ext uri="{FF2B5EF4-FFF2-40B4-BE49-F238E27FC236}">
                <a16:creationId xmlns:a16="http://schemas.microsoft.com/office/drawing/2014/main" id="{924B47F5-02ED-17C7-1BAF-31068C3F22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5:notes">
            <a:extLst>
              <a:ext uri="{FF2B5EF4-FFF2-40B4-BE49-F238E27FC236}">
                <a16:creationId xmlns:a16="http://schemas.microsoft.com/office/drawing/2014/main" id="{3E77B5E3-77D3-52EE-BD06-2B5342F2E4A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extLst>
      <p:ext uri="{BB962C8B-B14F-4D97-AF65-F5344CB8AC3E}">
        <p14:creationId xmlns:p14="http://schemas.microsoft.com/office/powerpoint/2010/main" val="2771218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extLst>
      <p:ext uri="{BB962C8B-B14F-4D97-AF65-F5344CB8AC3E}">
        <p14:creationId xmlns:p14="http://schemas.microsoft.com/office/powerpoint/2010/main" val="40241127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extLst>
      <p:ext uri="{BB962C8B-B14F-4D97-AF65-F5344CB8AC3E}">
        <p14:creationId xmlns:p14="http://schemas.microsoft.com/office/powerpoint/2010/main" val="3004835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extLst>
      <p:ext uri="{BB962C8B-B14F-4D97-AF65-F5344CB8AC3E}">
        <p14:creationId xmlns:p14="http://schemas.microsoft.com/office/powerpoint/2010/main" val="152920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a:extLst>
            <a:ext uri="{FF2B5EF4-FFF2-40B4-BE49-F238E27FC236}">
              <a16:creationId xmlns:a16="http://schemas.microsoft.com/office/drawing/2014/main" id="{6D61553B-8D16-6C2B-9F69-4A429B83CCD1}"/>
            </a:ext>
          </a:extLst>
        </p:cNvPr>
        <p:cNvGrpSpPr/>
        <p:nvPr/>
      </p:nvGrpSpPr>
      <p:grpSpPr>
        <a:xfrm>
          <a:off x="0" y="0"/>
          <a:ext cx="0" cy="0"/>
          <a:chOff x="0" y="0"/>
          <a:chExt cx="0" cy="0"/>
        </a:xfrm>
      </p:grpSpPr>
      <p:sp>
        <p:nvSpPr>
          <p:cNvPr id="259" name="Google Shape;259;p17:notes">
            <a:extLst>
              <a:ext uri="{FF2B5EF4-FFF2-40B4-BE49-F238E27FC236}">
                <a16:creationId xmlns:a16="http://schemas.microsoft.com/office/drawing/2014/main" id="{C90D0530-9A1E-7007-3323-B62C8B22F4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7:notes">
            <a:extLst>
              <a:ext uri="{FF2B5EF4-FFF2-40B4-BE49-F238E27FC236}">
                <a16:creationId xmlns:a16="http://schemas.microsoft.com/office/drawing/2014/main" id="{9F96D16B-003E-5DF4-5FDE-72D11C210C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17:notes">
            <a:extLst>
              <a:ext uri="{FF2B5EF4-FFF2-40B4-BE49-F238E27FC236}">
                <a16:creationId xmlns:a16="http://schemas.microsoft.com/office/drawing/2014/main" id="{5A37B972-E261-179A-9933-B65D3C74127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extLst>
      <p:ext uri="{BB962C8B-B14F-4D97-AF65-F5344CB8AC3E}">
        <p14:creationId xmlns:p14="http://schemas.microsoft.com/office/powerpoint/2010/main" val="6942188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extLst>
      <p:ext uri="{BB962C8B-B14F-4D97-AF65-F5344CB8AC3E}">
        <p14:creationId xmlns:p14="http://schemas.microsoft.com/office/powerpoint/2010/main" val="3262027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36</a:t>
            </a:fld>
            <a:endParaRPr/>
          </a:p>
        </p:txBody>
      </p:sp>
    </p:spTree>
    <p:extLst>
      <p:ext uri="{BB962C8B-B14F-4D97-AF65-F5344CB8AC3E}">
        <p14:creationId xmlns:p14="http://schemas.microsoft.com/office/powerpoint/2010/main" val="250106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06" name="Google Shape;30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9" name="Google Shape;36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a:p>
        </p:txBody>
      </p:sp>
    </p:spTree>
    <p:extLst>
      <p:ext uri="{BB962C8B-B14F-4D97-AF65-F5344CB8AC3E}">
        <p14:creationId xmlns:p14="http://schemas.microsoft.com/office/powerpoint/2010/main" val="33822707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45</a:t>
            </a:fld>
            <a:endParaRPr/>
          </a:p>
        </p:txBody>
      </p:sp>
    </p:spTree>
    <p:extLst>
      <p:ext uri="{BB962C8B-B14F-4D97-AF65-F5344CB8AC3E}">
        <p14:creationId xmlns:p14="http://schemas.microsoft.com/office/powerpoint/2010/main" val="36031825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extLst>
      <p:ext uri="{BB962C8B-B14F-4D97-AF65-F5344CB8AC3E}">
        <p14:creationId xmlns:p14="http://schemas.microsoft.com/office/powerpoint/2010/main" val="15028927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48</a:t>
            </a:fld>
            <a:endParaRPr/>
          </a:p>
        </p:txBody>
      </p:sp>
    </p:spTree>
    <p:extLst>
      <p:ext uri="{BB962C8B-B14F-4D97-AF65-F5344CB8AC3E}">
        <p14:creationId xmlns:p14="http://schemas.microsoft.com/office/powerpoint/2010/main" val="11167767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extLst>
      <p:ext uri="{BB962C8B-B14F-4D97-AF65-F5344CB8AC3E}">
        <p14:creationId xmlns:p14="http://schemas.microsoft.com/office/powerpoint/2010/main" val="936694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0"/>
          <p:cNvSpPr>
            <a:spLocks noGrp="1"/>
          </p:cNvSpPr>
          <p:nvPr>
            <p:ph type="pic" idx="2"/>
          </p:nvPr>
        </p:nvSpPr>
        <p:spPr>
          <a:xfrm>
            <a:off x="5183188" y="987425"/>
            <a:ext cx="6172200" cy="4873625"/>
          </a:xfrm>
          <a:prstGeom prst="rect">
            <a:avLst/>
          </a:prstGeom>
          <a:noFill/>
          <a:ln>
            <a:noFill/>
          </a:ln>
        </p:spPr>
      </p:sp>
      <p:sp>
        <p:nvSpPr>
          <p:cNvPr id="68" name="Google Shape;68;p4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notesSlide" Target="../notesSlides/notesSlide6.xml"/><Relationship Id="rId7" Type="http://schemas.openxmlformats.org/officeDocument/2006/relationships/image" Target="../media/image4.gif"/><Relationship Id="rId2" Type="http://schemas.openxmlformats.org/officeDocument/2006/relationships/slideLayout" Target="../slideLayouts/slideLayout2.xml"/><Relationship Id="rId1" Type="http://schemas.openxmlformats.org/officeDocument/2006/relationships/video" Target="https://www.youtube.com/embed/yTwCA7H03cc" TargetMode="External"/><Relationship Id="rId6" Type="http://schemas.openxmlformats.org/officeDocument/2006/relationships/hyperlink" Target="https://www.youtube.com/watch?v=yTwCA7H03cc" TargetMode="External"/><Relationship Id="rId5" Type="http://schemas.openxmlformats.org/officeDocument/2006/relationships/image" Target="../media/image2.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gif"/><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gi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hyperlink" Target="https://www.vtupulse.com/wp-content/uploads/2022/11/image-16.png" TargetMode="Externa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jpg"/><Relationship Id="rId7"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7.jp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2.jp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endParaRPr/>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pic>
        <p:nvPicPr>
          <p:cNvPr id="90" name="Google Shape;90;p1"/>
          <p:cNvPicPr preferRelativeResize="0"/>
          <p:nvPr/>
        </p:nvPicPr>
        <p:blipFill rotWithShape="1">
          <a:blip r:embed="rId3">
            <a:alphaModFix/>
          </a:blip>
          <a:srcRect b="2862"/>
          <a:stretch/>
        </p:blipFill>
        <p:spPr>
          <a:xfrm>
            <a:off x="-22946" y="-16728"/>
            <a:ext cx="12214948" cy="6874728"/>
          </a:xfrm>
          <a:prstGeom prst="rect">
            <a:avLst/>
          </a:prstGeom>
          <a:noFill/>
          <a:ln>
            <a:noFill/>
          </a:ln>
        </p:spPr>
      </p:pic>
      <p:sp>
        <p:nvSpPr>
          <p:cNvPr id="91" name="Google Shape;91;p1"/>
          <p:cNvSpPr txBox="1"/>
          <p:nvPr/>
        </p:nvSpPr>
        <p:spPr>
          <a:xfrm>
            <a:off x="11151" y="668608"/>
            <a:ext cx="12169698" cy="317716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000"/>
              <a:buFont typeface="Arial"/>
              <a:buNone/>
            </a:pPr>
            <a:endParaRPr sz="1600" b="0" i="0" u="none" strike="noStrike" cap="none" dirty="0">
              <a:solidFill>
                <a:srgbClr val="CC00CC"/>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000"/>
              <a:buFont typeface="Arial"/>
              <a:buNone/>
            </a:pPr>
            <a:r>
              <a:rPr lang="en-US" sz="3000" b="0" i="0" u="none" strike="noStrike" cap="none" dirty="0">
                <a:solidFill>
                  <a:srgbClr val="CC00CC"/>
                </a:solidFill>
                <a:latin typeface="Times New Roman"/>
                <a:ea typeface="Times New Roman"/>
                <a:cs typeface="Times New Roman"/>
                <a:sym typeface="Times New Roman"/>
              </a:rPr>
              <a:t>MACHINE LEARNING</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000"/>
              <a:buFont typeface="Arial"/>
              <a:buNone/>
            </a:pPr>
            <a:endParaRPr sz="16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000"/>
              <a:buFont typeface="Arial"/>
              <a:buNone/>
            </a:pPr>
            <a:r>
              <a:rPr lang="en-US" sz="3000" b="0" i="0" u="none" strike="noStrike" cap="none" dirty="0">
                <a:solidFill>
                  <a:srgbClr val="FF0000"/>
                </a:solidFill>
                <a:latin typeface="Times New Roman"/>
                <a:ea typeface="Times New Roman"/>
                <a:cs typeface="Times New Roman"/>
                <a:sym typeface="Times New Roman"/>
              </a:rPr>
              <a:t>Class - F.Y. MSc(SEM-II)</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000"/>
              <a:buFont typeface="Arial"/>
              <a:buNone/>
            </a:pPr>
            <a:endParaRPr b="0"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rgbClr val="000000"/>
                </a:solidFill>
                <a:latin typeface="Times New Roman"/>
                <a:ea typeface="Times New Roman"/>
                <a:cs typeface="Times New Roman"/>
                <a:sym typeface="Times New Roman"/>
              </a:rPr>
              <a:t>Unit I: Introduction to Machine Learning </a:t>
            </a:r>
            <a:endParaRPr sz="3600" b="1" i="0" u="none" strike="noStrike" cap="none" dirty="0">
              <a:solidFill>
                <a:srgbClr val="000000"/>
              </a:solidFill>
              <a:latin typeface="Times New Roman"/>
              <a:ea typeface="Times New Roman"/>
              <a:cs typeface="Times New Roman"/>
              <a:sym typeface="Times New Roman"/>
            </a:endParaRPr>
          </a:p>
        </p:txBody>
      </p:sp>
      <p:sp>
        <p:nvSpPr>
          <p:cNvPr id="92" name="Google Shape;92;p1"/>
          <p:cNvSpPr txBox="1"/>
          <p:nvPr/>
        </p:nvSpPr>
        <p:spPr>
          <a:xfrm>
            <a:off x="1524000" y="5958840"/>
            <a:ext cx="8784921" cy="914400"/>
          </a:xfrm>
          <a:prstGeom prst="rect">
            <a:avLst/>
          </a:prstGeom>
          <a:noFill/>
          <a:ln>
            <a:noFill/>
          </a:ln>
        </p:spPr>
        <p:txBody>
          <a:bodyPr spcFirstLastPara="1" wrap="square" lIns="91425" tIns="45700" rIns="91425" bIns="45700" anchor="ctr" anchorCtr="0">
            <a:normAutofit fontScale="97500"/>
          </a:bodyPr>
          <a:lstStyle/>
          <a:p>
            <a:pPr marL="0" marR="0" lvl="0" indent="0" algn="ctr" rtl="0">
              <a:lnSpc>
                <a:spcPct val="100000"/>
              </a:lnSpc>
              <a:spcBef>
                <a:spcPts val="0"/>
              </a:spcBef>
              <a:spcAft>
                <a:spcPts val="0"/>
              </a:spcAft>
              <a:buClr>
                <a:srgbClr val="000000"/>
              </a:buClr>
              <a:buSzPct val="100000"/>
              <a:buFont typeface="Arial"/>
              <a:buNone/>
            </a:pPr>
            <a:r>
              <a:rPr lang="en-US" sz="3100" b="0" i="0" u="none" strike="noStrike" cap="none" dirty="0">
                <a:solidFill>
                  <a:srgbClr val="CC00CC"/>
                </a:solidFill>
                <a:latin typeface="Times New Roman"/>
                <a:ea typeface="Times New Roman"/>
                <a:cs typeface="Times New Roman"/>
                <a:sym typeface="Times New Roman"/>
              </a:rPr>
              <a:t>AY 2025-2026 SEM-II</a:t>
            </a:r>
            <a:endParaRPr sz="2800" b="0" i="0" u="none" strike="noStrike" cap="none" dirty="0">
              <a:solidFill>
                <a:srgbClr val="000000"/>
              </a:solidFill>
              <a:latin typeface="Times New Roman"/>
              <a:ea typeface="Times New Roman"/>
              <a:cs typeface="Times New Roman"/>
              <a:sym typeface="Times New Roman"/>
            </a:endParaRPr>
          </a:p>
        </p:txBody>
      </p:sp>
      <p:pic>
        <p:nvPicPr>
          <p:cNvPr id="93" name="Google Shape;93;p1"/>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94" name="Google Shape;94;p1"/>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95" name="Google Shape;95;p1"/>
          <p:cNvSpPr txBox="1"/>
          <p:nvPr/>
        </p:nvSpPr>
        <p:spPr>
          <a:xfrm>
            <a:off x="2819827" y="4546973"/>
            <a:ext cx="67524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3000" i="0" u="none" strike="noStrike" cap="none" dirty="0">
                <a:solidFill>
                  <a:schemeClr val="tx1"/>
                </a:solidFill>
                <a:latin typeface="Times New Roman"/>
                <a:ea typeface="Times New Roman"/>
                <a:cs typeface="Times New Roman"/>
                <a:sym typeface="Times New Roman"/>
              </a:rPr>
              <a:t>Name Of the Course Coordinator</a:t>
            </a:r>
            <a:r>
              <a:rPr lang="en-US" sz="3000" b="0" i="0" u="none" strike="noStrike" cap="none" dirty="0">
                <a:solidFill>
                  <a:srgbClr val="FF0000"/>
                </a:solidFill>
                <a:latin typeface="Times New Roman"/>
                <a:ea typeface="Times New Roman"/>
                <a:cs typeface="Times New Roman"/>
                <a:sym typeface="Times New Roman"/>
              </a:rPr>
              <a:t>: </a:t>
            </a:r>
          </a:p>
          <a:p>
            <a:pPr marL="0" marR="0" lvl="0" indent="0" algn="ctr" rtl="0">
              <a:lnSpc>
                <a:spcPct val="100000"/>
              </a:lnSpc>
              <a:spcBef>
                <a:spcPts val="0"/>
              </a:spcBef>
              <a:spcAft>
                <a:spcPts val="0"/>
              </a:spcAft>
              <a:buClr>
                <a:srgbClr val="000000"/>
              </a:buClr>
              <a:buSzPts val="3000"/>
              <a:buFont typeface="Arial"/>
              <a:buNone/>
            </a:pPr>
            <a:r>
              <a:rPr lang="en-US" sz="3000" b="0" i="0" u="none" strike="noStrike" cap="none" dirty="0">
                <a:solidFill>
                  <a:srgbClr val="FF0000"/>
                </a:solidFill>
                <a:latin typeface="Times New Roman"/>
                <a:ea typeface="Times New Roman"/>
                <a:cs typeface="Times New Roman"/>
                <a:sym typeface="Times New Roman"/>
              </a:rPr>
              <a:t>Prof. Vijaya Patil</a:t>
            </a:r>
          </a:p>
          <a:p>
            <a:pPr algn="ctr"/>
            <a:endParaRPr lang="en-IN" sz="600" b="1" dirty="0"/>
          </a:p>
          <a:p>
            <a:pPr algn="ctr"/>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2"/>
          <p:cNvPicPr preferRelativeResize="0"/>
          <p:nvPr/>
        </p:nvPicPr>
        <p:blipFill rotWithShape="1">
          <a:blip r:embed="rId3">
            <a:alphaModFix/>
          </a:blip>
          <a:srcRect b="2862"/>
          <a:stretch/>
        </p:blipFill>
        <p:spPr>
          <a:xfrm>
            <a:off x="-22946" y="-16728"/>
            <a:ext cx="12214948" cy="6874728"/>
          </a:xfrm>
          <a:prstGeom prst="rect">
            <a:avLst/>
          </a:prstGeom>
          <a:noFill/>
          <a:ln>
            <a:noFill/>
          </a:ln>
        </p:spPr>
      </p:pic>
      <p:sp>
        <p:nvSpPr>
          <p:cNvPr id="102" name="Google Shape;102;p2"/>
          <p:cNvSpPr txBox="1">
            <a:spLocks noGrp="1"/>
          </p:cNvSpPr>
          <p:nvPr>
            <p:ph type="body" idx="1"/>
          </p:nvPr>
        </p:nvSpPr>
        <p:spPr>
          <a:xfrm>
            <a:off x="693112" y="876095"/>
            <a:ext cx="9968792" cy="584538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FF0000"/>
              </a:buClr>
              <a:buSzPts val="3200"/>
              <a:buNone/>
            </a:pPr>
            <a:endParaRPr lang="en-US" sz="3200" b="1" dirty="0">
              <a:solidFill>
                <a:srgbClr val="FF0000"/>
              </a:solidFill>
              <a:latin typeface="Times New Roman"/>
              <a:ea typeface="Times New Roman"/>
              <a:cs typeface="Times New Roman"/>
              <a:sym typeface="Times New Roman"/>
            </a:endParaRPr>
          </a:p>
          <a:p>
            <a:pPr marL="228600" lvl="0" indent="-228600" algn="l" rtl="0">
              <a:lnSpc>
                <a:spcPct val="90000"/>
              </a:lnSpc>
              <a:spcBef>
                <a:spcPts val="0"/>
              </a:spcBef>
              <a:spcAft>
                <a:spcPts val="0"/>
              </a:spcAft>
              <a:buClr>
                <a:srgbClr val="FF0000"/>
              </a:buClr>
              <a:buSzPts val="3200"/>
              <a:buNone/>
            </a:pPr>
            <a:r>
              <a:rPr lang="en-US" sz="3200" b="1" dirty="0">
                <a:solidFill>
                  <a:srgbClr val="FF0000"/>
                </a:solidFill>
                <a:latin typeface="Times New Roman"/>
                <a:ea typeface="Times New Roman"/>
                <a:cs typeface="Times New Roman"/>
                <a:sym typeface="Times New Roman"/>
              </a:rPr>
              <a:t>Syllabus :UNIT I                                       9 hours</a:t>
            </a:r>
            <a:endParaRPr dirty="0"/>
          </a:p>
          <a:p>
            <a:pPr marL="342900" algn="just">
              <a:lnSpc>
                <a:spcPct val="150000"/>
              </a:lnSpc>
              <a:buSzPts val="2200"/>
            </a:pPr>
            <a:r>
              <a:rPr lang="en-US" sz="2200" dirty="0">
                <a:latin typeface="Times New Roman"/>
                <a:ea typeface="Times New Roman"/>
                <a:cs typeface="Times New Roman"/>
                <a:sym typeface="Times New Roman"/>
              </a:rPr>
              <a:t>Introduction to machine learning; </a:t>
            </a:r>
          </a:p>
          <a:p>
            <a:pPr marL="342900" algn="just">
              <a:lnSpc>
                <a:spcPct val="150000"/>
              </a:lnSpc>
              <a:buSzPts val="2200"/>
            </a:pPr>
            <a:r>
              <a:rPr lang="en-US" sz="2200" dirty="0">
                <a:latin typeface="Times New Roman"/>
                <a:ea typeface="Times New Roman"/>
                <a:cs typeface="Times New Roman"/>
                <a:sym typeface="Times New Roman"/>
              </a:rPr>
              <a:t>Applications, and motivation; </a:t>
            </a:r>
          </a:p>
          <a:p>
            <a:pPr marL="342900" algn="just">
              <a:lnSpc>
                <a:spcPct val="150000"/>
              </a:lnSpc>
              <a:buSzPts val="2200"/>
            </a:pPr>
            <a:r>
              <a:rPr lang="en-US" sz="2200" dirty="0">
                <a:latin typeface="Times New Roman"/>
                <a:ea typeface="Times New Roman"/>
                <a:cs typeface="Times New Roman"/>
                <a:sym typeface="Times New Roman"/>
              </a:rPr>
              <a:t>programming approach vs. machine learning approach in Artificial Intelligence; </a:t>
            </a:r>
          </a:p>
          <a:p>
            <a:pPr marL="342900" algn="just">
              <a:lnSpc>
                <a:spcPct val="150000"/>
              </a:lnSpc>
              <a:buSzPts val="2200"/>
            </a:pPr>
            <a:r>
              <a:rPr lang="en-US" sz="2200" dirty="0">
                <a:latin typeface="Times New Roman"/>
                <a:ea typeface="Times New Roman"/>
                <a:cs typeface="Times New Roman"/>
                <a:sym typeface="Times New Roman"/>
              </a:rPr>
              <a:t>components of a learning problem (such as data, model, and error functions); </a:t>
            </a:r>
          </a:p>
          <a:p>
            <a:pPr marL="342900" algn="just">
              <a:lnSpc>
                <a:spcPct val="150000"/>
              </a:lnSpc>
              <a:buSzPts val="2200"/>
            </a:pPr>
            <a:r>
              <a:rPr lang="en-US" sz="2200" dirty="0">
                <a:latin typeface="Times New Roman"/>
                <a:ea typeface="Times New Roman"/>
                <a:cs typeface="Times New Roman"/>
                <a:sym typeface="Times New Roman"/>
              </a:rPr>
              <a:t>process of learning (training); </a:t>
            </a:r>
          </a:p>
          <a:p>
            <a:pPr marL="342900" algn="just">
              <a:lnSpc>
                <a:spcPct val="150000"/>
              </a:lnSpc>
              <a:buSzPts val="2200"/>
            </a:pPr>
            <a:r>
              <a:rPr lang="en-US" sz="2200" dirty="0">
                <a:latin typeface="Times New Roman"/>
                <a:ea typeface="Times New Roman"/>
                <a:cs typeface="Times New Roman"/>
                <a:sym typeface="Times New Roman"/>
              </a:rPr>
              <a:t>testing, bias and variance error; accuracy, confusion-matrix, </a:t>
            </a:r>
          </a:p>
          <a:p>
            <a:pPr marL="342900" algn="just">
              <a:lnSpc>
                <a:spcPct val="150000"/>
              </a:lnSpc>
              <a:buSzPts val="2200"/>
            </a:pPr>
            <a:r>
              <a:rPr lang="en-US" sz="2200" dirty="0">
                <a:latin typeface="Times New Roman"/>
                <a:ea typeface="Times New Roman"/>
                <a:cs typeface="Times New Roman"/>
                <a:sym typeface="Times New Roman"/>
              </a:rPr>
              <a:t>precision-recall; over-fitting; under-fitting; </a:t>
            </a:r>
          </a:p>
          <a:p>
            <a:pPr marL="342900" algn="just">
              <a:lnSpc>
                <a:spcPct val="150000"/>
              </a:lnSpc>
              <a:buSzPts val="2200"/>
            </a:pPr>
            <a:r>
              <a:rPr lang="en-US" sz="2200" dirty="0">
                <a:latin typeface="Times New Roman"/>
                <a:ea typeface="Times New Roman"/>
                <a:cs typeface="Times New Roman"/>
                <a:sym typeface="Times New Roman"/>
              </a:rPr>
              <a:t>role of cross validation; regularization; bias-variance analysis</a:t>
            </a:r>
            <a:endParaRPr sz="2200" b="1" dirty="0">
              <a:solidFill>
                <a:srgbClr val="FF0000"/>
              </a:solidFill>
              <a:latin typeface="Times New Roman"/>
              <a:ea typeface="Times New Roman"/>
              <a:cs typeface="Times New Roman"/>
              <a:sym typeface="Times New Roman"/>
            </a:endParaRPr>
          </a:p>
        </p:txBody>
      </p:sp>
      <p:pic>
        <p:nvPicPr>
          <p:cNvPr id="103" name="Google Shape;103;p2"/>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04" name="Google Shape;104;p2"/>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05" name="Google Shape;105;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3"/>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12" name="Google Shape;112;p3"/>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13" name="Google Shape;113;p3"/>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15" name="Google Shape;115;p3"/>
          <p:cNvSpPr txBox="1"/>
          <p:nvPr/>
        </p:nvSpPr>
        <p:spPr>
          <a:xfrm>
            <a:off x="193807" y="940156"/>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116" name="Google Shape;116;p3"/>
          <p:cNvSpPr/>
          <p:nvPr/>
        </p:nvSpPr>
        <p:spPr>
          <a:xfrm>
            <a:off x="193807" y="1021471"/>
            <a:ext cx="11829871" cy="526293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2800" b="1" i="0" u="none" strike="noStrike" cap="none" dirty="0">
                <a:solidFill>
                  <a:schemeClr val="dk1"/>
                </a:solidFill>
                <a:latin typeface="Times New Roman"/>
                <a:ea typeface="Times New Roman"/>
                <a:cs typeface="Times New Roman"/>
                <a:sym typeface="Times New Roman"/>
              </a:rPr>
              <a:t>Definition of Machine Learning:</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800" b="1" i="0" u="none" strike="noStrike" cap="none"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Machine learning is a branch of artificial intelligence (AI) and computer science which focuses on the use of data and algorithms to imitate the way that humans learn, gradually improving its accuracy.</a:t>
            </a:r>
          </a:p>
          <a:p>
            <a:pPr marR="0" lvl="0" algn="just" rtl="0">
              <a:lnSpc>
                <a:spcPct val="100000"/>
              </a:lnSpc>
              <a:spcBef>
                <a:spcPts val="0"/>
              </a:spcBef>
              <a:spcAft>
                <a:spcPts val="0"/>
              </a:spcAft>
              <a:buClr>
                <a:schemeClr val="dk1"/>
              </a:buClr>
              <a:buSzPts val="2000"/>
            </a:pPr>
            <a:endParaRPr lang="en-US" sz="2800" b="0" i="0" u="none" strike="noStrike" cap="none"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Definition by Arthur Samuel: Field of study that gives computers the capability to learn without being explicitly programmed</a:t>
            </a:r>
          </a:p>
          <a:p>
            <a:pPr marR="0" lvl="0" algn="just" rtl="0">
              <a:lnSpc>
                <a:spcPct val="100000"/>
              </a:lnSpc>
              <a:spcBef>
                <a:spcPts val="0"/>
              </a:spcBef>
              <a:spcAft>
                <a:spcPts val="0"/>
              </a:spcAft>
              <a:buClr>
                <a:schemeClr val="dk1"/>
              </a:buClr>
              <a:buSzPts val="2000"/>
            </a:pPr>
            <a:endParaRPr lang="en-US" sz="2800" b="0" i="0" u="none" strike="noStrike" cap="none" dirty="0">
              <a:solidFill>
                <a:schemeClr val="dk1"/>
              </a:solidFill>
              <a:latin typeface="Times New Roman"/>
              <a:ea typeface="Times New Roman"/>
              <a:cs typeface="Times New Roman"/>
              <a:sym typeface="Times New Roman"/>
            </a:endParaRPr>
          </a:p>
          <a:p>
            <a:pPr marL="285750" marR="0" lvl="0" indent="-285750" algn="just" rtl="0">
              <a:lnSpc>
                <a:spcPct val="100000"/>
              </a:lnSpc>
              <a:spcBef>
                <a:spcPts val="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In a very simple terms, Machine Learning(ML) can be explained as automating and improving the learning process of computers based on their experiences without being actually programmed i.e. without any human assistance..</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408122B-B2D2-EC36-254B-CC5ED185A612}"/>
            </a:ext>
          </a:extLst>
        </p:cNvPr>
        <p:cNvGrpSpPr/>
        <p:nvPr/>
      </p:nvGrpSpPr>
      <p:grpSpPr>
        <a:xfrm>
          <a:off x="0" y="0"/>
          <a:ext cx="0" cy="0"/>
          <a:chOff x="0" y="0"/>
          <a:chExt cx="0" cy="0"/>
        </a:xfrm>
      </p:grpSpPr>
      <p:pic>
        <p:nvPicPr>
          <p:cNvPr id="111" name="Google Shape;111;p3">
            <a:extLst>
              <a:ext uri="{FF2B5EF4-FFF2-40B4-BE49-F238E27FC236}">
                <a16:creationId xmlns:a16="http://schemas.microsoft.com/office/drawing/2014/main" id="{3FF42475-299D-163D-AC75-0A084895266F}"/>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12" name="Google Shape;112;p3">
            <a:extLst>
              <a:ext uri="{FF2B5EF4-FFF2-40B4-BE49-F238E27FC236}">
                <a16:creationId xmlns:a16="http://schemas.microsoft.com/office/drawing/2014/main" id="{86301462-66E3-23A7-A8CC-8BDAEBA398ED}"/>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13" name="Google Shape;113;p3">
            <a:extLst>
              <a:ext uri="{FF2B5EF4-FFF2-40B4-BE49-F238E27FC236}">
                <a16:creationId xmlns:a16="http://schemas.microsoft.com/office/drawing/2014/main" id="{25348B8F-4C3F-2BE7-0950-59504620D838}"/>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a:extLst>
              <a:ext uri="{FF2B5EF4-FFF2-40B4-BE49-F238E27FC236}">
                <a16:creationId xmlns:a16="http://schemas.microsoft.com/office/drawing/2014/main" id="{B0BD01D3-88DD-E88C-6CD2-1D8134FC741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115" name="Google Shape;115;p3">
            <a:extLst>
              <a:ext uri="{FF2B5EF4-FFF2-40B4-BE49-F238E27FC236}">
                <a16:creationId xmlns:a16="http://schemas.microsoft.com/office/drawing/2014/main" id="{59BE0F86-D3A6-5C1C-A6FB-A5D2F9EDAFC0}"/>
              </a:ext>
            </a:extLst>
          </p:cNvPr>
          <p:cNvSpPr txBox="1"/>
          <p:nvPr/>
        </p:nvSpPr>
        <p:spPr>
          <a:xfrm>
            <a:off x="-22948" y="940156"/>
            <a:ext cx="12214948" cy="1325563"/>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Google Shape;139;p6">
            <a:extLst>
              <a:ext uri="{FF2B5EF4-FFF2-40B4-BE49-F238E27FC236}">
                <a16:creationId xmlns:a16="http://schemas.microsoft.com/office/drawing/2014/main" id="{9BA73FE0-FDBA-5483-7CDB-77E571B6FF3E}"/>
              </a:ext>
            </a:extLst>
          </p:cNvPr>
          <p:cNvSpPr txBox="1">
            <a:spLocks noGrp="1"/>
          </p:cNvSpPr>
          <p:nvPr>
            <p:ph type="title"/>
          </p:nvPr>
        </p:nvSpPr>
        <p:spPr>
          <a:xfrm>
            <a:off x="150383" y="783030"/>
            <a:ext cx="11464793" cy="8316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alibri"/>
              <a:buNone/>
            </a:pPr>
            <a:r>
              <a:rPr lang="en-US" b="1" dirty="0">
                <a:solidFill>
                  <a:schemeClr val="accent1"/>
                </a:solidFill>
              </a:rPr>
              <a:t>Biggest Confusion: AI Vs ML Vs Deep Learning </a:t>
            </a:r>
            <a:endParaRPr b="1" dirty="0">
              <a:solidFill>
                <a:schemeClr val="accent1"/>
              </a:solidFill>
            </a:endParaRPr>
          </a:p>
        </p:txBody>
      </p:sp>
      <p:pic>
        <p:nvPicPr>
          <p:cNvPr id="3" name="Google Shape;141;p6">
            <a:extLst>
              <a:ext uri="{FF2B5EF4-FFF2-40B4-BE49-F238E27FC236}">
                <a16:creationId xmlns:a16="http://schemas.microsoft.com/office/drawing/2014/main" id="{C807A12D-49B8-7FA4-7EEF-10B53BFAE87B}"/>
              </a:ext>
            </a:extLst>
          </p:cNvPr>
          <p:cNvPicPr preferRelativeResize="0"/>
          <p:nvPr/>
        </p:nvPicPr>
        <p:blipFill rotWithShape="1">
          <a:blip r:embed="rId5">
            <a:alphaModFix/>
          </a:blip>
          <a:srcRect/>
          <a:stretch/>
        </p:blipFill>
        <p:spPr>
          <a:xfrm>
            <a:off x="22302" y="1660950"/>
            <a:ext cx="11103427" cy="5106816"/>
          </a:xfrm>
          <a:prstGeom prst="rect">
            <a:avLst/>
          </a:prstGeom>
          <a:noFill/>
          <a:ln>
            <a:noFill/>
          </a:ln>
        </p:spPr>
      </p:pic>
    </p:spTree>
    <p:extLst>
      <p:ext uri="{BB962C8B-B14F-4D97-AF65-F5344CB8AC3E}">
        <p14:creationId xmlns:p14="http://schemas.microsoft.com/office/powerpoint/2010/main" val="25393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8E7131B5-5FEB-1CBD-359B-686B8398CADE}"/>
            </a:ext>
          </a:extLst>
        </p:cNvPr>
        <p:cNvGrpSpPr/>
        <p:nvPr/>
      </p:nvGrpSpPr>
      <p:grpSpPr>
        <a:xfrm>
          <a:off x="0" y="0"/>
          <a:ext cx="0" cy="0"/>
          <a:chOff x="0" y="0"/>
          <a:chExt cx="0" cy="0"/>
        </a:xfrm>
      </p:grpSpPr>
      <p:pic>
        <p:nvPicPr>
          <p:cNvPr id="111" name="Google Shape;111;p3">
            <a:extLst>
              <a:ext uri="{FF2B5EF4-FFF2-40B4-BE49-F238E27FC236}">
                <a16:creationId xmlns:a16="http://schemas.microsoft.com/office/drawing/2014/main" id="{A97E8656-FD33-6C6F-24C4-6F11A5121B2B}"/>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12" name="Google Shape;112;p3">
            <a:extLst>
              <a:ext uri="{FF2B5EF4-FFF2-40B4-BE49-F238E27FC236}">
                <a16:creationId xmlns:a16="http://schemas.microsoft.com/office/drawing/2014/main" id="{A6191419-FC06-8646-1290-61EC41CB745E}"/>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13" name="Google Shape;113;p3">
            <a:extLst>
              <a:ext uri="{FF2B5EF4-FFF2-40B4-BE49-F238E27FC236}">
                <a16:creationId xmlns:a16="http://schemas.microsoft.com/office/drawing/2014/main" id="{58B70BC5-E114-F01B-D34E-BC5462C4A3CF}"/>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a:extLst>
              <a:ext uri="{FF2B5EF4-FFF2-40B4-BE49-F238E27FC236}">
                <a16:creationId xmlns:a16="http://schemas.microsoft.com/office/drawing/2014/main" id="{E8248A5C-BFAC-3A68-44DC-98EEBA36E8E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15" name="Google Shape;115;p3">
            <a:extLst>
              <a:ext uri="{FF2B5EF4-FFF2-40B4-BE49-F238E27FC236}">
                <a16:creationId xmlns:a16="http://schemas.microsoft.com/office/drawing/2014/main" id="{A0DDF907-2193-7ACE-2815-0BAAC696B6C4}"/>
              </a:ext>
            </a:extLst>
          </p:cNvPr>
          <p:cNvSpPr txBox="1"/>
          <p:nvPr/>
        </p:nvSpPr>
        <p:spPr>
          <a:xfrm>
            <a:off x="193807" y="940156"/>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Google Shape;190;p11">
            <a:extLst>
              <a:ext uri="{FF2B5EF4-FFF2-40B4-BE49-F238E27FC236}">
                <a16:creationId xmlns:a16="http://schemas.microsoft.com/office/drawing/2014/main" id="{59E6CF09-641F-7360-4150-8160859CD53E}"/>
              </a:ext>
            </a:extLst>
          </p:cNvPr>
          <p:cNvSpPr txBox="1">
            <a:spLocks noGrp="1"/>
          </p:cNvSpPr>
          <p:nvPr>
            <p:ph type="body" idx="1"/>
          </p:nvPr>
        </p:nvSpPr>
        <p:spPr>
          <a:xfrm>
            <a:off x="337456" y="1816651"/>
            <a:ext cx="10515600" cy="505132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accent1"/>
              </a:buClr>
              <a:buSzPct val="100000"/>
              <a:buChar char="•"/>
            </a:pPr>
            <a:r>
              <a:rPr lang="en-US" b="1" dirty="0">
                <a:solidFill>
                  <a:schemeClr val="tx1"/>
                </a:solidFill>
              </a:rPr>
              <a:t>Algorithm</a:t>
            </a:r>
            <a:r>
              <a:rPr lang="en-US" dirty="0">
                <a:solidFill>
                  <a:schemeClr val="tx1"/>
                </a:solidFill>
              </a:rPr>
              <a:t>: A Machine Learning algorithm is a set of rules and statistical techniques used to learn patterns from data and draw significant information from it. </a:t>
            </a:r>
            <a:endParaRPr dirty="0">
              <a:solidFill>
                <a:schemeClr val="tx1"/>
              </a:solidFill>
            </a:endParaRPr>
          </a:p>
          <a:p>
            <a:pPr marL="228600" lvl="0" indent="-228600" algn="just" rtl="0">
              <a:lnSpc>
                <a:spcPct val="90000"/>
              </a:lnSpc>
              <a:spcBef>
                <a:spcPts val="1000"/>
              </a:spcBef>
              <a:spcAft>
                <a:spcPts val="0"/>
              </a:spcAft>
              <a:buClr>
                <a:srgbClr val="C55A11"/>
              </a:buClr>
              <a:buSzPct val="100000"/>
              <a:buChar char="•"/>
            </a:pPr>
            <a:r>
              <a:rPr lang="en-US" b="1" dirty="0">
                <a:solidFill>
                  <a:srgbClr val="C55A11"/>
                </a:solidFill>
              </a:rPr>
              <a:t>Model</a:t>
            </a:r>
            <a:r>
              <a:rPr lang="en-US" dirty="0">
                <a:solidFill>
                  <a:srgbClr val="C55A11"/>
                </a:solidFill>
              </a:rPr>
              <a:t>: A model is trained by using a Machine Learning Algorithm.</a:t>
            </a:r>
            <a:r>
              <a:rPr lang="en-US" dirty="0">
                <a:solidFill>
                  <a:schemeClr val="accent1"/>
                </a:solidFill>
              </a:rPr>
              <a:t> </a:t>
            </a:r>
            <a:endParaRPr dirty="0"/>
          </a:p>
          <a:p>
            <a:pPr marL="228600" lvl="0" indent="-228600" algn="just" rtl="0">
              <a:lnSpc>
                <a:spcPct val="90000"/>
              </a:lnSpc>
              <a:spcBef>
                <a:spcPts val="1000"/>
              </a:spcBef>
              <a:spcAft>
                <a:spcPts val="0"/>
              </a:spcAft>
              <a:buClr>
                <a:schemeClr val="accent1"/>
              </a:buClr>
              <a:buSzPct val="100000"/>
              <a:buChar char="•"/>
            </a:pPr>
            <a:r>
              <a:rPr lang="en-US" b="1" dirty="0">
                <a:solidFill>
                  <a:schemeClr val="tx1"/>
                </a:solidFill>
              </a:rPr>
              <a:t>Predictor Variable</a:t>
            </a:r>
            <a:r>
              <a:rPr lang="en-US" dirty="0">
                <a:solidFill>
                  <a:schemeClr val="tx1"/>
                </a:solidFill>
              </a:rPr>
              <a:t>: It is a feature(s) of the data that can be used to predict the output.</a:t>
            </a:r>
            <a:endParaRPr dirty="0">
              <a:solidFill>
                <a:schemeClr val="tx1"/>
              </a:solidFill>
            </a:endParaRPr>
          </a:p>
          <a:p>
            <a:pPr marL="228600" lvl="0" indent="-228600" algn="just" rtl="0">
              <a:lnSpc>
                <a:spcPct val="90000"/>
              </a:lnSpc>
              <a:spcBef>
                <a:spcPts val="1000"/>
              </a:spcBef>
              <a:spcAft>
                <a:spcPts val="0"/>
              </a:spcAft>
              <a:buClr>
                <a:srgbClr val="C55A11"/>
              </a:buClr>
              <a:buSzPct val="100000"/>
              <a:buChar char="•"/>
            </a:pPr>
            <a:r>
              <a:rPr lang="en-US" b="1" dirty="0">
                <a:solidFill>
                  <a:srgbClr val="C55A11"/>
                </a:solidFill>
              </a:rPr>
              <a:t>Response Variable</a:t>
            </a:r>
            <a:r>
              <a:rPr lang="en-US" dirty="0">
                <a:solidFill>
                  <a:srgbClr val="C55A11"/>
                </a:solidFill>
              </a:rPr>
              <a:t>: It is the feature or the output variable that needs to be predicted by using the predictor variable(s).</a:t>
            </a:r>
            <a:endParaRPr dirty="0"/>
          </a:p>
          <a:p>
            <a:pPr marL="228600" lvl="0" indent="-228600" algn="just" rtl="0">
              <a:lnSpc>
                <a:spcPct val="90000"/>
              </a:lnSpc>
              <a:spcBef>
                <a:spcPts val="1000"/>
              </a:spcBef>
              <a:spcAft>
                <a:spcPts val="0"/>
              </a:spcAft>
              <a:buClr>
                <a:schemeClr val="accent1"/>
              </a:buClr>
              <a:buSzPct val="100000"/>
              <a:buChar char="•"/>
            </a:pPr>
            <a:r>
              <a:rPr lang="en-US" b="1" dirty="0">
                <a:solidFill>
                  <a:schemeClr val="tx1"/>
                </a:solidFill>
              </a:rPr>
              <a:t>Training Data</a:t>
            </a:r>
            <a:r>
              <a:rPr lang="en-US" dirty="0">
                <a:solidFill>
                  <a:schemeClr val="tx1"/>
                </a:solidFill>
              </a:rPr>
              <a:t>: The Machine Learning model is built using the training data. The training data helps the model to identify key trends and patterns essential to predict the output.</a:t>
            </a:r>
            <a:endParaRPr dirty="0">
              <a:solidFill>
                <a:schemeClr val="tx1"/>
              </a:solidFill>
            </a:endParaRPr>
          </a:p>
          <a:p>
            <a:pPr marL="228600" lvl="0" indent="-228600" algn="just" rtl="0">
              <a:lnSpc>
                <a:spcPct val="90000"/>
              </a:lnSpc>
              <a:spcBef>
                <a:spcPts val="1000"/>
              </a:spcBef>
              <a:spcAft>
                <a:spcPts val="0"/>
              </a:spcAft>
              <a:buClr>
                <a:srgbClr val="C55A11"/>
              </a:buClr>
              <a:buSzPct val="100000"/>
              <a:buChar char="•"/>
            </a:pPr>
            <a:r>
              <a:rPr lang="en-US" b="1" dirty="0">
                <a:solidFill>
                  <a:srgbClr val="C55A11"/>
                </a:solidFill>
              </a:rPr>
              <a:t>Testing Data</a:t>
            </a:r>
            <a:r>
              <a:rPr lang="en-US" dirty="0">
                <a:solidFill>
                  <a:srgbClr val="C55A11"/>
                </a:solidFill>
              </a:rPr>
              <a:t>: After the model is trained, it must be tested to evaluate how accurately it can predict an outcome. This is done by the testing data set.</a:t>
            </a:r>
            <a:endParaRPr dirty="0">
              <a:solidFill>
                <a:srgbClr val="C55A11"/>
              </a:solidFill>
            </a:endParaRPr>
          </a:p>
        </p:txBody>
      </p:sp>
      <p:sp>
        <p:nvSpPr>
          <p:cNvPr id="3" name="Google Shape;192;p11">
            <a:extLst>
              <a:ext uri="{FF2B5EF4-FFF2-40B4-BE49-F238E27FC236}">
                <a16:creationId xmlns:a16="http://schemas.microsoft.com/office/drawing/2014/main" id="{8A4D8BA1-D314-AC42-6141-475388C3DA39}"/>
              </a:ext>
            </a:extLst>
          </p:cNvPr>
          <p:cNvSpPr txBox="1">
            <a:spLocks/>
          </p:cNvSpPr>
          <p:nvPr/>
        </p:nvSpPr>
        <p:spPr>
          <a:xfrm>
            <a:off x="8109856" y="6867981"/>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5</a:t>
            </a:fld>
            <a:endParaRPr lang="en-US"/>
          </a:p>
        </p:txBody>
      </p:sp>
      <p:sp>
        <p:nvSpPr>
          <p:cNvPr id="4" name="Google Shape;193;p11">
            <a:extLst>
              <a:ext uri="{FF2B5EF4-FFF2-40B4-BE49-F238E27FC236}">
                <a16:creationId xmlns:a16="http://schemas.microsoft.com/office/drawing/2014/main" id="{A8D3E470-E504-4913-70FE-0F9D9025A09E}"/>
              </a:ext>
            </a:extLst>
          </p:cNvPr>
          <p:cNvSpPr txBox="1"/>
          <p:nvPr/>
        </p:nvSpPr>
        <p:spPr>
          <a:xfrm>
            <a:off x="337456" y="876756"/>
            <a:ext cx="10515600" cy="1325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4400"/>
              <a:buFont typeface="Calibri"/>
              <a:buNone/>
            </a:pPr>
            <a:r>
              <a:rPr lang="en-US" sz="4400" b="1" i="0" u="none" strike="noStrike" cap="none" dirty="0">
                <a:solidFill>
                  <a:schemeClr val="accent1"/>
                </a:solidFill>
                <a:latin typeface="Calibri"/>
                <a:ea typeface="Calibri"/>
                <a:cs typeface="Calibri"/>
                <a:sym typeface="Calibri"/>
              </a:rPr>
              <a:t>Machine Learning Terminology </a:t>
            </a:r>
            <a:endParaRPr sz="4400" b="1" i="0" u="none" strike="noStrike" cap="none" dirty="0">
              <a:solidFill>
                <a:schemeClr val="accent1"/>
              </a:solidFill>
              <a:latin typeface="Calibri"/>
              <a:ea typeface="Calibri"/>
              <a:cs typeface="Calibri"/>
              <a:sym typeface="Calibri"/>
            </a:endParaRPr>
          </a:p>
        </p:txBody>
      </p:sp>
      <p:cxnSp>
        <p:nvCxnSpPr>
          <p:cNvPr id="5" name="Google Shape;194;p11">
            <a:extLst>
              <a:ext uri="{FF2B5EF4-FFF2-40B4-BE49-F238E27FC236}">
                <a16:creationId xmlns:a16="http://schemas.microsoft.com/office/drawing/2014/main" id="{00832A7B-3F8A-17C5-9AC7-AE97C0DFA599}"/>
              </a:ext>
            </a:extLst>
          </p:cNvPr>
          <p:cNvCxnSpPr/>
          <p:nvPr/>
        </p:nvCxnSpPr>
        <p:spPr>
          <a:xfrm>
            <a:off x="337456" y="1612462"/>
            <a:ext cx="10715348" cy="0"/>
          </a:xfrm>
          <a:prstGeom prst="straightConnector1">
            <a:avLst/>
          </a:prstGeom>
          <a:noFill/>
          <a:ln w="53975" cap="flat" cmpd="sng">
            <a:solidFill>
              <a:schemeClr val="accent1"/>
            </a:solidFill>
            <a:prstDash val="solid"/>
            <a:miter lim="800000"/>
            <a:headEnd type="none" w="sm" len="sm"/>
            <a:tailEnd type="none" w="sm" len="sm"/>
          </a:ln>
        </p:spPr>
      </p:cxnSp>
    </p:spTree>
    <p:extLst>
      <p:ext uri="{BB962C8B-B14F-4D97-AF65-F5344CB8AC3E}">
        <p14:creationId xmlns:p14="http://schemas.microsoft.com/office/powerpoint/2010/main" val="2772089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10">
          <a:extLst>
            <a:ext uri="{FF2B5EF4-FFF2-40B4-BE49-F238E27FC236}">
              <a16:creationId xmlns:a16="http://schemas.microsoft.com/office/drawing/2014/main" id="{23421575-EA49-8E61-E066-48327F6746D8}"/>
            </a:ext>
          </a:extLst>
        </p:cNvPr>
        <p:cNvGrpSpPr/>
        <p:nvPr/>
      </p:nvGrpSpPr>
      <p:grpSpPr>
        <a:xfrm>
          <a:off x="0" y="0"/>
          <a:ext cx="0" cy="0"/>
          <a:chOff x="0" y="0"/>
          <a:chExt cx="0" cy="0"/>
        </a:xfrm>
      </p:grpSpPr>
      <p:pic>
        <p:nvPicPr>
          <p:cNvPr id="111" name="Google Shape;111;p3">
            <a:extLst>
              <a:ext uri="{FF2B5EF4-FFF2-40B4-BE49-F238E27FC236}">
                <a16:creationId xmlns:a16="http://schemas.microsoft.com/office/drawing/2014/main" id="{B0992351-6ABB-CF18-0D60-FAC8E65C4EBA}"/>
              </a:ext>
            </a:extLst>
          </p:cNvPr>
          <p:cNvPicPr preferRelativeResize="0"/>
          <p:nvPr/>
        </p:nvPicPr>
        <p:blipFill rotWithShape="1">
          <a:blip r:embed="rId4">
            <a:alphaModFix/>
          </a:blip>
          <a:srcRect b="2862"/>
          <a:stretch/>
        </p:blipFill>
        <p:spPr>
          <a:xfrm>
            <a:off x="-22948" y="-44371"/>
            <a:ext cx="12214948" cy="6874728"/>
          </a:xfrm>
          <a:prstGeom prst="rect">
            <a:avLst/>
          </a:prstGeom>
          <a:noFill/>
          <a:ln>
            <a:noFill/>
          </a:ln>
        </p:spPr>
      </p:pic>
      <p:pic>
        <p:nvPicPr>
          <p:cNvPr id="112" name="Google Shape;112;p3">
            <a:extLst>
              <a:ext uri="{FF2B5EF4-FFF2-40B4-BE49-F238E27FC236}">
                <a16:creationId xmlns:a16="http://schemas.microsoft.com/office/drawing/2014/main" id="{8157AA21-B240-A99E-AB34-DFDDA9A0B504}"/>
              </a:ext>
            </a:extLst>
          </p:cNvPr>
          <p:cNvPicPr preferRelativeResize="0"/>
          <p:nvPr/>
        </p:nvPicPr>
        <p:blipFill rotWithShape="1">
          <a:blip r:embed="rId5">
            <a:alphaModFix/>
          </a:blip>
          <a:srcRect/>
          <a:stretch/>
        </p:blipFill>
        <p:spPr>
          <a:xfrm>
            <a:off x="22302" y="1921"/>
            <a:ext cx="6725970" cy="831628"/>
          </a:xfrm>
          <a:prstGeom prst="rect">
            <a:avLst/>
          </a:prstGeom>
          <a:noFill/>
          <a:ln>
            <a:noFill/>
          </a:ln>
        </p:spPr>
      </p:pic>
      <p:sp>
        <p:nvSpPr>
          <p:cNvPr id="113" name="Google Shape;113;p3">
            <a:extLst>
              <a:ext uri="{FF2B5EF4-FFF2-40B4-BE49-F238E27FC236}">
                <a16:creationId xmlns:a16="http://schemas.microsoft.com/office/drawing/2014/main" id="{833D4292-A258-E01C-24FD-A1014958F651}"/>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a:extLst>
              <a:ext uri="{FF2B5EF4-FFF2-40B4-BE49-F238E27FC236}">
                <a16:creationId xmlns:a16="http://schemas.microsoft.com/office/drawing/2014/main" id="{907F6279-D3F0-745D-22A7-CBC9744AB12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15" name="Google Shape;115;p3">
            <a:extLst>
              <a:ext uri="{FF2B5EF4-FFF2-40B4-BE49-F238E27FC236}">
                <a16:creationId xmlns:a16="http://schemas.microsoft.com/office/drawing/2014/main" id="{3A0A1781-7FA0-055D-48AF-41CD14B38485}"/>
              </a:ext>
            </a:extLst>
          </p:cNvPr>
          <p:cNvSpPr txBox="1"/>
          <p:nvPr/>
        </p:nvSpPr>
        <p:spPr>
          <a:xfrm>
            <a:off x="193807" y="940156"/>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Google Shape;200;p12">
            <a:extLst>
              <a:ext uri="{FF2B5EF4-FFF2-40B4-BE49-F238E27FC236}">
                <a16:creationId xmlns:a16="http://schemas.microsoft.com/office/drawing/2014/main" id="{3E5CBF76-14A8-ED22-18CB-42FEDA34BF2B}"/>
              </a:ext>
            </a:extLst>
          </p:cNvPr>
          <p:cNvSpPr txBox="1">
            <a:spLocks/>
          </p:cNvSpPr>
          <p:nvPr/>
        </p:nvSpPr>
        <p:spPr>
          <a:xfrm>
            <a:off x="8610600" y="7020378"/>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6</a:t>
            </a:fld>
            <a:endParaRPr lang="en-US"/>
          </a:p>
        </p:txBody>
      </p:sp>
      <p:pic>
        <p:nvPicPr>
          <p:cNvPr id="3" name="Google Shape;201;p12" descr="How Machine Learning Works - What is Machine Learning- Edureka">
            <a:hlinkClick r:id="rId6"/>
            <a:extLst>
              <a:ext uri="{FF2B5EF4-FFF2-40B4-BE49-F238E27FC236}">
                <a16:creationId xmlns:a16="http://schemas.microsoft.com/office/drawing/2014/main" id="{E610F685-4E74-C8AA-9DAB-37EE92D98972}"/>
              </a:ext>
            </a:extLst>
          </p:cNvPr>
          <p:cNvPicPr preferRelativeResize="0"/>
          <p:nvPr/>
        </p:nvPicPr>
        <p:blipFill rotWithShape="1">
          <a:blip r:embed="rId7">
            <a:alphaModFix/>
          </a:blip>
          <a:srcRect/>
          <a:stretch/>
        </p:blipFill>
        <p:spPr>
          <a:xfrm>
            <a:off x="638452" y="1818076"/>
            <a:ext cx="10220048" cy="4903391"/>
          </a:xfrm>
          <a:prstGeom prst="rect">
            <a:avLst/>
          </a:prstGeom>
          <a:noFill/>
          <a:ln>
            <a:noFill/>
          </a:ln>
        </p:spPr>
      </p:pic>
      <p:sp>
        <p:nvSpPr>
          <p:cNvPr id="4" name="Google Shape;202;p12">
            <a:extLst>
              <a:ext uri="{FF2B5EF4-FFF2-40B4-BE49-F238E27FC236}">
                <a16:creationId xmlns:a16="http://schemas.microsoft.com/office/drawing/2014/main" id="{022C9ADB-2EB0-6163-53EE-C765C16135ED}"/>
              </a:ext>
            </a:extLst>
          </p:cNvPr>
          <p:cNvSpPr txBox="1"/>
          <p:nvPr/>
        </p:nvSpPr>
        <p:spPr>
          <a:xfrm>
            <a:off x="838200" y="1029153"/>
            <a:ext cx="10515600" cy="1325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4400"/>
              <a:buFont typeface="Calibri"/>
              <a:buNone/>
            </a:pPr>
            <a:r>
              <a:rPr lang="en-US" sz="4400" b="1" i="0" u="none" strike="noStrike" cap="none">
                <a:solidFill>
                  <a:schemeClr val="accent1"/>
                </a:solidFill>
                <a:latin typeface="Calibri"/>
                <a:ea typeface="Calibri"/>
                <a:cs typeface="Calibri"/>
                <a:sym typeface="Calibri"/>
              </a:rPr>
              <a:t>How does Machine Learning work? </a:t>
            </a:r>
            <a:endParaRPr sz="4400" b="1" i="0" u="none" strike="noStrike" cap="none">
              <a:solidFill>
                <a:schemeClr val="accent1"/>
              </a:solidFill>
              <a:latin typeface="Calibri"/>
              <a:ea typeface="Calibri"/>
              <a:cs typeface="Calibri"/>
              <a:sym typeface="Calibri"/>
            </a:endParaRPr>
          </a:p>
        </p:txBody>
      </p:sp>
      <p:cxnSp>
        <p:nvCxnSpPr>
          <p:cNvPr id="5" name="Google Shape;203;p12">
            <a:extLst>
              <a:ext uri="{FF2B5EF4-FFF2-40B4-BE49-F238E27FC236}">
                <a16:creationId xmlns:a16="http://schemas.microsoft.com/office/drawing/2014/main" id="{6A593958-FB06-5046-E4B2-8E9B52426E2D}"/>
              </a:ext>
            </a:extLst>
          </p:cNvPr>
          <p:cNvCxnSpPr/>
          <p:nvPr/>
        </p:nvCxnSpPr>
        <p:spPr>
          <a:xfrm>
            <a:off x="838200" y="1764859"/>
            <a:ext cx="10715348" cy="0"/>
          </a:xfrm>
          <a:prstGeom prst="straightConnector1">
            <a:avLst/>
          </a:prstGeom>
          <a:noFill/>
          <a:ln w="53975" cap="flat" cmpd="sng">
            <a:solidFill>
              <a:schemeClr val="accent1"/>
            </a:solidFill>
            <a:prstDash val="solid"/>
            <a:miter lim="800000"/>
            <a:headEnd type="none" w="sm" len="sm"/>
            <a:tailEnd type="none" w="sm" len="sm"/>
          </a:ln>
        </p:spPr>
      </p:cxnSp>
      <p:sp>
        <p:nvSpPr>
          <p:cNvPr id="6" name="Google Shape;204;p12">
            <a:extLst>
              <a:ext uri="{FF2B5EF4-FFF2-40B4-BE49-F238E27FC236}">
                <a16:creationId xmlns:a16="http://schemas.microsoft.com/office/drawing/2014/main" id="{2F919DB2-5F94-A7BA-6EDF-778D18A2B693}"/>
              </a:ext>
            </a:extLst>
          </p:cNvPr>
          <p:cNvSpPr/>
          <p:nvPr/>
        </p:nvSpPr>
        <p:spPr>
          <a:xfrm>
            <a:off x="8504278" y="3007649"/>
            <a:ext cx="1362635" cy="36511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 name="yTwCA7H03cc"/>
          <p:cNvPicPr>
            <a:picLocks noRot="1" noChangeAspect="1"/>
          </p:cNvPicPr>
          <p:nvPr>
            <a:videoFile r:link="rId1"/>
          </p:nvPr>
        </p:nvPicPr>
        <p:blipFill>
          <a:blip r:embed="rId8"/>
          <a:stretch>
            <a:fillRect/>
          </a:stretch>
        </p:blipFill>
        <p:spPr>
          <a:xfrm>
            <a:off x="438704" y="2048925"/>
            <a:ext cx="7487920" cy="4516238"/>
          </a:xfrm>
          <a:prstGeom prst="rect">
            <a:avLst/>
          </a:prstGeom>
        </p:spPr>
      </p:pic>
      <p:sp>
        <p:nvSpPr>
          <p:cNvPr id="8" name="TextBox 7"/>
          <p:cNvSpPr txBox="1"/>
          <p:nvPr/>
        </p:nvSpPr>
        <p:spPr>
          <a:xfrm>
            <a:off x="8222326" y="3799840"/>
            <a:ext cx="2621607" cy="523220"/>
          </a:xfrm>
          <a:prstGeom prst="rect">
            <a:avLst/>
          </a:prstGeom>
          <a:noFill/>
        </p:spPr>
        <p:txBody>
          <a:bodyPr wrap="square" rtlCol="0">
            <a:spAutoFit/>
          </a:bodyPr>
          <a:lstStyle/>
          <a:p>
            <a:r>
              <a:rPr lang="en-IN" dirty="0">
                <a:hlinkClick r:id="rId6"/>
              </a:rPr>
              <a:t>https://www.youtube.com/watch?v=yTwCA7H03cc</a:t>
            </a:r>
            <a:endParaRPr lang="en-IN" dirty="0"/>
          </a:p>
        </p:txBody>
      </p:sp>
    </p:spTree>
    <p:extLst>
      <p:ext uri="{BB962C8B-B14F-4D97-AF65-F5344CB8AC3E}">
        <p14:creationId xmlns:p14="http://schemas.microsoft.com/office/powerpoint/2010/main" val="2500708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B8D68596-7B14-489E-0A9A-088D863165B6}"/>
            </a:ext>
          </a:extLst>
        </p:cNvPr>
        <p:cNvGrpSpPr/>
        <p:nvPr/>
      </p:nvGrpSpPr>
      <p:grpSpPr>
        <a:xfrm>
          <a:off x="0" y="0"/>
          <a:ext cx="0" cy="0"/>
          <a:chOff x="0" y="0"/>
          <a:chExt cx="0" cy="0"/>
        </a:xfrm>
      </p:grpSpPr>
      <p:pic>
        <p:nvPicPr>
          <p:cNvPr id="111" name="Google Shape;111;p3">
            <a:extLst>
              <a:ext uri="{FF2B5EF4-FFF2-40B4-BE49-F238E27FC236}">
                <a16:creationId xmlns:a16="http://schemas.microsoft.com/office/drawing/2014/main" id="{13A13058-390C-BD26-6BD7-F1F8B1ADF584}"/>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12" name="Google Shape;112;p3">
            <a:extLst>
              <a:ext uri="{FF2B5EF4-FFF2-40B4-BE49-F238E27FC236}">
                <a16:creationId xmlns:a16="http://schemas.microsoft.com/office/drawing/2014/main" id="{F8A3FFCE-4696-0623-48E2-3DEA61A62B06}"/>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13" name="Google Shape;113;p3">
            <a:extLst>
              <a:ext uri="{FF2B5EF4-FFF2-40B4-BE49-F238E27FC236}">
                <a16:creationId xmlns:a16="http://schemas.microsoft.com/office/drawing/2014/main" id="{A64F9D72-1009-21C6-0BDB-63CB62E64F81}"/>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a:extLst>
              <a:ext uri="{FF2B5EF4-FFF2-40B4-BE49-F238E27FC236}">
                <a16:creationId xmlns:a16="http://schemas.microsoft.com/office/drawing/2014/main" id="{839DE6BE-E8A8-393B-9342-879F390935F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15" name="Google Shape;115;p3">
            <a:extLst>
              <a:ext uri="{FF2B5EF4-FFF2-40B4-BE49-F238E27FC236}">
                <a16:creationId xmlns:a16="http://schemas.microsoft.com/office/drawing/2014/main" id="{D0DFE6BC-44D1-822E-60D4-FA2111822ACB}"/>
              </a:ext>
            </a:extLst>
          </p:cNvPr>
          <p:cNvSpPr txBox="1"/>
          <p:nvPr/>
        </p:nvSpPr>
        <p:spPr>
          <a:xfrm>
            <a:off x="193807" y="940156"/>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Google Shape;210;p13">
            <a:extLst>
              <a:ext uri="{FF2B5EF4-FFF2-40B4-BE49-F238E27FC236}">
                <a16:creationId xmlns:a16="http://schemas.microsoft.com/office/drawing/2014/main" id="{D3C0BA31-7373-41DE-CBD4-A12A8FDC0729}"/>
              </a:ext>
            </a:extLst>
          </p:cNvPr>
          <p:cNvSpPr txBox="1">
            <a:spLocks/>
          </p:cNvSpPr>
          <p:nvPr/>
        </p:nvSpPr>
        <p:spPr>
          <a:xfrm>
            <a:off x="8588828" y="6693810"/>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7</a:t>
            </a:fld>
            <a:endParaRPr lang="en-US"/>
          </a:p>
        </p:txBody>
      </p:sp>
      <p:sp>
        <p:nvSpPr>
          <p:cNvPr id="3" name="Google Shape;211;p13">
            <a:extLst>
              <a:ext uri="{FF2B5EF4-FFF2-40B4-BE49-F238E27FC236}">
                <a16:creationId xmlns:a16="http://schemas.microsoft.com/office/drawing/2014/main" id="{668ECC43-53B9-540E-B213-70CAD99D77E3}"/>
              </a:ext>
            </a:extLst>
          </p:cNvPr>
          <p:cNvSpPr txBox="1"/>
          <p:nvPr/>
        </p:nvSpPr>
        <p:spPr>
          <a:xfrm>
            <a:off x="816428" y="831274"/>
            <a:ext cx="10515600" cy="1325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4400"/>
              <a:buFont typeface="Calibri"/>
              <a:buNone/>
            </a:pPr>
            <a:r>
              <a:rPr lang="en-US" sz="4400" b="1" i="0" u="none" strike="noStrike" cap="none" dirty="0">
                <a:solidFill>
                  <a:schemeClr val="accent1"/>
                </a:solidFill>
                <a:latin typeface="Calibri"/>
                <a:ea typeface="Calibri"/>
                <a:cs typeface="Calibri"/>
                <a:sym typeface="Calibri"/>
              </a:rPr>
              <a:t>Applications of Machine Learning  </a:t>
            </a:r>
            <a:endParaRPr sz="4400" b="1" i="0" u="none" strike="noStrike" cap="none" dirty="0">
              <a:solidFill>
                <a:schemeClr val="accent1"/>
              </a:solidFill>
              <a:latin typeface="Calibri"/>
              <a:ea typeface="Calibri"/>
              <a:cs typeface="Calibri"/>
              <a:sym typeface="Calibri"/>
            </a:endParaRPr>
          </a:p>
        </p:txBody>
      </p:sp>
      <p:cxnSp>
        <p:nvCxnSpPr>
          <p:cNvPr id="4" name="Google Shape;212;p13">
            <a:extLst>
              <a:ext uri="{FF2B5EF4-FFF2-40B4-BE49-F238E27FC236}">
                <a16:creationId xmlns:a16="http://schemas.microsoft.com/office/drawing/2014/main" id="{92B55D48-EF46-C87A-E0D8-3A129AFF767C}"/>
              </a:ext>
            </a:extLst>
          </p:cNvPr>
          <p:cNvCxnSpPr>
            <a:cxnSpLocks/>
          </p:cNvCxnSpPr>
          <p:nvPr/>
        </p:nvCxnSpPr>
        <p:spPr>
          <a:xfrm>
            <a:off x="816428" y="1438291"/>
            <a:ext cx="8011886" cy="0"/>
          </a:xfrm>
          <a:prstGeom prst="straightConnector1">
            <a:avLst/>
          </a:prstGeom>
          <a:noFill/>
          <a:ln w="53975" cap="flat" cmpd="sng">
            <a:solidFill>
              <a:schemeClr val="accent1"/>
            </a:solidFill>
            <a:prstDash val="solid"/>
            <a:miter lim="800000"/>
            <a:headEnd type="none" w="sm" len="sm"/>
            <a:tailEnd type="none" w="sm" len="sm"/>
          </a:ln>
        </p:spPr>
      </p:cxnSp>
      <p:pic>
        <p:nvPicPr>
          <p:cNvPr id="5" name="Google Shape;213;p13" descr="Applications of Machine learning">
            <a:extLst>
              <a:ext uri="{FF2B5EF4-FFF2-40B4-BE49-F238E27FC236}">
                <a16:creationId xmlns:a16="http://schemas.microsoft.com/office/drawing/2014/main" id="{B8C51F80-9539-1EFB-E664-FF8C3EE3CCBB}"/>
              </a:ext>
            </a:extLst>
          </p:cNvPr>
          <p:cNvPicPr preferRelativeResize="0"/>
          <p:nvPr/>
        </p:nvPicPr>
        <p:blipFill rotWithShape="1">
          <a:blip r:embed="rId5">
            <a:alphaModFix/>
          </a:blip>
          <a:srcRect/>
          <a:stretch/>
        </p:blipFill>
        <p:spPr>
          <a:xfrm>
            <a:off x="1959429" y="1734461"/>
            <a:ext cx="7924800" cy="4987014"/>
          </a:xfrm>
          <a:prstGeom prst="rect">
            <a:avLst/>
          </a:prstGeom>
          <a:noFill/>
          <a:ln>
            <a:noFill/>
          </a:ln>
        </p:spPr>
      </p:pic>
    </p:spTree>
    <p:extLst>
      <p:ext uri="{BB962C8B-B14F-4D97-AF65-F5344CB8AC3E}">
        <p14:creationId xmlns:p14="http://schemas.microsoft.com/office/powerpoint/2010/main" val="164942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969D707B-5BEF-7EA4-0733-5C4AB8FDAE07}"/>
            </a:ext>
          </a:extLst>
        </p:cNvPr>
        <p:cNvGrpSpPr/>
        <p:nvPr/>
      </p:nvGrpSpPr>
      <p:grpSpPr>
        <a:xfrm>
          <a:off x="0" y="0"/>
          <a:ext cx="0" cy="0"/>
          <a:chOff x="0" y="0"/>
          <a:chExt cx="0" cy="0"/>
        </a:xfrm>
      </p:grpSpPr>
      <p:pic>
        <p:nvPicPr>
          <p:cNvPr id="111" name="Google Shape;111;p3">
            <a:extLst>
              <a:ext uri="{FF2B5EF4-FFF2-40B4-BE49-F238E27FC236}">
                <a16:creationId xmlns:a16="http://schemas.microsoft.com/office/drawing/2014/main" id="{C5D5D5A6-BAD0-8B55-85F2-9B0C661D80CA}"/>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12" name="Google Shape;112;p3">
            <a:extLst>
              <a:ext uri="{FF2B5EF4-FFF2-40B4-BE49-F238E27FC236}">
                <a16:creationId xmlns:a16="http://schemas.microsoft.com/office/drawing/2014/main" id="{1E14E3C6-2C71-A47A-ECA8-38644A34E970}"/>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13" name="Google Shape;113;p3">
            <a:extLst>
              <a:ext uri="{FF2B5EF4-FFF2-40B4-BE49-F238E27FC236}">
                <a16:creationId xmlns:a16="http://schemas.microsoft.com/office/drawing/2014/main" id="{88BE1AF9-6EC1-41B8-8370-795E06B0EF64}"/>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a:extLst>
              <a:ext uri="{FF2B5EF4-FFF2-40B4-BE49-F238E27FC236}">
                <a16:creationId xmlns:a16="http://schemas.microsoft.com/office/drawing/2014/main" id="{8DF7F22E-2271-0401-F79E-21EE674011C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2" name="Google Shape;218;p14">
            <a:extLst>
              <a:ext uri="{FF2B5EF4-FFF2-40B4-BE49-F238E27FC236}">
                <a16:creationId xmlns:a16="http://schemas.microsoft.com/office/drawing/2014/main" id="{626CF5E7-2BB4-1D94-397C-E449D790BE99}"/>
              </a:ext>
            </a:extLst>
          </p:cNvPr>
          <p:cNvSpPr txBox="1">
            <a:spLocks noGrp="1"/>
          </p:cNvSpPr>
          <p:nvPr>
            <p:ph type="body" idx="1"/>
          </p:nvPr>
        </p:nvSpPr>
        <p:spPr>
          <a:xfrm>
            <a:off x="696686" y="1729564"/>
            <a:ext cx="10515600" cy="505132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accent1"/>
              </a:buClr>
              <a:buSzPts val="2800"/>
              <a:buChar char="•"/>
            </a:pPr>
            <a:r>
              <a:rPr lang="en-US" b="1" dirty="0">
                <a:solidFill>
                  <a:schemeClr val="tx1"/>
                </a:solidFill>
              </a:rPr>
              <a:t>Supervised Learning: </a:t>
            </a:r>
            <a:r>
              <a:rPr lang="en-US" dirty="0">
                <a:solidFill>
                  <a:schemeClr val="tx1"/>
                </a:solidFill>
              </a:rPr>
              <a:t>Supervised learning is a technique in which we teach or train the machine using data which is well labeled.</a:t>
            </a:r>
            <a:endParaRPr dirty="0">
              <a:solidFill>
                <a:schemeClr val="tx1"/>
              </a:solidFill>
            </a:endParaRPr>
          </a:p>
        </p:txBody>
      </p:sp>
      <p:sp>
        <p:nvSpPr>
          <p:cNvPr id="3" name="Google Shape;220;p14">
            <a:extLst>
              <a:ext uri="{FF2B5EF4-FFF2-40B4-BE49-F238E27FC236}">
                <a16:creationId xmlns:a16="http://schemas.microsoft.com/office/drawing/2014/main" id="{847339AB-43D8-78EC-609C-AE9E33E79F65}"/>
              </a:ext>
            </a:extLst>
          </p:cNvPr>
          <p:cNvSpPr txBox="1">
            <a:spLocks/>
          </p:cNvSpPr>
          <p:nvPr/>
        </p:nvSpPr>
        <p:spPr>
          <a:xfrm>
            <a:off x="8469086" y="6780894"/>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8</a:t>
            </a:fld>
            <a:endParaRPr lang="en-US"/>
          </a:p>
        </p:txBody>
      </p:sp>
      <p:sp>
        <p:nvSpPr>
          <p:cNvPr id="4" name="Google Shape;221;p14">
            <a:extLst>
              <a:ext uri="{FF2B5EF4-FFF2-40B4-BE49-F238E27FC236}">
                <a16:creationId xmlns:a16="http://schemas.microsoft.com/office/drawing/2014/main" id="{F3C12C32-A993-48DC-9C60-3795E0E238D2}"/>
              </a:ext>
            </a:extLst>
          </p:cNvPr>
          <p:cNvSpPr txBox="1"/>
          <p:nvPr/>
        </p:nvSpPr>
        <p:spPr>
          <a:xfrm>
            <a:off x="108857" y="950803"/>
            <a:ext cx="11103429" cy="1325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4400"/>
              <a:buFont typeface="Calibri"/>
              <a:buNone/>
            </a:pPr>
            <a:r>
              <a:rPr lang="en-US" sz="4400" b="1" i="0" u="none" strike="noStrike" cap="none" dirty="0">
                <a:solidFill>
                  <a:schemeClr val="accent1">
                    <a:lumMod val="75000"/>
                  </a:schemeClr>
                </a:solidFill>
                <a:latin typeface="Calibri"/>
                <a:ea typeface="Calibri"/>
                <a:cs typeface="Calibri"/>
                <a:sym typeface="Calibri"/>
              </a:rPr>
              <a:t>Types of Machine Learning Algorithm (3 Types) </a:t>
            </a:r>
            <a:endParaRPr sz="4400" b="1" i="0" u="none" strike="noStrike" cap="none" dirty="0">
              <a:solidFill>
                <a:schemeClr val="accent1">
                  <a:lumMod val="75000"/>
                </a:schemeClr>
              </a:solidFill>
              <a:latin typeface="Calibri"/>
              <a:ea typeface="Calibri"/>
              <a:cs typeface="Calibri"/>
              <a:sym typeface="Calibri"/>
            </a:endParaRPr>
          </a:p>
        </p:txBody>
      </p:sp>
      <p:cxnSp>
        <p:nvCxnSpPr>
          <p:cNvPr id="5" name="Google Shape;222;p14">
            <a:extLst>
              <a:ext uri="{FF2B5EF4-FFF2-40B4-BE49-F238E27FC236}">
                <a16:creationId xmlns:a16="http://schemas.microsoft.com/office/drawing/2014/main" id="{4141BF0C-86C3-91C8-DCE2-FA8E34BB15C8}"/>
              </a:ext>
            </a:extLst>
          </p:cNvPr>
          <p:cNvCxnSpPr/>
          <p:nvPr/>
        </p:nvCxnSpPr>
        <p:spPr>
          <a:xfrm>
            <a:off x="228600" y="1612461"/>
            <a:ext cx="10715348" cy="0"/>
          </a:xfrm>
          <a:prstGeom prst="straightConnector1">
            <a:avLst/>
          </a:prstGeom>
          <a:noFill/>
          <a:ln w="53975" cap="flat" cmpd="sng">
            <a:solidFill>
              <a:schemeClr val="accent1"/>
            </a:solidFill>
            <a:prstDash val="solid"/>
            <a:miter lim="800000"/>
            <a:headEnd type="none" w="sm" len="sm"/>
            <a:tailEnd type="none" w="sm" len="sm"/>
          </a:ln>
        </p:spPr>
      </p:cxnSp>
      <p:pic>
        <p:nvPicPr>
          <p:cNvPr id="6" name="Google Shape;223;p14" descr="Supervised Learning - Introduction To Machine Learning - Edureka">
            <a:extLst>
              <a:ext uri="{FF2B5EF4-FFF2-40B4-BE49-F238E27FC236}">
                <a16:creationId xmlns:a16="http://schemas.microsoft.com/office/drawing/2014/main" id="{97F49BC0-F023-792C-CCC2-EFE95E78BA38}"/>
              </a:ext>
            </a:extLst>
          </p:cNvPr>
          <p:cNvPicPr preferRelativeResize="0"/>
          <p:nvPr/>
        </p:nvPicPr>
        <p:blipFill rotWithShape="1">
          <a:blip r:embed="rId5">
            <a:alphaModFix/>
          </a:blip>
          <a:srcRect/>
          <a:stretch/>
        </p:blipFill>
        <p:spPr>
          <a:xfrm>
            <a:off x="1172381" y="2781871"/>
            <a:ext cx="9747682" cy="3793726"/>
          </a:xfrm>
          <a:prstGeom prst="rect">
            <a:avLst/>
          </a:prstGeom>
          <a:noFill/>
          <a:ln>
            <a:noFill/>
          </a:ln>
        </p:spPr>
      </p:pic>
    </p:spTree>
    <p:extLst>
      <p:ext uri="{BB962C8B-B14F-4D97-AF65-F5344CB8AC3E}">
        <p14:creationId xmlns:p14="http://schemas.microsoft.com/office/powerpoint/2010/main" val="1642989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90D9DEE2-51B8-A98B-8EAA-D6C48A237764}"/>
            </a:ext>
          </a:extLst>
        </p:cNvPr>
        <p:cNvGrpSpPr/>
        <p:nvPr/>
      </p:nvGrpSpPr>
      <p:grpSpPr>
        <a:xfrm>
          <a:off x="0" y="0"/>
          <a:ext cx="0" cy="0"/>
          <a:chOff x="0" y="0"/>
          <a:chExt cx="0" cy="0"/>
        </a:xfrm>
      </p:grpSpPr>
      <p:pic>
        <p:nvPicPr>
          <p:cNvPr id="111" name="Google Shape;111;p3">
            <a:extLst>
              <a:ext uri="{FF2B5EF4-FFF2-40B4-BE49-F238E27FC236}">
                <a16:creationId xmlns:a16="http://schemas.microsoft.com/office/drawing/2014/main" id="{1F6A3E48-0AB6-918B-47F6-43614F86A21C}"/>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12" name="Google Shape;112;p3">
            <a:extLst>
              <a:ext uri="{FF2B5EF4-FFF2-40B4-BE49-F238E27FC236}">
                <a16:creationId xmlns:a16="http://schemas.microsoft.com/office/drawing/2014/main" id="{09D5A623-C083-B542-2CD0-A6C22423E92D}"/>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13" name="Google Shape;113;p3">
            <a:extLst>
              <a:ext uri="{FF2B5EF4-FFF2-40B4-BE49-F238E27FC236}">
                <a16:creationId xmlns:a16="http://schemas.microsoft.com/office/drawing/2014/main" id="{1C325DCB-7EF3-8514-9132-920317092F4E}"/>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a:extLst>
              <a:ext uri="{FF2B5EF4-FFF2-40B4-BE49-F238E27FC236}">
                <a16:creationId xmlns:a16="http://schemas.microsoft.com/office/drawing/2014/main" id="{816C7F6A-3AA5-CA58-198B-C1724E26F84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15" name="Google Shape;115;p3">
            <a:extLst>
              <a:ext uri="{FF2B5EF4-FFF2-40B4-BE49-F238E27FC236}">
                <a16:creationId xmlns:a16="http://schemas.microsoft.com/office/drawing/2014/main" id="{E3F1435B-14B0-EDAA-FC9E-34CDC9860180}"/>
              </a:ext>
            </a:extLst>
          </p:cNvPr>
          <p:cNvSpPr txBox="1"/>
          <p:nvPr/>
        </p:nvSpPr>
        <p:spPr>
          <a:xfrm>
            <a:off x="193807" y="940156"/>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Google Shape;228;p15">
            <a:extLst>
              <a:ext uri="{FF2B5EF4-FFF2-40B4-BE49-F238E27FC236}">
                <a16:creationId xmlns:a16="http://schemas.microsoft.com/office/drawing/2014/main" id="{DE5784E4-6504-2BAB-082B-E415C584E1B8}"/>
              </a:ext>
            </a:extLst>
          </p:cNvPr>
          <p:cNvSpPr txBox="1">
            <a:spLocks noGrp="1"/>
          </p:cNvSpPr>
          <p:nvPr>
            <p:ph type="body" idx="1"/>
          </p:nvPr>
        </p:nvSpPr>
        <p:spPr>
          <a:xfrm>
            <a:off x="838200" y="1566280"/>
            <a:ext cx="10515600" cy="505132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accent1"/>
              </a:buClr>
              <a:buSzPts val="2800"/>
              <a:buChar char="•"/>
            </a:pPr>
            <a:r>
              <a:rPr lang="en-US" dirty="0">
                <a:solidFill>
                  <a:schemeClr val="accent1">
                    <a:lumMod val="75000"/>
                  </a:schemeClr>
                </a:solidFill>
              </a:rPr>
              <a:t> </a:t>
            </a:r>
            <a:r>
              <a:rPr lang="en-US" b="1" dirty="0">
                <a:solidFill>
                  <a:schemeClr val="accent1">
                    <a:lumMod val="75000"/>
                  </a:schemeClr>
                </a:solidFill>
              </a:rPr>
              <a:t>Unsupervised Learning</a:t>
            </a:r>
            <a:r>
              <a:rPr lang="en-US" dirty="0">
                <a:solidFill>
                  <a:schemeClr val="accent1">
                    <a:lumMod val="75000"/>
                  </a:schemeClr>
                </a:solidFill>
              </a:rPr>
              <a:t> : Unsupervised learning involves training by using unlabeled data and allowing the model to act on that information without guidance.</a:t>
            </a:r>
            <a:endParaRPr dirty="0">
              <a:solidFill>
                <a:schemeClr val="accent1">
                  <a:lumMod val="75000"/>
                </a:schemeClr>
              </a:solidFill>
            </a:endParaRPr>
          </a:p>
        </p:txBody>
      </p:sp>
      <p:sp>
        <p:nvSpPr>
          <p:cNvPr id="3" name="Google Shape;230;p15">
            <a:extLst>
              <a:ext uri="{FF2B5EF4-FFF2-40B4-BE49-F238E27FC236}">
                <a16:creationId xmlns:a16="http://schemas.microsoft.com/office/drawing/2014/main" id="{3B6C82A8-26D4-EE43-1B8F-5F5C9D947EA9}"/>
              </a:ext>
            </a:extLst>
          </p:cNvPr>
          <p:cNvSpPr txBox="1">
            <a:spLocks/>
          </p:cNvSpPr>
          <p:nvPr/>
        </p:nvSpPr>
        <p:spPr>
          <a:xfrm>
            <a:off x="8610600" y="6617610"/>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9</a:t>
            </a:fld>
            <a:endParaRPr lang="en-US"/>
          </a:p>
        </p:txBody>
      </p:sp>
      <p:sp>
        <p:nvSpPr>
          <p:cNvPr id="4" name="Google Shape;231;p15">
            <a:extLst>
              <a:ext uri="{FF2B5EF4-FFF2-40B4-BE49-F238E27FC236}">
                <a16:creationId xmlns:a16="http://schemas.microsoft.com/office/drawing/2014/main" id="{4F062B75-4DFA-75E5-D489-948D12F868EE}"/>
              </a:ext>
            </a:extLst>
          </p:cNvPr>
          <p:cNvSpPr txBox="1"/>
          <p:nvPr/>
        </p:nvSpPr>
        <p:spPr>
          <a:xfrm>
            <a:off x="838200" y="735245"/>
            <a:ext cx="10515600" cy="1325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4400"/>
              <a:buFont typeface="Calibri"/>
              <a:buNone/>
            </a:pPr>
            <a:r>
              <a:rPr lang="en-US" sz="4400" b="1" i="0" u="none" strike="noStrike" cap="none" dirty="0">
                <a:solidFill>
                  <a:schemeClr val="accent1">
                    <a:lumMod val="75000"/>
                  </a:schemeClr>
                </a:solidFill>
                <a:latin typeface="Calibri"/>
                <a:ea typeface="Calibri"/>
                <a:cs typeface="Calibri"/>
                <a:sym typeface="Calibri"/>
              </a:rPr>
              <a:t>Cont.… </a:t>
            </a:r>
            <a:endParaRPr sz="4400" b="1" i="0" u="none" strike="noStrike" cap="none" dirty="0">
              <a:solidFill>
                <a:schemeClr val="accent1">
                  <a:lumMod val="75000"/>
                </a:schemeClr>
              </a:solidFill>
              <a:latin typeface="Calibri"/>
              <a:ea typeface="Calibri"/>
              <a:cs typeface="Calibri"/>
              <a:sym typeface="Calibri"/>
            </a:endParaRPr>
          </a:p>
        </p:txBody>
      </p:sp>
      <p:cxnSp>
        <p:nvCxnSpPr>
          <p:cNvPr id="5" name="Google Shape;232;p15">
            <a:extLst>
              <a:ext uri="{FF2B5EF4-FFF2-40B4-BE49-F238E27FC236}">
                <a16:creationId xmlns:a16="http://schemas.microsoft.com/office/drawing/2014/main" id="{FA38EF55-2D6C-0C62-B8A6-12A1FC8B0B4C}"/>
              </a:ext>
            </a:extLst>
          </p:cNvPr>
          <p:cNvCxnSpPr/>
          <p:nvPr/>
        </p:nvCxnSpPr>
        <p:spPr>
          <a:xfrm>
            <a:off x="838200" y="1362091"/>
            <a:ext cx="10715348" cy="0"/>
          </a:xfrm>
          <a:prstGeom prst="straightConnector1">
            <a:avLst/>
          </a:prstGeom>
          <a:noFill/>
          <a:ln w="53975" cap="flat" cmpd="sng">
            <a:solidFill>
              <a:schemeClr val="accent1"/>
            </a:solidFill>
            <a:prstDash val="solid"/>
            <a:miter lim="800000"/>
            <a:headEnd type="none" w="sm" len="sm"/>
            <a:tailEnd type="none" w="sm" len="sm"/>
          </a:ln>
        </p:spPr>
      </p:cxnSp>
      <p:pic>
        <p:nvPicPr>
          <p:cNvPr id="6" name="Google Shape;233;p15" descr="Unsupervised Learning - Introduction To Machine Learning - Edureka">
            <a:extLst>
              <a:ext uri="{FF2B5EF4-FFF2-40B4-BE49-F238E27FC236}">
                <a16:creationId xmlns:a16="http://schemas.microsoft.com/office/drawing/2014/main" id="{3677D2A5-A873-3DDB-827B-E872D86140F7}"/>
              </a:ext>
            </a:extLst>
          </p:cNvPr>
          <p:cNvPicPr preferRelativeResize="0"/>
          <p:nvPr/>
        </p:nvPicPr>
        <p:blipFill rotWithShape="1">
          <a:blip r:embed="rId5">
            <a:alphaModFix/>
          </a:blip>
          <a:srcRect/>
          <a:stretch/>
        </p:blipFill>
        <p:spPr>
          <a:xfrm>
            <a:off x="1110343" y="2944082"/>
            <a:ext cx="9477758" cy="3869451"/>
          </a:xfrm>
          <a:prstGeom prst="rect">
            <a:avLst/>
          </a:prstGeom>
          <a:noFill/>
          <a:ln>
            <a:noFill/>
          </a:ln>
        </p:spPr>
      </p:pic>
    </p:spTree>
    <p:extLst>
      <p:ext uri="{BB962C8B-B14F-4D97-AF65-F5344CB8AC3E}">
        <p14:creationId xmlns:p14="http://schemas.microsoft.com/office/powerpoint/2010/main" val="77291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7B0C348F-80B0-FCEC-0020-7BC20DA42D09}"/>
            </a:ext>
          </a:extLst>
        </p:cNvPr>
        <p:cNvGrpSpPr/>
        <p:nvPr/>
      </p:nvGrpSpPr>
      <p:grpSpPr>
        <a:xfrm>
          <a:off x="0" y="0"/>
          <a:ext cx="0" cy="0"/>
          <a:chOff x="0" y="0"/>
          <a:chExt cx="0" cy="0"/>
        </a:xfrm>
      </p:grpSpPr>
      <p:pic>
        <p:nvPicPr>
          <p:cNvPr id="111" name="Google Shape;111;p3">
            <a:extLst>
              <a:ext uri="{FF2B5EF4-FFF2-40B4-BE49-F238E27FC236}">
                <a16:creationId xmlns:a16="http://schemas.microsoft.com/office/drawing/2014/main" id="{1BCBA46F-D7D4-636B-7819-37904A6B032C}"/>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12" name="Google Shape;112;p3">
            <a:extLst>
              <a:ext uri="{FF2B5EF4-FFF2-40B4-BE49-F238E27FC236}">
                <a16:creationId xmlns:a16="http://schemas.microsoft.com/office/drawing/2014/main" id="{617BF329-EB9B-9D33-5C96-A1ED658B6126}"/>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13" name="Google Shape;113;p3">
            <a:extLst>
              <a:ext uri="{FF2B5EF4-FFF2-40B4-BE49-F238E27FC236}">
                <a16:creationId xmlns:a16="http://schemas.microsoft.com/office/drawing/2014/main" id="{1658ED94-F4AB-97F9-F68F-CB24C7AE30DF}"/>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14" name="Google Shape;114;p3">
            <a:extLst>
              <a:ext uri="{FF2B5EF4-FFF2-40B4-BE49-F238E27FC236}">
                <a16:creationId xmlns:a16="http://schemas.microsoft.com/office/drawing/2014/main" id="{CA9B018A-F257-C788-BFD2-DA2F5D7218B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115" name="Google Shape;115;p3">
            <a:extLst>
              <a:ext uri="{FF2B5EF4-FFF2-40B4-BE49-F238E27FC236}">
                <a16:creationId xmlns:a16="http://schemas.microsoft.com/office/drawing/2014/main" id="{E0EF619E-F400-D16A-BD06-45B577330816}"/>
              </a:ext>
            </a:extLst>
          </p:cNvPr>
          <p:cNvSpPr txBox="1"/>
          <p:nvPr/>
        </p:nvSpPr>
        <p:spPr>
          <a:xfrm>
            <a:off x="193807" y="940156"/>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Google Shape;238;p16">
            <a:extLst>
              <a:ext uri="{FF2B5EF4-FFF2-40B4-BE49-F238E27FC236}">
                <a16:creationId xmlns:a16="http://schemas.microsoft.com/office/drawing/2014/main" id="{3DFD74F4-419B-DA01-AE27-3F8EE3110EA5}"/>
              </a:ext>
            </a:extLst>
          </p:cNvPr>
          <p:cNvSpPr txBox="1">
            <a:spLocks noGrp="1"/>
          </p:cNvSpPr>
          <p:nvPr>
            <p:ph type="body" idx="1"/>
          </p:nvPr>
        </p:nvSpPr>
        <p:spPr>
          <a:xfrm>
            <a:off x="-5940" y="1751335"/>
            <a:ext cx="4973208" cy="5051302"/>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accent1"/>
              </a:buClr>
              <a:buSzPts val="2800"/>
              <a:buChar char="•"/>
            </a:pPr>
            <a:r>
              <a:rPr lang="en-US" dirty="0">
                <a:solidFill>
                  <a:schemeClr val="accent1">
                    <a:lumMod val="75000"/>
                  </a:schemeClr>
                </a:solidFill>
              </a:rPr>
              <a:t> </a:t>
            </a:r>
            <a:r>
              <a:rPr lang="en-US" b="1" dirty="0">
                <a:solidFill>
                  <a:schemeClr val="accent1">
                    <a:lumMod val="75000"/>
                  </a:schemeClr>
                </a:solidFill>
              </a:rPr>
              <a:t>Reinforcement Learning</a:t>
            </a:r>
            <a:r>
              <a:rPr lang="en-US" dirty="0">
                <a:solidFill>
                  <a:schemeClr val="accent1">
                    <a:lumMod val="75000"/>
                  </a:schemeClr>
                </a:solidFill>
              </a:rPr>
              <a:t> is a part of Machine learning where an agent is put in an environment and he learns to behave in this environment by performing certain actions and observing the rewards which it gets from those actions.</a:t>
            </a:r>
            <a:endParaRPr dirty="0">
              <a:solidFill>
                <a:schemeClr val="accent1">
                  <a:lumMod val="75000"/>
                </a:schemeClr>
              </a:solidFill>
            </a:endParaRPr>
          </a:p>
        </p:txBody>
      </p:sp>
      <p:sp>
        <p:nvSpPr>
          <p:cNvPr id="3" name="Google Shape;240;p16">
            <a:extLst>
              <a:ext uri="{FF2B5EF4-FFF2-40B4-BE49-F238E27FC236}">
                <a16:creationId xmlns:a16="http://schemas.microsoft.com/office/drawing/2014/main" id="{C916D46C-A398-32E8-F688-AA2A970BC8A7}"/>
              </a:ext>
            </a:extLst>
          </p:cNvPr>
          <p:cNvSpPr txBox="1">
            <a:spLocks/>
          </p:cNvSpPr>
          <p:nvPr/>
        </p:nvSpPr>
        <p:spPr>
          <a:xfrm>
            <a:off x="7913914" y="6802665"/>
            <a:ext cx="27432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10</a:t>
            </a:fld>
            <a:endParaRPr lang="en-US"/>
          </a:p>
        </p:txBody>
      </p:sp>
      <p:sp>
        <p:nvSpPr>
          <p:cNvPr id="4" name="Google Shape;241;p16">
            <a:extLst>
              <a:ext uri="{FF2B5EF4-FFF2-40B4-BE49-F238E27FC236}">
                <a16:creationId xmlns:a16="http://schemas.microsoft.com/office/drawing/2014/main" id="{25808726-CD4B-4BB4-98F7-779D0DA6216F}"/>
              </a:ext>
            </a:extLst>
          </p:cNvPr>
          <p:cNvSpPr txBox="1"/>
          <p:nvPr/>
        </p:nvSpPr>
        <p:spPr>
          <a:xfrm>
            <a:off x="141514" y="811440"/>
            <a:ext cx="10515600" cy="1325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1"/>
              </a:buClr>
              <a:buSzPts val="4400"/>
              <a:buFont typeface="Calibri"/>
              <a:buNone/>
            </a:pPr>
            <a:r>
              <a:rPr lang="en-US" sz="4400" b="1" i="0" u="none" strike="noStrike" cap="none" dirty="0">
                <a:solidFill>
                  <a:schemeClr val="accent1">
                    <a:lumMod val="75000"/>
                  </a:schemeClr>
                </a:solidFill>
                <a:latin typeface="Calibri"/>
                <a:ea typeface="Calibri"/>
                <a:cs typeface="Calibri"/>
                <a:sym typeface="Calibri"/>
              </a:rPr>
              <a:t>Cont.… </a:t>
            </a:r>
            <a:endParaRPr sz="4400" b="1" i="0" u="none" strike="noStrike" cap="none" dirty="0">
              <a:solidFill>
                <a:schemeClr val="accent1">
                  <a:lumMod val="75000"/>
                </a:schemeClr>
              </a:solidFill>
              <a:latin typeface="Calibri"/>
              <a:ea typeface="Calibri"/>
              <a:cs typeface="Calibri"/>
              <a:sym typeface="Calibri"/>
            </a:endParaRPr>
          </a:p>
        </p:txBody>
      </p:sp>
      <p:cxnSp>
        <p:nvCxnSpPr>
          <p:cNvPr id="5" name="Google Shape;242;p16">
            <a:extLst>
              <a:ext uri="{FF2B5EF4-FFF2-40B4-BE49-F238E27FC236}">
                <a16:creationId xmlns:a16="http://schemas.microsoft.com/office/drawing/2014/main" id="{C9E9F628-FC1D-BF4A-1A1F-EEFF9736FBE6}"/>
              </a:ext>
            </a:extLst>
          </p:cNvPr>
          <p:cNvCxnSpPr/>
          <p:nvPr/>
        </p:nvCxnSpPr>
        <p:spPr>
          <a:xfrm>
            <a:off x="141514" y="1547146"/>
            <a:ext cx="10715348" cy="0"/>
          </a:xfrm>
          <a:prstGeom prst="straightConnector1">
            <a:avLst/>
          </a:prstGeom>
          <a:noFill/>
          <a:ln w="53975" cap="flat" cmpd="sng">
            <a:solidFill>
              <a:schemeClr val="accent1"/>
            </a:solidFill>
            <a:prstDash val="solid"/>
            <a:miter lim="800000"/>
            <a:headEnd type="none" w="sm" len="sm"/>
            <a:tailEnd type="none" w="sm" len="sm"/>
          </a:ln>
        </p:spPr>
      </p:cxnSp>
      <p:pic>
        <p:nvPicPr>
          <p:cNvPr id="6" name="Google Shape;243;p16" descr="How businesses can leverage reinforcement learning?">
            <a:extLst>
              <a:ext uri="{FF2B5EF4-FFF2-40B4-BE49-F238E27FC236}">
                <a16:creationId xmlns:a16="http://schemas.microsoft.com/office/drawing/2014/main" id="{4FA672E0-1382-483B-A1EF-55F1BC7F98A7}"/>
              </a:ext>
            </a:extLst>
          </p:cNvPr>
          <p:cNvPicPr preferRelativeResize="0"/>
          <p:nvPr/>
        </p:nvPicPr>
        <p:blipFill rotWithShape="1">
          <a:blip r:embed="rId5">
            <a:alphaModFix/>
          </a:blip>
          <a:srcRect r="28595"/>
          <a:stretch/>
        </p:blipFill>
        <p:spPr>
          <a:xfrm>
            <a:off x="5225143" y="1875618"/>
            <a:ext cx="5065111" cy="4589611"/>
          </a:xfrm>
          <a:prstGeom prst="rect">
            <a:avLst/>
          </a:prstGeom>
          <a:noFill/>
          <a:ln>
            <a:noFill/>
          </a:ln>
        </p:spPr>
      </p:pic>
    </p:spTree>
    <p:extLst>
      <p:ext uri="{BB962C8B-B14F-4D97-AF65-F5344CB8AC3E}">
        <p14:creationId xmlns:p14="http://schemas.microsoft.com/office/powerpoint/2010/main" val="182670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6"/>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45" name="Google Shape;145;p6"/>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46" name="Google Shape;146;p6"/>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47" name="Google Shape;147;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148" name="Google Shape;148;p6"/>
          <p:cNvSpPr txBox="1"/>
          <p:nvPr/>
        </p:nvSpPr>
        <p:spPr>
          <a:xfrm>
            <a:off x="152864" y="747117"/>
            <a:ext cx="11911757" cy="59743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000"/>
              <a:buFont typeface="Arial"/>
              <a:buNone/>
            </a:pPr>
            <a:r>
              <a:rPr lang="en-US" sz="2400" b="1" i="0" u="none" strike="noStrike" cap="none" dirty="0">
                <a:solidFill>
                  <a:schemeClr val="dk1"/>
                </a:solidFill>
                <a:latin typeface="Times New Roman"/>
                <a:ea typeface="Times New Roman"/>
                <a:cs typeface="Times New Roman"/>
                <a:sym typeface="Times New Roman"/>
              </a:rPr>
              <a:t>WHY IS MACHINE LEARNING IMPORTANT?</a:t>
            </a:r>
            <a:endParaRPr sz="1600" b="0" i="0" u="none" strike="noStrike" cap="none" dirty="0">
              <a:solidFill>
                <a:srgbClr val="000000"/>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Data is the lifeblood of all business. Data-driven decisions increasingly make the difference between keeping up with competition or falling further behind. Machine learning can be the key to unlocking the value of corporate and customer data and enacting decisions that keep a company ahead of the competition.</a:t>
            </a:r>
            <a:endParaRPr sz="1600" b="0" i="0" u="none" strike="noStrike" cap="none" dirty="0">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0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chemeClr val="dk1"/>
              </a:buClr>
              <a:buSzPts val="2000"/>
              <a:buFont typeface="Arial"/>
              <a:buChar char="•"/>
            </a:pPr>
            <a:r>
              <a:rPr lang="en-US" sz="2400" b="1" i="0" u="none" strike="noStrike" cap="none" dirty="0">
                <a:solidFill>
                  <a:schemeClr val="dk1"/>
                </a:solidFill>
                <a:latin typeface="Times New Roman"/>
                <a:ea typeface="Times New Roman"/>
                <a:cs typeface="Times New Roman"/>
                <a:sym typeface="Times New Roman"/>
              </a:rPr>
              <a:t>MACHINE LEARNING USE CASES</a:t>
            </a:r>
            <a:endParaRPr sz="1600" b="0" i="0" u="none" strike="noStrike" cap="none" dirty="0">
              <a:solidFill>
                <a:srgbClr val="000000"/>
              </a:solidFill>
              <a:latin typeface="Arial"/>
              <a:ea typeface="Arial"/>
              <a:cs typeface="Arial"/>
              <a:sym typeface="Arial"/>
            </a:endParaRPr>
          </a:p>
          <a:p>
            <a:pPr marL="457200" marR="0" lvl="0" indent="-457200" algn="l" rtl="0">
              <a:lnSpc>
                <a:spcPct val="90000"/>
              </a:lnSpc>
              <a:spcBef>
                <a:spcPts val="1000"/>
              </a:spcBef>
              <a:spcAft>
                <a:spcPts val="0"/>
              </a:spcAft>
              <a:buClr>
                <a:schemeClr val="dk1"/>
              </a:buClr>
              <a:buSzPts val="2000"/>
              <a:buFont typeface="Calibri"/>
              <a:buAutoNum type="arabicPeriod"/>
            </a:pPr>
            <a:r>
              <a:rPr lang="en-US" sz="2400" b="0" i="0" u="none" strike="noStrike" cap="none" dirty="0">
                <a:solidFill>
                  <a:schemeClr val="dk1"/>
                </a:solidFill>
                <a:latin typeface="Times New Roman"/>
                <a:ea typeface="Times New Roman"/>
                <a:cs typeface="Times New Roman"/>
                <a:sym typeface="Times New Roman"/>
              </a:rPr>
              <a:t>Manufacturing. Predictive maintenance and condition monitoring</a:t>
            </a:r>
            <a:endParaRPr sz="1600" b="0" i="0" u="none" strike="noStrike" cap="none" dirty="0">
              <a:solidFill>
                <a:srgbClr val="000000"/>
              </a:solidFill>
              <a:latin typeface="Arial"/>
              <a:ea typeface="Arial"/>
              <a:cs typeface="Arial"/>
              <a:sym typeface="Arial"/>
            </a:endParaRPr>
          </a:p>
          <a:p>
            <a:pPr marL="457200" marR="0" lvl="0" indent="-457200" algn="l" rtl="0">
              <a:lnSpc>
                <a:spcPct val="90000"/>
              </a:lnSpc>
              <a:spcBef>
                <a:spcPts val="1000"/>
              </a:spcBef>
              <a:spcAft>
                <a:spcPts val="0"/>
              </a:spcAft>
              <a:buClr>
                <a:schemeClr val="dk1"/>
              </a:buClr>
              <a:buSzPts val="2000"/>
              <a:buFont typeface="Calibri"/>
              <a:buAutoNum type="arabicPeriod"/>
            </a:pPr>
            <a:r>
              <a:rPr lang="en-US" sz="2400" b="0" i="0" u="none" strike="noStrike" cap="none" dirty="0">
                <a:solidFill>
                  <a:schemeClr val="dk1"/>
                </a:solidFill>
                <a:latin typeface="Times New Roman"/>
                <a:ea typeface="Times New Roman"/>
                <a:cs typeface="Times New Roman"/>
                <a:sym typeface="Times New Roman"/>
              </a:rPr>
              <a:t>Retail. Upselling and cross-channel marketing</a:t>
            </a:r>
            <a:endParaRPr sz="1600" b="0" i="0" u="none" strike="noStrike" cap="none" dirty="0">
              <a:solidFill>
                <a:srgbClr val="000000"/>
              </a:solidFill>
              <a:latin typeface="Arial"/>
              <a:ea typeface="Arial"/>
              <a:cs typeface="Arial"/>
              <a:sym typeface="Arial"/>
            </a:endParaRPr>
          </a:p>
          <a:p>
            <a:pPr marL="457200" marR="0" lvl="0" indent="-457200" algn="l" rtl="0">
              <a:lnSpc>
                <a:spcPct val="90000"/>
              </a:lnSpc>
              <a:spcBef>
                <a:spcPts val="1000"/>
              </a:spcBef>
              <a:spcAft>
                <a:spcPts val="0"/>
              </a:spcAft>
              <a:buClr>
                <a:schemeClr val="dk1"/>
              </a:buClr>
              <a:buSzPts val="2000"/>
              <a:buFont typeface="Calibri"/>
              <a:buAutoNum type="arabicPeriod"/>
            </a:pPr>
            <a:r>
              <a:rPr lang="en-US" sz="2400" b="0" i="0" u="none" strike="noStrike" cap="none" dirty="0">
                <a:solidFill>
                  <a:schemeClr val="dk1"/>
                </a:solidFill>
                <a:latin typeface="Times New Roman"/>
                <a:ea typeface="Times New Roman"/>
                <a:cs typeface="Times New Roman"/>
                <a:sym typeface="Times New Roman"/>
              </a:rPr>
              <a:t>Healthcare and life sciences. Disease identification and risk satisfaction</a:t>
            </a:r>
            <a:endParaRPr sz="1600" b="0" i="0" u="none" strike="noStrike" cap="none" dirty="0">
              <a:solidFill>
                <a:srgbClr val="000000"/>
              </a:solidFill>
              <a:latin typeface="Arial"/>
              <a:ea typeface="Arial"/>
              <a:cs typeface="Arial"/>
              <a:sym typeface="Arial"/>
            </a:endParaRPr>
          </a:p>
          <a:p>
            <a:pPr marL="457200" marR="0" lvl="0" indent="-457200" algn="l" rtl="0">
              <a:lnSpc>
                <a:spcPct val="90000"/>
              </a:lnSpc>
              <a:spcBef>
                <a:spcPts val="1000"/>
              </a:spcBef>
              <a:spcAft>
                <a:spcPts val="0"/>
              </a:spcAft>
              <a:buClr>
                <a:schemeClr val="dk1"/>
              </a:buClr>
              <a:buSzPts val="2000"/>
              <a:buFont typeface="Calibri"/>
              <a:buAutoNum type="arabicPeriod"/>
            </a:pPr>
            <a:r>
              <a:rPr lang="en-US" sz="2400" b="0" i="0" u="none" strike="noStrike" cap="none" dirty="0">
                <a:solidFill>
                  <a:schemeClr val="dk1"/>
                </a:solidFill>
                <a:latin typeface="Times New Roman"/>
                <a:ea typeface="Times New Roman"/>
                <a:cs typeface="Times New Roman"/>
                <a:sym typeface="Times New Roman"/>
              </a:rPr>
              <a:t>Travel and hospitality. Dynamic pricing</a:t>
            </a:r>
            <a:endParaRPr sz="1600" b="0" i="0" u="none" strike="noStrike" cap="none" dirty="0">
              <a:solidFill>
                <a:srgbClr val="000000"/>
              </a:solidFill>
              <a:latin typeface="Arial"/>
              <a:ea typeface="Arial"/>
              <a:cs typeface="Arial"/>
              <a:sym typeface="Arial"/>
            </a:endParaRPr>
          </a:p>
          <a:p>
            <a:pPr marL="457200" marR="0" lvl="0" indent="-457200" algn="l" rtl="0">
              <a:lnSpc>
                <a:spcPct val="90000"/>
              </a:lnSpc>
              <a:spcBef>
                <a:spcPts val="1000"/>
              </a:spcBef>
              <a:spcAft>
                <a:spcPts val="0"/>
              </a:spcAft>
              <a:buClr>
                <a:schemeClr val="dk1"/>
              </a:buClr>
              <a:buSzPts val="2000"/>
              <a:buFont typeface="Calibri"/>
              <a:buAutoNum type="arabicPeriod"/>
            </a:pPr>
            <a:r>
              <a:rPr lang="en-US" sz="2400" b="0" i="0" u="none" strike="noStrike" cap="none" dirty="0">
                <a:solidFill>
                  <a:schemeClr val="dk1"/>
                </a:solidFill>
                <a:latin typeface="Times New Roman"/>
                <a:ea typeface="Times New Roman"/>
                <a:cs typeface="Times New Roman"/>
                <a:sym typeface="Times New Roman"/>
              </a:rPr>
              <a:t>Financial services. Risk analytics and regulation</a:t>
            </a:r>
            <a:endParaRPr sz="1600" b="0" i="0" u="none" strike="noStrike" cap="none" dirty="0">
              <a:solidFill>
                <a:srgbClr val="000000"/>
              </a:solidFill>
              <a:latin typeface="Arial"/>
              <a:ea typeface="Arial"/>
              <a:cs typeface="Arial"/>
              <a:sym typeface="Arial"/>
            </a:endParaRPr>
          </a:p>
          <a:p>
            <a:pPr marL="457200" marR="0" lvl="0" indent="-457200" algn="l" rtl="0">
              <a:lnSpc>
                <a:spcPct val="90000"/>
              </a:lnSpc>
              <a:spcBef>
                <a:spcPts val="1000"/>
              </a:spcBef>
              <a:spcAft>
                <a:spcPts val="0"/>
              </a:spcAft>
              <a:buClr>
                <a:schemeClr val="dk1"/>
              </a:buClr>
              <a:buSzPts val="2000"/>
              <a:buFont typeface="Calibri"/>
              <a:buAutoNum type="arabicPeriod"/>
            </a:pPr>
            <a:r>
              <a:rPr lang="en-US" sz="2400" b="0" i="0" u="none" strike="noStrike" cap="none" dirty="0">
                <a:solidFill>
                  <a:schemeClr val="dk1"/>
                </a:solidFill>
                <a:latin typeface="Times New Roman"/>
                <a:ea typeface="Times New Roman"/>
                <a:cs typeface="Times New Roman"/>
                <a:sym typeface="Times New Roman"/>
              </a:rPr>
              <a:t>Energy. Energy demand and supply optimization </a:t>
            </a:r>
            <a:endParaRPr sz="1600" b="0" i="0" u="none" strike="noStrike" cap="none" dirty="0">
              <a:solidFill>
                <a:srgbClr val="000000"/>
              </a:solidFill>
              <a:latin typeface="Arial"/>
              <a:ea typeface="Arial"/>
              <a:cs typeface="Arial"/>
              <a:sym typeface="Arial"/>
            </a:endParaRPr>
          </a:p>
          <a:p>
            <a:pPr marL="228600" marR="0" lvl="0" indent="-101600" algn="l" rtl="0">
              <a:lnSpc>
                <a:spcPct val="90000"/>
              </a:lnSpc>
              <a:spcBef>
                <a:spcPts val="10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7"/>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55" name="Google Shape;155;p7"/>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56" name="Google Shape;156;p7"/>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57" name="Google Shape;15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158" name="Google Shape;158;p7"/>
          <p:cNvSpPr txBox="1"/>
          <p:nvPr/>
        </p:nvSpPr>
        <p:spPr>
          <a:xfrm>
            <a:off x="436727" y="1023583"/>
            <a:ext cx="11150222" cy="4217158"/>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1000"/>
              </a:spcBef>
              <a:spcAft>
                <a:spcPts val="0"/>
              </a:spcAft>
              <a:buClr>
                <a:schemeClr val="dk1"/>
              </a:buClr>
              <a:buSzPts val="2400"/>
              <a:buFont typeface="Arial"/>
              <a:buChar char="•"/>
            </a:pPr>
            <a:r>
              <a:rPr lang="en-US" sz="2400" b="1" i="0" u="none" strike="noStrike" cap="none">
                <a:solidFill>
                  <a:schemeClr val="dk1"/>
                </a:solidFill>
                <a:latin typeface="Times New Roman"/>
                <a:ea typeface="Times New Roman"/>
                <a:cs typeface="Times New Roman"/>
                <a:sym typeface="Times New Roman"/>
              </a:rPr>
              <a:t>Why Machine Learning </a:t>
            </a: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chemeClr val="dk1"/>
              </a:buClr>
              <a:buSzPts val="2000"/>
              <a:buFont typeface="Arial"/>
              <a:buNone/>
            </a:pPr>
            <a:br>
              <a:rPr lang="en-US" sz="2000" b="0" i="0" u="none" strike="noStrike" cap="none">
                <a:solidFill>
                  <a:schemeClr val="dk1"/>
                </a:solidFill>
                <a:latin typeface="Calibri"/>
                <a:ea typeface="Calibri"/>
                <a:cs typeface="Calibri"/>
                <a:sym typeface="Calibri"/>
              </a:rPr>
            </a:br>
            <a:endParaRPr sz="2000" b="0" i="0" u="none" strike="noStrike" cap="none">
              <a:solidFill>
                <a:schemeClr val="dk1"/>
              </a:solidFill>
              <a:latin typeface="Times New Roman"/>
              <a:ea typeface="Times New Roman"/>
              <a:cs typeface="Times New Roman"/>
              <a:sym typeface="Times New Roman"/>
            </a:endParaRPr>
          </a:p>
        </p:txBody>
      </p:sp>
      <p:pic>
        <p:nvPicPr>
          <p:cNvPr id="159" name="Google Shape;159;p7" descr="https://lh7-us.googleusercontent.com/CtXUwE58zoryil-nY_UwCA2UFMNt2qG10lmyOz2XVkp6N5bmPGbie4j4ex_0SrO2IQ8gYCzkd17vmaej4R8s05E2krw3rw_tqVUVuNYORoZfg0mPK5ayBNGBczT59XuTibidVDaCiyyPyyrpdXtP3w=s2048"/>
          <p:cNvPicPr preferRelativeResize="0"/>
          <p:nvPr/>
        </p:nvPicPr>
        <p:blipFill rotWithShape="1">
          <a:blip r:embed="rId5">
            <a:alphaModFix/>
          </a:blip>
          <a:srcRect/>
          <a:stretch/>
        </p:blipFill>
        <p:spPr>
          <a:xfrm>
            <a:off x="6207355" y="2569120"/>
            <a:ext cx="4781550" cy="3295651"/>
          </a:xfrm>
          <a:prstGeom prst="rect">
            <a:avLst/>
          </a:prstGeom>
          <a:noFill/>
          <a:ln>
            <a:noFill/>
          </a:ln>
        </p:spPr>
      </p:pic>
      <p:pic>
        <p:nvPicPr>
          <p:cNvPr id="160" name="Google Shape;160;p7" descr="How To Tag On Facebook | All Tagging Techniques"/>
          <p:cNvPicPr preferRelativeResize="0"/>
          <p:nvPr/>
        </p:nvPicPr>
        <p:blipFill rotWithShape="1">
          <a:blip r:embed="rId6">
            <a:alphaModFix/>
          </a:blip>
          <a:srcRect/>
          <a:stretch/>
        </p:blipFill>
        <p:spPr>
          <a:xfrm>
            <a:off x="1820602" y="3526241"/>
            <a:ext cx="2667000" cy="1714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8"/>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67" name="Google Shape;167;p8"/>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68" name="Google Shape;168;p8"/>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69" name="Google Shape;16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170" name="Google Shape;170;p8"/>
          <p:cNvSpPr txBox="1"/>
          <p:nvPr/>
        </p:nvSpPr>
        <p:spPr>
          <a:xfrm>
            <a:off x="191069" y="1105470"/>
            <a:ext cx="11505062" cy="5315490"/>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71" name="Google Shape;171;p8" descr="Amazon Echo App Windows 10 Download | Alexa App for Echo"/>
          <p:cNvPicPr preferRelativeResize="0"/>
          <p:nvPr/>
        </p:nvPicPr>
        <p:blipFill rotWithShape="1">
          <a:blip r:embed="rId5">
            <a:alphaModFix/>
          </a:blip>
          <a:srcRect/>
          <a:stretch/>
        </p:blipFill>
        <p:spPr>
          <a:xfrm>
            <a:off x="3184184" y="2946841"/>
            <a:ext cx="6634730" cy="3694717"/>
          </a:xfrm>
          <a:prstGeom prst="rect">
            <a:avLst/>
          </a:prstGeom>
          <a:noFill/>
          <a:ln>
            <a:noFill/>
          </a:ln>
        </p:spPr>
      </p:pic>
      <p:pic>
        <p:nvPicPr>
          <p:cNvPr id="172" name="Google Shape;172;p8" descr="Open Innovation at Amazon Alexa: Crowd-sourcing Its Way to ..."/>
          <p:cNvPicPr preferRelativeResize="0"/>
          <p:nvPr/>
        </p:nvPicPr>
        <p:blipFill rotWithShape="1">
          <a:blip r:embed="rId6">
            <a:alphaModFix/>
          </a:blip>
          <a:srcRect/>
          <a:stretch/>
        </p:blipFill>
        <p:spPr>
          <a:xfrm>
            <a:off x="554902" y="1326068"/>
            <a:ext cx="3276600" cy="1400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9"/>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79" name="Google Shape;179;p9"/>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80" name="Google Shape;180;p9"/>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81" name="Google Shape;18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182" name="Google Shape;182;p9"/>
          <p:cNvSpPr txBox="1"/>
          <p:nvPr/>
        </p:nvSpPr>
        <p:spPr>
          <a:xfrm>
            <a:off x="316637" y="704571"/>
            <a:ext cx="11747984" cy="6153429"/>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1000"/>
              </a:spcBef>
              <a:spcAft>
                <a:spcPts val="0"/>
              </a:spcAft>
              <a:buClr>
                <a:schemeClr val="dk1"/>
              </a:buClr>
              <a:buSzPts val="2400"/>
              <a:buFont typeface="Arial"/>
              <a:buChar char="•"/>
            </a:pPr>
            <a:r>
              <a:rPr lang="en-US" sz="2400" b="1" i="0" u="none" strike="noStrike" cap="none" dirty="0">
                <a:solidFill>
                  <a:schemeClr val="dk1"/>
                </a:solidFill>
                <a:latin typeface="Times New Roman"/>
                <a:ea typeface="Times New Roman"/>
                <a:cs typeface="Times New Roman"/>
                <a:sym typeface="Times New Roman"/>
              </a:rPr>
              <a:t>Applications of machine learning.</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In the retail business, machine learning is used to study consumer behavior.</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In finance, banks analyze their past data to build models to use in credit applications, fraud detection, and the stock market.</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In manufacturing, learning models are used for optimization, control, and troubleshooting.</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In medicine, learning programs are used for medical diagnosis.</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In telecommunications, call patterns are analyzed for network optimization and maximizing the quality of service.</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In science, large amounts of data in physics, astronomy, and biology can only be analyzed fast enough by computers. The World Wide Web is huge; it is constantly growing and searching for relevant information cannot be done manually.</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In artificial intelligence, it is used to teach a system to learn and adapt to changes so that the system designer need not foresee and provide solutions for all possible situations.</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It is used to find solutions to many problems in vision, speech recognition, and robotics.</a:t>
            </a:r>
            <a:endParaRPr sz="1400" b="0" i="0" u="none" strike="noStrike" cap="none" dirty="0">
              <a:solidFill>
                <a:srgbClr val="000000"/>
              </a:solidFill>
              <a:latin typeface="Arial"/>
              <a:ea typeface="Arial"/>
              <a:cs typeface="Arial"/>
              <a:sym typeface="Arial"/>
            </a:endParaRPr>
          </a:p>
          <a:p>
            <a:pPr marL="457200" marR="0" lvl="0" indent="-457200" algn="just" rtl="0">
              <a:lnSpc>
                <a:spcPct val="90000"/>
              </a:lnSpc>
              <a:spcBef>
                <a:spcPts val="1000"/>
              </a:spcBef>
              <a:spcAft>
                <a:spcPts val="0"/>
              </a:spcAft>
              <a:buClr>
                <a:schemeClr val="dk1"/>
              </a:buClr>
              <a:buSzPts val="2000"/>
              <a:buFont typeface="Calibri"/>
              <a:buAutoNum type="arabicPeriod"/>
            </a:pPr>
            <a:r>
              <a:rPr lang="en-US" sz="2000" b="0" i="0" u="none" strike="noStrike" cap="none" dirty="0">
                <a:solidFill>
                  <a:schemeClr val="dk1"/>
                </a:solidFill>
                <a:latin typeface="Calibri"/>
                <a:ea typeface="Calibri"/>
                <a:cs typeface="Calibri"/>
                <a:sym typeface="Calibri"/>
              </a:rPr>
              <a:t>Machine learning methods are applied in the design of computer-controlled vehicles to steer correctly when driving on a variety of roads.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1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89" name="Google Shape;189;p1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190" name="Google Shape;190;p1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191" name="Google Shape;19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192" name="Google Shape;192;p10"/>
          <p:cNvSpPr txBox="1"/>
          <p:nvPr/>
        </p:nvSpPr>
        <p:spPr>
          <a:xfrm>
            <a:off x="154574" y="833549"/>
            <a:ext cx="11859904" cy="5677467"/>
          </a:xfrm>
          <a:prstGeom prst="rect">
            <a:avLst/>
          </a:prstGeom>
          <a:noFill/>
          <a:ln>
            <a:noFill/>
          </a:ln>
        </p:spPr>
        <p:txBody>
          <a:bodyPr spcFirstLastPara="1" wrap="square" lIns="91425" tIns="45700" rIns="91425" bIns="45700" anchor="t" anchorCtr="0">
            <a:noAutofit/>
          </a:bodyPr>
          <a:lstStyle/>
          <a:p>
            <a:pPr marL="320040" marR="0" lvl="0" indent="-226123" algn="just" rtl="0">
              <a:lnSpc>
                <a:spcPct val="90000"/>
              </a:lnSpc>
              <a:spcBef>
                <a:spcPts val="700"/>
              </a:spcBef>
              <a:spcAft>
                <a:spcPts val="0"/>
              </a:spcAft>
              <a:buClr>
                <a:schemeClr val="dk1"/>
              </a:buClr>
              <a:buSzPts val="2320"/>
              <a:buFont typeface="Arial"/>
              <a:buNone/>
            </a:pPr>
            <a:r>
              <a:rPr lang="en-US" sz="2400" b="1" i="0" u="none" strike="noStrike" cap="none" dirty="0">
                <a:solidFill>
                  <a:schemeClr val="dk1"/>
                </a:solidFill>
                <a:latin typeface="Times New Roman"/>
                <a:ea typeface="Times New Roman"/>
                <a:cs typeface="Times New Roman"/>
                <a:sym typeface="Times New Roman"/>
              </a:rPr>
              <a:t>programming approach vs. machine learning approach in Artificial Intelligence</a:t>
            </a:r>
            <a:endParaRPr sz="14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2200"/>
              </a:spcBef>
              <a:spcAft>
                <a:spcPts val="0"/>
              </a:spcAft>
              <a:buClr>
                <a:schemeClr val="dk1"/>
              </a:buClr>
              <a:buSzPts val="2000"/>
              <a:buFont typeface="Arial"/>
              <a:buChar char="•"/>
            </a:pPr>
            <a:r>
              <a:rPr lang="en-US" sz="2100" b="1" i="0" u="none" strike="noStrike" cap="none" dirty="0">
                <a:solidFill>
                  <a:schemeClr val="dk1"/>
                </a:solidFill>
                <a:latin typeface="Times New Roman"/>
                <a:ea typeface="Times New Roman"/>
                <a:cs typeface="Times New Roman"/>
                <a:sym typeface="Times New Roman"/>
              </a:rPr>
              <a:t>Approach to Problem Solving:</a:t>
            </a:r>
            <a:endParaRPr sz="21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100" b="1" i="0" u="none" strike="noStrike" cap="none" dirty="0">
                <a:solidFill>
                  <a:schemeClr val="dk1"/>
                </a:solidFill>
                <a:latin typeface="Times New Roman"/>
                <a:ea typeface="Times New Roman"/>
                <a:cs typeface="Times New Roman"/>
                <a:sym typeface="Times New Roman"/>
              </a:rPr>
              <a:t>Traditional Programming</a:t>
            </a:r>
            <a:r>
              <a:rPr lang="en-US" sz="2100" b="0" i="0" u="none" strike="noStrike" cap="none" dirty="0">
                <a:solidFill>
                  <a:schemeClr val="dk1"/>
                </a:solidFill>
                <a:latin typeface="Times New Roman"/>
                <a:ea typeface="Times New Roman"/>
                <a:cs typeface="Times New Roman"/>
                <a:sym typeface="Times New Roman"/>
              </a:rPr>
              <a:t>: In traditional programming, a programmer writes explicit rules or instructions for the computer to follow. These rules dictate exactly how the computer should process input data to produce the desired output. It requires a deep understanding of the problem and a clear way to encode the solution in a programming language.</a:t>
            </a:r>
            <a:endParaRPr sz="2100" b="0" i="0" u="none" strike="noStrike" cap="none" dirty="0">
              <a:solidFill>
                <a:srgbClr val="000000"/>
              </a:solidFill>
              <a:latin typeface="Arial"/>
              <a:ea typeface="Arial"/>
              <a:cs typeface="Arial"/>
              <a:sym typeface="Arial"/>
            </a:endParaRPr>
          </a:p>
          <a:p>
            <a:pPr marL="457200" marR="0" lvl="1" indent="0" algn="just" rtl="0">
              <a:lnSpc>
                <a:spcPct val="90000"/>
              </a:lnSpc>
              <a:spcBef>
                <a:spcPts val="500"/>
              </a:spcBef>
              <a:spcAft>
                <a:spcPts val="0"/>
              </a:spcAft>
              <a:buClr>
                <a:schemeClr val="dk1"/>
              </a:buClr>
              <a:buSzPts val="2000"/>
              <a:buFont typeface="Arial"/>
              <a:buNone/>
            </a:pPr>
            <a:endParaRPr sz="2100" b="0" i="0" u="none" strike="noStrike" cap="none" dirty="0">
              <a:solidFill>
                <a:schemeClr val="dk1"/>
              </a:solidFill>
              <a:latin typeface="Times New Roman"/>
              <a:ea typeface="Times New Roman"/>
              <a:cs typeface="Times New Roman"/>
              <a:sym typeface="Times New Roman"/>
            </a:endParaRPr>
          </a:p>
          <a:p>
            <a:pPr marL="685800" marR="0" lvl="1" indent="-228600" algn="just" rtl="0">
              <a:lnSpc>
                <a:spcPct val="90000"/>
              </a:lnSpc>
              <a:spcBef>
                <a:spcPts val="500"/>
              </a:spcBef>
              <a:spcAft>
                <a:spcPts val="0"/>
              </a:spcAft>
              <a:buClr>
                <a:schemeClr val="dk1"/>
              </a:buClr>
              <a:buSzPts val="2000"/>
              <a:buFont typeface="Arial"/>
              <a:buChar char="•"/>
            </a:pPr>
            <a:r>
              <a:rPr lang="en-US" sz="2100" b="1" i="0" u="none" strike="noStrike" cap="none" dirty="0">
                <a:solidFill>
                  <a:schemeClr val="dk1"/>
                </a:solidFill>
                <a:latin typeface="Times New Roman"/>
                <a:ea typeface="Times New Roman"/>
                <a:cs typeface="Times New Roman"/>
                <a:sym typeface="Times New Roman"/>
              </a:rPr>
              <a:t>Machine Learning</a:t>
            </a:r>
            <a:r>
              <a:rPr lang="en-US" sz="2100" b="0" i="0" u="none" strike="noStrike" cap="none" dirty="0">
                <a:solidFill>
                  <a:schemeClr val="dk1"/>
                </a:solidFill>
                <a:latin typeface="Times New Roman"/>
                <a:ea typeface="Times New Roman"/>
                <a:cs typeface="Times New Roman"/>
                <a:sym typeface="Times New Roman"/>
              </a:rPr>
              <a:t>: In machine learning, instead of writing explicit rules, a programmer trains a model using a large dataset. The model learns patterns and relationships from the data, enabling it to make predictions or decisions without being explicitly programmed for each possibility. This approach is particularly useful for complex problems where defining explicit rules is difficult or impossible.</a:t>
            </a:r>
            <a:endParaRPr sz="21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100" b="1" i="0" u="none" strike="noStrike" cap="none" dirty="0">
                <a:solidFill>
                  <a:schemeClr val="dk1"/>
                </a:solidFill>
                <a:latin typeface="Times New Roman"/>
                <a:ea typeface="Times New Roman"/>
                <a:cs typeface="Times New Roman"/>
                <a:sym typeface="Times New Roman"/>
              </a:rPr>
              <a:t>Data Dependency:</a:t>
            </a:r>
            <a:endParaRPr sz="21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100" b="1" i="0" u="none" strike="noStrike" cap="none" dirty="0">
                <a:solidFill>
                  <a:schemeClr val="dk1"/>
                </a:solidFill>
                <a:latin typeface="Times New Roman"/>
                <a:ea typeface="Times New Roman"/>
                <a:cs typeface="Times New Roman"/>
                <a:sym typeface="Times New Roman"/>
              </a:rPr>
              <a:t>Traditional Programming</a:t>
            </a:r>
            <a:r>
              <a:rPr lang="en-US" sz="2100" b="0" i="0" u="none" strike="noStrike" cap="none" dirty="0">
                <a:solidFill>
                  <a:schemeClr val="dk1"/>
                </a:solidFill>
                <a:latin typeface="Times New Roman"/>
                <a:ea typeface="Times New Roman"/>
                <a:cs typeface="Times New Roman"/>
                <a:sym typeface="Times New Roman"/>
              </a:rPr>
              <a:t>: Relies less on data. The quality of the output depends mainly on the logic defined by the programmer.</a:t>
            </a:r>
            <a:endParaRPr sz="21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100" b="1" i="0" u="none" strike="noStrike" cap="none" dirty="0">
                <a:solidFill>
                  <a:schemeClr val="dk1"/>
                </a:solidFill>
                <a:latin typeface="Times New Roman"/>
                <a:ea typeface="Times New Roman"/>
                <a:cs typeface="Times New Roman"/>
                <a:sym typeface="Times New Roman"/>
              </a:rPr>
              <a:t>Machine Learning</a:t>
            </a:r>
            <a:r>
              <a:rPr lang="en-US" sz="2100" b="0" i="0" u="none" strike="noStrike" cap="none" dirty="0">
                <a:solidFill>
                  <a:schemeClr val="dk1"/>
                </a:solidFill>
                <a:latin typeface="Times New Roman"/>
                <a:ea typeface="Times New Roman"/>
                <a:cs typeface="Times New Roman"/>
                <a:sym typeface="Times New Roman"/>
              </a:rPr>
              <a:t>: Heavily reliant on data. The quality and quantity of the training data significantly impact the performance and accuracy of the model.</a:t>
            </a:r>
            <a:endParaRPr sz="2100" b="0" i="0" u="none" strike="noStrike" cap="none" dirty="0">
              <a:solidFill>
                <a:srgbClr val="000000"/>
              </a:solidFill>
              <a:latin typeface="Arial"/>
              <a:ea typeface="Arial"/>
              <a:cs typeface="Arial"/>
              <a:sym typeface="Arial"/>
            </a:endParaRPr>
          </a:p>
          <a:p>
            <a:pPr marL="685800" marR="0" lvl="1" indent="-101600" algn="just" rtl="0">
              <a:lnSpc>
                <a:spcPct val="90000"/>
              </a:lnSpc>
              <a:spcBef>
                <a:spcPts val="5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90000"/>
              </a:lnSpc>
              <a:spcBef>
                <a:spcPts val="1000"/>
              </a:spcBef>
              <a:spcAft>
                <a:spcPts val="0"/>
              </a:spcAft>
              <a:buClr>
                <a:schemeClr val="dk1"/>
              </a:buClr>
              <a:buSzPts val="2800"/>
              <a:buFont typeface="Arial"/>
              <a:buNone/>
            </a:pPr>
            <a:br>
              <a:rPr lang="en-US" sz="2800" b="0" i="0" u="none" strike="noStrike" cap="none" dirty="0">
                <a:solidFill>
                  <a:schemeClr val="dk1"/>
                </a:solidFill>
                <a:latin typeface="Times New Roman"/>
                <a:ea typeface="Times New Roman"/>
                <a:cs typeface="Times New Roman"/>
                <a:sym typeface="Times New Roman"/>
              </a:rPr>
            </a:br>
            <a:endParaRPr sz="24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11"/>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199" name="Google Shape;199;p11"/>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00" name="Google Shape;200;p11"/>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01" name="Google Shape;20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202" name="Google Shape;202;p11"/>
          <p:cNvSpPr txBox="1"/>
          <p:nvPr/>
        </p:nvSpPr>
        <p:spPr>
          <a:xfrm>
            <a:off x="188693" y="917875"/>
            <a:ext cx="11791665" cy="5803600"/>
          </a:xfrm>
          <a:prstGeom prst="rect">
            <a:avLst/>
          </a:prstGeom>
          <a:noFill/>
          <a:ln>
            <a:noFill/>
          </a:ln>
        </p:spPr>
        <p:txBody>
          <a:bodyPr spcFirstLastPara="1" wrap="square" lIns="91425" tIns="45700" rIns="91425" bIns="45700" anchor="t" anchorCtr="0">
            <a:noAutofit/>
          </a:bodyPr>
          <a:lstStyle/>
          <a:p>
            <a:pPr marL="228600" marR="0" lvl="0" indent="-228600" algn="just" rtl="0">
              <a:lnSpc>
                <a:spcPct val="90000"/>
              </a:lnSpc>
              <a:spcBef>
                <a:spcPts val="1000"/>
              </a:spcBef>
              <a:spcAft>
                <a:spcPts val="0"/>
              </a:spcAft>
              <a:buClr>
                <a:schemeClr val="dk1"/>
              </a:buClr>
              <a:buSzPts val="2400"/>
              <a:buFont typeface="Arial"/>
              <a:buChar char="•"/>
            </a:pPr>
            <a:r>
              <a:rPr lang="en-US" sz="2800" b="1" i="0" u="none" strike="noStrike" cap="none" dirty="0">
                <a:solidFill>
                  <a:schemeClr val="dk1"/>
                </a:solidFill>
                <a:latin typeface="Times New Roman"/>
                <a:ea typeface="Times New Roman"/>
                <a:cs typeface="Times New Roman"/>
                <a:sym typeface="Times New Roman"/>
              </a:rPr>
              <a:t>Flexibility and Adaptability</a:t>
            </a:r>
            <a:r>
              <a:rPr lang="en-US" sz="2400" b="1"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400" b="1" i="0" u="none" strike="noStrike" cap="none" dirty="0">
                <a:solidFill>
                  <a:schemeClr val="dk1"/>
                </a:solidFill>
                <a:latin typeface="Times New Roman"/>
                <a:ea typeface="Times New Roman"/>
                <a:cs typeface="Times New Roman"/>
                <a:sym typeface="Times New Roman"/>
              </a:rPr>
              <a:t>Traditional Programming</a:t>
            </a:r>
            <a:r>
              <a:rPr lang="en-US" sz="2400" b="0" i="0" u="none" strike="noStrike" cap="none" dirty="0">
                <a:solidFill>
                  <a:schemeClr val="dk1"/>
                </a:solidFill>
                <a:latin typeface="Times New Roman"/>
                <a:ea typeface="Times New Roman"/>
                <a:cs typeface="Times New Roman"/>
                <a:sym typeface="Times New Roman"/>
              </a:rPr>
              <a:t>: Has limited flexibility. Changes in the problem domain require manual updates to the code.</a:t>
            </a:r>
            <a:endParaRPr sz="16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400" b="1" i="0" u="none" strike="noStrike" cap="none" dirty="0">
                <a:solidFill>
                  <a:schemeClr val="dk1"/>
                </a:solidFill>
                <a:latin typeface="Times New Roman"/>
                <a:ea typeface="Times New Roman"/>
                <a:cs typeface="Times New Roman"/>
                <a:sym typeface="Times New Roman"/>
              </a:rPr>
              <a:t>Machine Learning</a:t>
            </a:r>
            <a:r>
              <a:rPr lang="en-US" sz="2400" b="0" i="0" u="none" strike="noStrike" cap="none" dirty="0">
                <a:solidFill>
                  <a:schemeClr val="dk1"/>
                </a:solidFill>
                <a:latin typeface="Times New Roman"/>
                <a:ea typeface="Times New Roman"/>
                <a:cs typeface="Times New Roman"/>
                <a:sym typeface="Times New Roman"/>
              </a:rPr>
              <a:t>: Offers higher adaptability to new scenarios, especially if the model is retrained with updated data.</a:t>
            </a:r>
            <a:endParaRPr sz="16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400"/>
              <a:buFont typeface="Arial"/>
              <a:buChar char="•"/>
            </a:pPr>
            <a:r>
              <a:rPr lang="en-US" sz="2800" b="1" i="0" u="none" strike="noStrike" cap="none" dirty="0">
                <a:solidFill>
                  <a:schemeClr val="dk1"/>
                </a:solidFill>
                <a:latin typeface="Times New Roman"/>
                <a:ea typeface="Times New Roman"/>
                <a:cs typeface="Times New Roman"/>
                <a:sym typeface="Times New Roman"/>
              </a:rPr>
              <a:t>Problem Complexity</a:t>
            </a:r>
            <a:r>
              <a:rPr lang="en-US" sz="2400" b="1"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400" b="1" i="0" u="none" strike="noStrike" cap="none" dirty="0">
                <a:solidFill>
                  <a:schemeClr val="dk1"/>
                </a:solidFill>
                <a:latin typeface="Times New Roman"/>
                <a:ea typeface="Times New Roman"/>
                <a:cs typeface="Times New Roman"/>
                <a:sym typeface="Times New Roman"/>
              </a:rPr>
              <a:t>Traditional Programming</a:t>
            </a:r>
            <a:r>
              <a:rPr lang="en-US" sz="2400" b="0" i="0" u="none" strike="noStrike" cap="none" dirty="0">
                <a:solidFill>
                  <a:schemeClr val="dk1"/>
                </a:solidFill>
                <a:latin typeface="Times New Roman"/>
                <a:ea typeface="Times New Roman"/>
                <a:cs typeface="Times New Roman"/>
                <a:sym typeface="Times New Roman"/>
              </a:rPr>
              <a:t>: Best suited for problems with clear, deterministic logic.</a:t>
            </a:r>
            <a:endParaRPr sz="16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400" b="1" i="0" u="none" strike="noStrike" cap="none" dirty="0">
                <a:solidFill>
                  <a:schemeClr val="dk1"/>
                </a:solidFill>
                <a:latin typeface="Times New Roman"/>
                <a:ea typeface="Times New Roman"/>
                <a:cs typeface="Times New Roman"/>
                <a:sym typeface="Times New Roman"/>
              </a:rPr>
              <a:t>Machine Learning</a:t>
            </a:r>
            <a:r>
              <a:rPr lang="en-US" sz="2400" b="0" i="0" u="none" strike="noStrike" cap="none" dirty="0">
                <a:solidFill>
                  <a:schemeClr val="dk1"/>
                </a:solidFill>
                <a:latin typeface="Times New Roman"/>
                <a:ea typeface="Times New Roman"/>
                <a:cs typeface="Times New Roman"/>
                <a:sym typeface="Times New Roman"/>
              </a:rPr>
              <a:t>: Better for dealing with complex problems where patterns and relationships are not evident, such as image recognition, natural language processing, or predictive analytics.</a:t>
            </a:r>
            <a:endParaRPr sz="16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400"/>
              <a:buFont typeface="Arial"/>
              <a:buChar char="•"/>
            </a:pPr>
            <a:r>
              <a:rPr lang="en-US" sz="2800" b="1" i="0" u="none" strike="noStrike" cap="none" dirty="0">
                <a:solidFill>
                  <a:schemeClr val="dk1"/>
                </a:solidFill>
                <a:latin typeface="Times New Roman"/>
                <a:ea typeface="Times New Roman"/>
                <a:cs typeface="Times New Roman"/>
                <a:sym typeface="Times New Roman"/>
              </a:rPr>
              <a:t>Development Process</a:t>
            </a:r>
            <a:r>
              <a:rPr lang="en-US" sz="2400" b="1"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400" b="1" i="0" u="none" strike="noStrike" cap="none" dirty="0">
                <a:solidFill>
                  <a:schemeClr val="dk1"/>
                </a:solidFill>
                <a:latin typeface="Times New Roman"/>
                <a:ea typeface="Times New Roman"/>
                <a:cs typeface="Times New Roman"/>
                <a:sym typeface="Times New Roman"/>
              </a:rPr>
              <a:t>Traditional Programming</a:t>
            </a:r>
            <a:r>
              <a:rPr lang="en-US" sz="2400" b="0" i="0" u="none" strike="noStrike" cap="none" dirty="0">
                <a:solidFill>
                  <a:schemeClr val="dk1"/>
                </a:solidFill>
                <a:latin typeface="Times New Roman"/>
                <a:ea typeface="Times New Roman"/>
                <a:cs typeface="Times New Roman"/>
                <a:sym typeface="Times New Roman"/>
              </a:rPr>
              <a:t>: The development process is generally linear and predictable, focusing on implementing and debugging predefined logic.</a:t>
            </a:r>
            <a:endParaRPr sz="1600" b="0" i="0" u="none" strike="noStrike" cap="none" dirty="0">
              <a:solidFill>
                <a:srgbClr val="000000"/>
              </a:solidFill>
              <a:latin typeface="Arial"/>
              <a:ea typeface="Arial"/>
              <a:cs typeface="Arial"/>
              <a:sym typeface="Arial"/>
            </a:endParaRPr>
          </a:p>
          <a:p>
            <a:pPr marL="685800" marR="0" lvl="1" indent="-228600" algn="just" rtl="0">
              <a:lnSpc>
                <a:spcPct val="90000"/>
              </a:lnSpc>
              <a:spcBef>
                <a:spcPts val="500"/>
              </a:spcBef>
              <a:spcAft>
                <a:spcPts val="0"/>
              </a:spcAft>
              <a:buClr>
                <a:schemeClr val="dk1"/>
              </a:buClr>
              <a:buSzPts val="2000"/>
              <a:buFont typeface="Arial"/>
              <a:buChar char="•"/>
            </a:pPr>
            <a:r>
              <a:rPr lang="en-US" sz="2400" b="1" i="0" u="none" strike="noStrike" cap="none" dirty="0">
                <a:solidFill>
                  <a:schemeClr val="dk1"/>
                </a:solidFill>
                <a:latin typeface="Times New Roman"/>
                <a:ea typeface="Times New Roman"/>
                <a:cs typeface="Times New Roman"/>
                <a:sym typeface="Times New Roman"/>
              </a:rPr>
              <a:t>Machine Learning</a:t>
            </a:r>
            <a:r>
              <a:rPr lang="en-US" sz="2400" b="0" i="0" u="none" strike="noStrike" cap="none" dirty="0">
                <a:solidFill>
                  <a:schemeClr val="dk1"/>
                </a:solidFill>
                <a:latin typeface="Times New Roman"/>
                <a:ea typeface="Times New Roman"/>
                <a:cs typeface="Times New Roman"/>
                <a:sym typeface="Times New Roman"/>
              </a:rPr>
              <a:t>: Involves an iterative process where models are trained, evaluated, and fine-tuned. This process can be less predictable and more experimental.</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12"/>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09" name="Google Shape;209;p12"/>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10" name="Google Shape;210;p12"/>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11" name="Google Shape;21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
        <p:nvSpPr>
          <p:cNvPr id="212" name="Google Shape;212;p12"/>
          <p:cNvSpPr txBox="1"/>
          <p:nvPr/>
        </p:nvSpPr>
        <p:spPr>
          <a:xfrm>
            <a:off x="316637" y="1146412"/>
            <a:ext cx="11529620" cy="527454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0"/>
              </a:spcAft>
              <a:buClr>
                <a:schemeClr val="dk1"/>
              </a:buClr>
              <a:buSzPts val="2320"/>
              <a:buFont typeface="Arial"/>
              <a:buNone/>
            </a:pPr>
            <a:r>
              <a:rPr lang="en-US" sz="2800" b="1" dirty="0">
                <a:solidFill>
                  <a:schemeClr val="dk1"/>
                </a:solidFill>
                <a:latin typeface="Times New Roman"/>
                <a:ea typeface="Times New Roman"/>
                <a:cs typeface="Times New Roman"/>
                <a:sym typeface="Times New Roman"/>
              </a:rPr>
              <a:t>C</a:t>
            </a:r>
            <a:r>
              <a:rPr lang="en-US" sz="2800" b="1" i="0" u="none" strike="noStrike" cap="none" dirty="0">
                <a:solidFill>
                  <a:schemeClr val="dk1"/>
                </a:solidFill>
                <a:latin typeface="Times New Roman"/>
                <a:ea typeface="Times New Roman"/>
                <a:cs typeface="Times New Roman"/>
                <a:sym typeface="Times New Roman"/>
              </a:rPr>
              <a:t>omponents of a learning problem</a:t>
            </a:r>
            <a:endParaRPr sz="1600" b="0" i="0" u="none" strike="noStrike" cap="none" dirty="0">
              <a:solidFill>
                <a:srgbClr val="000000"/>
              </a:solidFill>
              <a:latin typeface="Arial"/>
              <a:ea typeface="Arial"/>
              <a:cs typeface="Arial"/>
              <a:sym typeface="Arial"/>
            </a:endParaRPr>
          </a:p>
          <a:p>
            <a:pPr marL="320040" marR="0" lvl="0" indent="-226123" algn="just" rtl="0">
              <a:lnSpc>
                <a:spcPct val="90000"/>
              </a:lnSpc>
              <a:spcBef>
                <a:spcPts val="1900"/>
              </a:spcBef>
              <a:spcAft>
                <a:spcPts val="1200"/>
              </a:spcAft>
              <a:buClr>
                <a:schemeClr val="dk1"/>
              </a:buClr>
              <a:buSzPts val="1933"/>
              <a:buFont typeface="Arial"/>
              <a:buNone/>
            </a:pPr>
            <a:r>
              <a:rPr lang="en-US" sz="2400" b="0" i="0" u="none" strike="noStrike" cap="none" dirty="0">
                <a:solidFill>
                  <a:schemeClr val="dk1"/>
                </a:solidFill>
                <a:latin typeface="Times New Roman"/>
                <a:ea typeface="Times New Roman"/>
                <a:cs typeface="Times New Roman"/>
                <a:sym typeface="Times New Roman"/>
              </a:rPr>
              <a:t>The learning process, whether by a human or a machine, can be divided into four components, namely, data storage, abstraction, generalization, and evaluation. The figure illustrates the various components and the steps involved in the learning process.</a:t>
            </a:r>
            <a:r>
              <a:rPr lang="en-US" sz="2400" b="1" i="0" u="none" strike="noStrike" cap="none" dirty="0">
                <a:solidFill>
                  <a:schemeClr val="dk1"/>
                </a:solidFill>
                <a:latin typeface="Times New Roman"/>
                <a:ea typeface="Times New Roman"/>
                <a:cs typeface="Times New Roman"/>
                <a:sym typeface="Times New Roman"/>
              </a:rPr>
              <a:t> </a:t>
            </a:r>
            <a:endParaRPr sz="2400" b="1" i="0" u="none" strike="noStrike" cap="none" dirty="0">
              <a:solidFill>
                <a:schemeClr val="dk1"/>
              </a:solidFill>
              <a:latin typeface="Times New Roman"/>
              <a:ea typeface="Times New Roman"/>
              <a:cs typeface="Times New Roman"/>
              <a:sym typeface="Times New Roman"/>
            </a:endParaRPr>
          </a:p>
        </p:txBody>
      </p:sp>
      <p:pic>
        <p:nvPicPr>
          <p:cNvPr id="213" name="Google Shape;213;p12" descr="Basic components of the Machine Learning process">
            <a:hlinkClick r:id="rId5"/>
          </p:cNvPr>
          <p:cNvPicPr preferRelativeResize="0"/>
          <p:nvPr/>
        </p:nvPicPr>
        <p:blipFill rotWithShape="1">
          <a:blip r:embed="rId6">
            <a:alphaModFix/>
          </a:blip>
          <a:srcRect/>
          <a:stretch/>
        </p:blipFill>
        <p:spPr>
          <a:xfrm>
            <a:off x="544287" y="3392993"/>
            <a:ext cx="9432958" cy="23185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3"/>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20" name="Google Shape;220;p13"/>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21" name="Google Shape;221;p13"/>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22" name="Google Shape;22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sp>
        <p:nvSpPr>
          <p:cNvPr id="223" name="Google Shape;223;p13"/>
          <p:cNvSpPr/>
          <p:nvPr/>
        </p:nvSpPr>
        <p:spPr>
          <a:xfrm>
            <a:off x="532263" y="1119115"/>
            <a:ext cx="11436824" cy="95102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3200" b="1" i="0" u="none" strike="noStrike" cap="none" dirty="0">
                <a:solidFill>
                  <a:schemeClr val="dk1"/>
                </a:solidFill>
                <a:latin typeface="Times New Roman"/>
                <a:ea typeface="Times New Roman"/>
                <a:cs typeface="Times New Roman"/>
                <a:sym typeface="Times New Roman"/>
              </a:rPr>
              <a:t>Machine </a:t>
            </a:r>
            <a:r>
              <a:rPr lang="en-US" sz="3200" b="1" i="0" u="none" strike="noStrike" cap="none">
                <a:solidFill>
                  <a:schemeClr val="dk1"/>
                </a:solidFill>
                <a:latin typeface="Times New Roman"/>
                <a:ea typeface="Times New Roman"/>
                <a:cs typeface="Times New Roman"/>
                <a:sym typeface="Times New Roman"/>
              </a:rPr>
              <a:t>Learning High Level Steps</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100"/>
              <a:buFont typeface="Arial"/>
              <a:buNone/>
            </a:pPr>
            <a:r>
              <a:rPr lang="en-US" sz="2800" b="0" i="0" u="none" strike="noStrike" cap="none" dirty="0">
                <a:solidFill>
                  <a:schemeClr val="dk1"/>
                </a:solidFill>
                <a:latin typeface="Times New Roman"/>
                <a:ea typeface="Times New Roman"/>
                <a:cs typeface="Times New Roman"/>
                <a:sym typeface="Times New Roman"/>
              </a:rPr>
              <a:t>1. Collecting Data</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800" b="0" i="0" u="none" strike="noStrike" cap="none" dirty="0">
                <a:solidFill>
                  <a:schemeClr val="dk1"/>
                </a:solidFill>
                <a:latin typeface="Times New Roman"/>
                <a:ea typeface="Times New Roman"/>
                <a:cs typeface="Times New Roman"/>
                <a:sym typeface="Times New Roman"/>
              </a:rPr>
              <a:t>2. Preparing the Data</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800" b="0" i="0" u="none" strike="noStrike" cap="none" dirty="0">
                <a:solidFill>
                  <a:schemeClr val="dk1"/>
                </a:solidFill>
                <a:latin typeface="Times New Roman"/>
                <a:ea typeface="Times New Roman"/>
                <a:cs typeface="Times New Roman"/>
                <a:sym typeface="Times New Roman"/>
              </a:rPr>
              <a:t>3. Choosing a Model</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800" b="0" i="0" u="none" strike="noStrike" cap="none" dirty="0">
                <a:solidFill>
                  <a:schemeClr val="dk1"/>
                </a:solidFill>
                <a:latin typeface="Times New Roman"/>
                <a:ea typeface="Times New Roman"/>
                <a:cs typeface="Times New Roman"/>
                <a:sym typeface="Times New Roman"/>
              </a:rPr>
              <a:t>4. Training the Model</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800" b="0" i="0" u="none" strike="noStrike" cap="none" dirty="0">
                <a:solidFill>
                  <a:schemeClr val="dk1"/>
                </a:solidFill>
                <a:latin typeface="Times New Roman"/>
                <a:ea typeface="Times New Roman"/>
                <a:cs typeface="Times New Roman"/>
                <a:sym typeface="Times New Roman"/>
              </a:rPr>
              <a:t>5. Evaluating the Model</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800" b="0" i="0" u="none" strike="noStrike" cap="none" dirty="0">
                <a:solidFill>
                  <a:schemeClr val="dk1"/>
                </a:solidFill>
                <a:latin typeface="Times New Roman"/>
                <a:ea typeface="Times New Roman"/>
                <a:cs typeface="Times New Roman"/>
                <a:sym typeface="Times New Roman"/>
              </a:rPr>
              <a:t>6. Parameter Tuning</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100"/>
              <a:buFont typeface="Arial"/>
              <a:buNone/>
            </a:pPr>
            <a:r>
              <a:rPr lang="en-US" sz="2800" b="0" i="0" u="none" strike="noStrike" cap="none" dirty="0">
                <a:solidFill>
                  <a:schemeClr val="dk1"/>
                </a:solidFill>
                <a:latin typeface="Times New Roman"/>
                <a:ea typeface="Times New Roman"/>
                <a:cs typeface="Times New Roman"/>
                <a:sym typeface="Times New Roman"/>
              </a:rPr>
              <a:t>7. Making Predictions</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14"/>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30" name="Google Shape;230;p14"/>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31" name="Google Shape;231;p14"/>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32" name="Google Shape;23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
        <p:nvSpPr>
          <p:cNvPr id="233" name="Google Shape;233;p14"/>
          <p:cNvSpPr txBox="1"/>
          <p:nvPr/>
        </p:nvSpPr>
        <p:spPr>
          <a:xfrm>
            <a:off x="316637" y="2605182"/>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34" name="Google Shape;234;p14"/>
          <p:cNvSpPr/>
          <p:nvPr/>
        </p:nvSpPr>
        <p:spPr>
          <a:xfrm>
            <a:off x="316637" y="876094"/>
            <a:ext cx="11491415" cy="609393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400" b="1" i="0" u="none" strike="noStrike" cap="none" dirty="0">
                <a:solidFill>
                  <a:schemeClr val="dk1"/>
                </a:solidFill>
                <a:latin typeface="Times New Roman"/>
                <a:ea typeface="Times New Roman"/>
                <a:cs typeface="Times New Roman"/>
                <a:sym typeface="Times New Roman"/>
              </a:rPr>
              <a:t>What Is Training Data?</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US" sz="2400" b="0" i="0" u="none" strike="noStrike" cap="none" dirty="0">
                <a:solidFill>
                  <a:schemeClr val="dk1"/>
                </a:solidFill>
                <a:latin typeface="Times New Roman"/>
                <a:ea typeface="Times New Roman"/>
                <a:cs typeface="Times New Roman"/>
                <a:sym typeface="Times New Roman"/>
              </a:rPr>
              <a:t>Training data (or a training dataset) is the initial data used to train machine learning models.</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r>
              <a:rPr lang="en-US" sz="2400" b="0" i="0" u="none" strike="noStrike" cap="none" dirty="0">
                <a:solidFill>
                  <a:schemeClr val="dk1"/>
                </a:solidFill>
                <a:latin typeface="Times New Roman"/>
                <a:ea typeface="Times New Roman"/>
                <a:cs typeface="Times New Roman"/>
                <a:sym typeface="Times New Roman"/>
              </a:rPr>
              <a:t>Training datasets are fed to machine learning algorithms to teach them how to make predictions or perform a desired task.</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US" sz="2400" b="1" i="0" u="none" strike="noStrike" cap="none" dirty="0">
                <a:solidFill>
                  <a:schemeClr val="dk1"/>
                </a:solidFill>
                <a:latin typeface="Times New Roman"/>
                <a:ea typeface="Times New Roman"/>
                <a:cs typeface="Times New Roman"/>
                <a:sym typeface="Times New Roman"/>
              </a:rPr>
              <a:t>What Is the Difference Between Training Data and Testing Data?</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r>
              <a:rPr lang="en-US" sz="2400" b="0" i="0" u="none" strike="noStrike" cap="none" dirty="0">
                <a:solidFill>
                  <a:schemeClr val="dk1"/>
                </a:solidFill>
                <a:latin typeface="Times New Roman"/>
                <a:ea typeface="Times New Roman"/>
                <a:cs typeface="Times New Roman"/>
                <a:sym typeface="Times New Roman"/>
              </a:rPr>
              <a:t>Training data is the initial dataset you use to teach a machine learning application to recognize patterns or perform to your criteria, while testing or validation data is used to evaluate your model’s accuracy.</a:t>
            </a: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20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pic>
        <p:nvPicPr>
          <p:cNvPr id="235" name="Google Shape;235;p14" descr="Dataset"/>
          <p:cNvPicPr preferRelativeResize="0"/>
          <p:nvPr/>
        </p:nvPicPr>
        <p:blipFill rotWithShape="1">
          <a:blip r:embed="rId5">
            <a:alphaModFix/>
          </a:blip>
          <a:srcRect/>
          <a:stretch/>
        </p:blipFill>
        <p:spPr>
          <a:xfrm>
            <a:off x="4314556" y="4730086"/>
            <a:ext cx="5734050" cy="1990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14"/>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30" name="Google Shape;230;p14"/>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31" name="Google Shape;231;p14"/>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32" name="Google Shape;23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sp>
        <p:nvSpPr>
          <p:cNvPr id="14" name="Google Shape;406;p50"/>
          <p:cNvSpPr txBox="1">
            <a:spLocks noGrp="1"/>
          </p:cNvSpPr>
          <p:nvPr>
            <p:ph type="title"/>
          </p:nvPr>
        </p:nvSpPr>
        <p:spPr>
          <a:xfrm>
            <a:off x="-96520" y="832485"/>
            <a:ext cx="10515600" cy="55943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1800"/>
              <a:buNone/>
            </a:pPr>
            <a:r>
              <a:rPr lang="en-US" dirty="0"/>
              <a:t>Training, Testing, and Validation Sets</a:t>
            </a:r>
            <a:endParaRPr dirty="0"/>
          </a:p>
        </p:txBody>
      </p:sp>
      <p:sp>
        <p:nvSpPr>
          <p:cNvPr id="15" name="Google Shape;407;p50"/>
          <p:cNvSpPr txBox="1">
            <a:spLocks noGrp="1"/>
          </p:cNvSpPr>
          <p:nvPr>
            <p:ph type="body" idx="1"/>
          </p:nvPr>
        </p:nvSpPr>
        <p:spPr>
          <a:xfrm>
            <a:off x="416702" y="1710405"/>
            <a:ext cx="5937170" cy="4351338"/>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90000"/>
              </a:lnSpc>
              <a:spcBef>
                <a:spcPts val="1000"/>
              </a:spcBef>
              <a:spcAft>
                <a:spcPts val="0"/>
              </a:spcAft>
              <a:buClr>
                <a:schemeClr val="dk1"/>
              </a:buClr>
              <a:buSzPts val="1800"/>
              <a:buChar char="•"/>
            </a:pPr>
            <a:r>
              <a:rPr lang="en-US" dirty="0"/>
              <a:t>The training set to actually train the algorithm</a:t>
            </a:r>
            <a:endParaRPr dirty="0"/>
          </a:p>
          <a:p>
            <a:pPr marL="457200" lvl="0" indent="-342900" algn="l" rtl="0">
              <a:lnSpc>
                <a:spcPct val="90000"/>
              </a:lnSpc>
              <a:spcBef>
                <a:spcPts val="1000"/>
              </a:spcBef>
              <a:spcAft>
                <a:spcPts val="0"/>
              </a:spcAft>
              <a:buClr>
                <a:schemeClr val="dk1"/>
              </a:buClr>
              <a:buSzPts val="1800"/>
              <a:buChar char="•"/>
            </a:pPr>
            <a:r>
              <a:rPr lang="en-US" dirty="0"/>
              <a:t>The validation set to keep track of how well it is doing as it learns</a:t>
            </a:r>
            <a:endParaRPr dirty="0"/>
          </a:p>
          <a:p>
            <a:pPr marL="457200" lvl="0" indent="-342900" algn="l" rtl="0">
              <a:lnSpc>
                <a:spcPct val="90000"/>
              </a:lnSpc>
              <a:spcBef>
                <a:spcPts val="1000"/>
              </a:spcBef>
              <a:spcAft>
                <a:spcPts val="0"/>
              </a:spcAft>
              <a:buClr>
                <a:schemeClr val="dk1"/>
              </a:buClr>
              <a:buSzPts val="1800"/>
              <a:buChar char="•"/>
            </a:pPr>
            <a:r>
              <a:rPr lang="en-US" dirty="0"/>
              <a:t>The test set to produce the final results.</a:t>
            </a:r>
          </a:p>
          <a:p>
            <a:pPr marL="114300" indent="0" eaLnBrk="0" fontAlgn="base" hangingPunct="0">
              <a:buNone/>
            </a:pPr>
            <a:r>
              <a:rPr lang="en-US" altLang="en-US" b="1" dirty="0"/>
              <a:t>Why use both validation and testing? </a:t>
            </a:r>
          </a:p>
          <a:p>
            <a:pPr eaLnBrk="0" fontAlgn="base" hangingPunct="0"/>
            <a:r>
              <a:rPr lang="en-US" altLang="en-US" dirty="0"/>
              <a:t>Validation helps improve a model's performance before testing</a:t>
            </a:r>
          </a:p>
          <a:p>
            <a:pPr eaLnBrk="0" fontAlgn="base" hangingPunct="0"/>
            <a:r>
              <a:rPr lang="en-US" altLang="en-US" dirty="0"/>
              <a:t>Testing provides a realistic assessment of a model's performance</a:t>
            </a:r>
          </a:p>
          <a:p>
            <a:pPr eaLnBrk="0" fontAlgn="base" hangingPunct="0"/>
            <a:endParaRPr lang="en-US" altLang="en-US" dirty="0"/>
          </a:p>
          <a:p>
            <a:pPr marL="457200" lvl="0" indent="-342900" algn="l" rtl="0">
              <a:lnSpc>
                <a:spcPct val="90000"/>
              </a:lnSpc>
              <a:spcBef>
                <a:spcPts val="1000"/>
              </a:spcBef>
              <a:spcAft>
                <a:spcPts val="0"/>
              </a:spcAft>
              <a:buClr>
                <a:schemeClr val="dk1"/>
              </a:buClr>
              <a:buSzPts val="1800"/>
              <a:buChar char="•"/>
            </a:pPr>
            <a:endParaRPr lang="en-US" dirty="0"/>
          </a:p>
          <a:p>
            <a:pPr marL="457200" lvl="0" indent="-342900" algn="l" rtl="0">
              <a:lnSpc>
                <a:spcPct val="90000"/>
              </a:lnSpc>
              <a:spcBef>
                <a:spcPts val="1000"/>
              </a:spcBef>
              <a:spcAft>
                <a:spcPts val="0"/>
              </a:spcAft>
              <a:buClr>
                <a:schemeClr val="dk1"/>
              </a:buClr>
              <a:buSzPts val="1800"/>
              <a:buChar char="•"/>
            </a:pPr>
            <a:endParaRPr dirty="0"/>
          </a:p>
        </p:txBody>
      </p:sp>
      <p:pic>
        <p:nvPicPr>
          <p:cNvPr id="16" name="Picture 15"/>
          <p:cNvPicPr>
            <a:picLocks noChangeAspect="1"/>
          </p:cNvPicPr>
          <p:nvPr/>
        </p:nvPicPr>
        <p:blipFill>
          <a:blip r:embed="rId5"/>
          <a:stretch>
            <a:fillRect/>
          </a:stretch>
        </p:blipFill>
        <p:spPr>
          <a:xfrm>
            <a:off x="6990080" y="1297627"/>
            <a:ext cx="5252720" cy="2935283"/>
          </a:xfrm>
          <a:prstGeom prst="rect">
            <a:avLst/>
          </a:prstGeom>
        </p:spPr>
      </p:pic>
      <p:pic>
        <p:nvPicPr>
          <p:cNvPr id="17" name="Picture 16"/>
          <p:cNvPicPr>
            <a:picLocks noChangeAspect="1"/>
          </p:cNvPicPr>
          <p:nvPr/>
        </p:nvPicPr>
        <p:blipFill>
          <a:blip r:embed="rId6"/>
          <a:stretch>
            <a:fillRect/>
          </a:stretch>
        </p:blipFill>
        <p:spPr>
          <a:xfrm>
            <a:off x="7032463" y="4232910"/>
            <a:ext cx="5223316" cy="2594610"/>
          </a:xfrm>
          <a:prstGeom prst="rect">
            <a:avLst/>
          </a:prstGeom>
        </p:spPr>
      </p:pic>
    </p:spTree>
    <p:extLst>
      <p:ext uri="{BB962C8B-B14F-4D97-AF65-F5344CB8AC3E}">
        <p14:creationId xmlns:p14="http://schemas.microsoft.com/office/powerpoint/2010/main" val="2756536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25"/>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51" name="Google Shape;351;p25"/>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52" name="Google Shape;352;p25"/>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53" name="Google Shape;35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
        <p:nvSpPr>
          <p:cNvPr id="354" name="Google Shape;354;p25"/>
          <p:cNvSpPr txBox="1"/>
          <p:nvPr/>
        </p:nvSpPr>
        <p:spPr>
          <a:xfrm>
            <a:off x="128516" y="649793"/>
            <a:ext cx="11709780" cy="548640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1000"/>
              </a:spcBef>
              <a:spcAft>
                <a:spcPts val="0"/>
              </a:spcAft>
              <a:buClr>
                <a:schemeClr val="dk1"/>
              </a:buClr>
              <a:buSzPts val="2000"/>
              <a:buFont typeface="Arial"/>
              <a:buNone/>
            </a:pPr>
            <a:r>
              <a:rPr lang="en-US" sz="2300" b="1" i="0" u="none" strike="noStrike" cap="none" dirty="0">
                <a:solidFill>
                  <a:schemeClr val="dk1"/>
                </a:solidFill>
                <a:latin typeface="Times New Roman"/>
                <a:ea typeface="Times New Roman"/>
                <a:cs typeface="Times New Roman"/>
                <a:sym typeface="Times New Roman"/>
              </a:rPr>
              <a:t>What is Cross-Validation?</a:t>
            </a:r>
            <a:endParaRPr sz="23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300" b="0" i="0" u="none" strike="noStrike" cap="none" dirty="0">
                <a:solidFill>
                  <a:schemeClr val="dk1"/>
                </a:solidFill>
                <a:latin typeface="Times New Roman"/>
                <a:ea typeface="Times New Roman"/>
                <a:cs typeface="Times New Roman"/>
                <a:sym typeface="Times New Roman"/>
              </a:rPr>
              <a:t>Cross validation is a technique used in machine learning to evaluate the performance of a model on unseen data. It involves dividing the available data into multiple folds or subsets, using one of these folds as a validation set, and training the model on the remaining folds. This process is repeated multiple times, each time using a different fold as the validation set. Finally, the results from each validation step are averaged to produce a more robust estimate of the model’s performance.</a:t>
            </a:r>
            <a:endParaRPr sz="2300" b="0" i="0" u="none" strike="noStrike" cap="none" dirty="0">
              <a:solidFill>
                <a:srgbClr val="000000"/>
              </a:solidFill>
              <a:latin typeface="Arial"/>
              <a:ea typeface="Arial"/>
              <a:cs typeface="Arial"/>
              <a:sym typeface="Arial"/>
            </a:endParaRPr>
          </a:p>
          <a:p>
            <a:pPr marL="0" marR="0" lvl="0" indent="0" algn="just" rtl="0">
              <a:lnSpc>
                <a:spcPct val="90000"/>
              </a:lnSpc>
              <a:spcBef>
                <a:spcPts val="1000"/>
              </a:spcBef>
              <a:spcAft>
                <a:spcPts val="0"/>
              </a:spcAft>
              <a:buClr>
                <a:schemeClr val="dk1"/>
              </a:buClr>
              <a:buSzPts val="2000"/>
              <a:buFont typeface="Arial"/>
              <a:buNone/>
            </a:pPr>
            <a:r>
              <a:rPr lang="en-US" sz="2300" b="1" i="0" u="none" strike="noStrike" cap="none" dirty="0">
                <a:solidFill>
                  <a:schemeClr val="dk1"/>
                </a:solidFill>
                <a:latin typeface="Times New Roman"/>
                <a:ea typeface="Times New Roman"/>
                <a:cs typeface="Times New Roman"/>
                <a:sym typeface="Times New Roman"/>
              </a:rPr>
              <a:t>What is cross-validation used for?</a:t>
            </a:r>
            <a:endParaRPr sz="23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300" b="0" i="0" u="none" strike="noStrike" cap="none" dirty="0">
                <a:solidFill>
                  <a:schemeClr val="dk1"/>
                </a:solidFill>
                <a:latin typeface="Times New Roman"/>
                <a:ea typeface="Times New Roman"/>
                <a:cs typeface="Times New Roman"/>
                <a:sym typeface="Times New Roman"/>
              </a:rPr>
              <a:t>The main purpose of cross validation is to prevent overfitting, which occurs when a model is trained too well on the training data and performs poorly on new, unseen data. By evaluating the model on multiple validation sets, cross validation provides a more realistic estimate of the model’s generalization performance, i.e., its ability to perform well on new, unseen data.</a:t>
            </a:r>
            <a:endParaRPr sz="2300" b="0" i="0" u="none" strike="noStrike" cap="none" dirty="0">
              <a:solidFill>
                <a:srgbClr val="000000"/>
              </a:solidFill>
              <a:latin typeface="Arial"/>
              <a:ea typeface="Arial"/>
              <a:cs typeface="Arial"/>
              <a:sym typeface="Arial"/>
            </a:endParaRPr>
          </a:p>
          <a:p>
            <a:pPr marL="0" marR="0" lvl="0" indent="0" algn="just" rtl="0">
              <a:lnSpc>
                <a:spcPct val="90000"/>
              </a:lnSpc>
              <a:spcBef>
                <a:spcPts val="1000"/>
              </a:spcBef>
              <a:spcAft>
                <a:spcPts val="0"/>
              </a:spcAft>
              <a:buClr>
                <a:schemeClr val="dk1"/>
              </a:buClr>
              <a:buSzPts val="2000"/>
              <a:buFont typeface="Arial"/>
              <a:buNone/>
            </a:pPr>
            <a:r>
              <a:rPr lang="en-US" sz="2300" b="1" i="0" u="none" strike="noStrike" cap="none" dirty="0">
                <a:solidFill>
                  <a:schemeClr val="dk1"/>
                </a:solidFill>
                <a:latin typeface="Times New Roman"/>
                <a:ea typeface="Times New Roman"/>
                <a:cs typeface="Times New Roman"/>
                <a:sym typeface="Times New Roman"/>
              </a:rPr>
              <a:t>Types of Cross-Validation</a:t>
            </a:r>
            <a:endParaRPr sz="23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300" b="0" i="0" u="none" strike="noStrike" cap="none" dirty="0">
                <a:solidFill>
                  <a:schemeClr val="dk1"/>
                </a:solidFill>
                <a:latin typeface="Times New Roman"/>
                <a:ea typeface="Times New Roman"/>
                <a:cs typeface="Times New Roman"/>
                <a:sym typeface="Times New Roman"/>
              </a:rPr>
              <a:t>There are several types of cross validation techniques, including </a:t>
            </a:r>
            <a:r>
              <a:rPr lang="en-US" sz="2300" b="1" i="0" u="none" strike="noStrike" cap="none" dirty="0">
                <a:solidFill>
                  <a:schemeClr val="dk1"/>
                </a:solidFill>
                <a:latin typeface="Times New Roman"/>
                <a:ea typeface="Times New Roman"/>
                <a:cs typeface="Times New Roman"/>
                <a:sym typeface="Times New Roman"/>
              </a:rPr>
              <a:t>k-fold cross validation, leave-one-out cross validation, and Holdout validation, Stratified Cross-Validation. </a:t>
            </a:r>
            <a:r>
              <a:rPr lang="en-US" sz="2300" b="0" i="0" u="none" strike="noStrike" cap="none" dirty="0">
                <a:solidFill>
                  <a:schemeClr val="dk1"/>
                </a:solidFill>
                <a:latin typeface="Times New Roman"/>
                <a:ea typeface="Times New Roman"/>
                <a:cs typeface="Times New Roman"/>
                <a:sym typeface="Times New Roman"/>
              </a:rPr>
              <a:t>The choice of technique depends on the size and nature of the data, as well as the specific requirements of the modeling problem.</a:t>
            </a:r>
            <a:endParaRPr sz="2300" b="0" i="0" u="none" strike="noStrike" cap="none" dirty="0">
              <a:solidFill>
                <a:srgbClr val="000000"/>
              </a:solidFill>
              <a:latin typeface="Arial"/>
              <a:ea typeface="Arial"/>
              <a:cs typeface="Arial"/>
              <a:sym typeface="Arial"/>
            </a:endParaRPr>
          </a:p>
          <a:p>
            <a:pPr marL="228600" marR="0" lvl="0" indent="-101600" algn="just" rtl="0">
              <a:lnSpc>
                <a:spcPct val="90000"/>
              </a:lnSpc>
              <a:spcBef>
                <a:spcPts val="10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8">
          <a:extLst>
            <a:ext uri="{FF2B5EF4-FFF2-40B4-BE49-F238E27FC236}">
              <a16:creationId xmlns:a16="http://schemas.microsoft.com/office/drawing/2014/main" id="{6E1D72EF-044C-5E7A-5769-AE2D7D53A411}"/>
            </a:ext>
          </a:extLst>
        </p:cNvPr>
        <p:cNvGrpSpPr/>
        <p:nvPr/>
      </p:nvGrpSpPr>
      <p:grpSpPr>
        <a:xfrm>
          <a:off x="0" y="0"/>
          <a:ext cx="0" cy="0"/>
          <a:chOff x="0" y="0"/>
          <a:chExt cx="0" cy="0"/>
        </a:xfrm>
      </p:grpSpPr>
      <p:pic>
        <p:nvPicPr>
          <p:cNvPr id="229" name="Google Shape;229;p14">
            <a:extLst>
              <a:ext uri="{FF2B5EF4-FFF2-40B4-BE49-F238E27FC236}">
                <a16:creationId xmlns:a16="http://schemas.microsoft.com/office/drawing/2014/main" id="{735205FA-90CF-87B5-3AFD-FB689AA153B2}"/>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30" name="Google Shape;230;p14">
            <a:extLst>
              <a:ext uri="{FF2B5EF4-FFF2-40B4-BE49-F238E27FC236}">
                <a16:creationId xmlns:a16="http://schemas.microsoft.com/office/drawing/2014/main" id="{D05E546E-7506-B832-40EF-BFC01B929293}"/>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31" name="Google Shape;231;p14">
            <a:extLst>
              <a:ext uri="{FF2B5EF4-FFF2-40B4-BE49-F238E27FC236}">
                <a16:creationId xmlns:a16="http://schemas.microsoft.com/office/drawing/2014/main" id="{7D33DFA3-D299-D8D6-E01B-1B20CF31F3AD}"/>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32" name="Google Shape;232;p14">
            <a:extLst>
              <a:ext uri="{FF2B5EF4-FFF2-40B4-BE49-F238E27FC236}">
                <a16:creationId xmlns:a16="http://schemas.microsoft.com/office/drawing/2014/main" id="{4E2444F7-1B1F-166F-A871-4979C937FBF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
        <p:nvSpPr>
          <p:cNvPr id="2" name="Google Shape;105;p3">
            <a:extLst>
              <a:ext uri="{FF2B5EF4-FFF2-40B4-BE49-F238E27FC236}">
                <a16:creationId xmlns:a16="http://schemas.microsoft.com/office/drawing/2014/main" id="{D9E6EF2D-C666-05C0-0FEB-01D635D87CF4}"/>
              </a:ext>
            </a:extLst>
          </p:cNvPr>
          <p:cNvSpPr txBox="1">
            <a:spLocks noGrp="1"/>
          </p:cNvSpPr>
          <p:nvPr/>
        </p:nvSpPr>
        <p:spPr>
          <a:xfrm>
            <a:off x="927373" y="426969"/>
            <a:ext cx="9720072" cy="125959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C0C0C"/>
              </a:buClr>
              <a:buSzPts val="18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80000"/>
              </a:lnSpc>
              <a:spcBef>
                <a:spcPts val="0"/>
              </a:spcBef>
              <a:spcAft>
                <a:spcPts val="0"/>
              </a:spcAft>
              <a:buClr>
                <a:srgbClr val="0C0C0C"/>
              </a:buClr>
              <a:buSzPts val="5000"/>
              <a:buFont typeface="Twentieth Century"/>
              <a:buNone/>
            </a:pPr>
            <a:r>
              <a:rPr lang="en-US" sz="3200" dirty="0"/>
              <a:t>CROSS VALIDATION (K-FOLD) </a:t>
            </a:r>
            <a:endParaRPr sz="3200" dirty="0"/>
          </a:p>
        </p:txBody>
      </p:sp>
      <p:pic>
        <p:nvPicPr>
          <p:cNvPr id="10" name="Picture 9"/>
          <p:cNvPicPr>
            <a:picLocks noChangeAspect="1"/>
          </p:cNvPicPr>
          <p:nvPr/>
        </p:nvPicPr>
        <p:blipFill>
          <a:blip r:embed="rId5"/>
          <a:stretch>
            <a:fillRect/>
          </a:stretch>
        </p:blipFill>
        <p:spPr>
          <a:xfrm>
            <a:off x="7099114" y="1884586"/>
            <a:ext cx="5092886" cy="4471764"/>
          </a:xfrm>
          <a:prstGeom prst="rect">
            <a:avLst/>
          </a:prstGeom>
        </p:spPr>
      </p:pic>
      <p:sp>
        <p:nvSpPr>
          <p:cNvPr id="11" name="Rectangle 10"/>
          <p:cNvSpPr/>
          <p:nvPr/>
        </p:nvSpPr>
        <p:spPr>
          <a:xfrm>
            <a:off x="203200" y="1216481"/>
            <a:ext cx="7101840" cy="5062924"/>
          </a:xfrm>
          <a:prstGeom prst="rect">
            <a:avLst/>
          </a:prstGeom>
        </p:spPr>
        <p:txBody>
          <a:bodyPr wrap="square">
            <a:spAutoFit/>
          </a:bodyPr>
          <a:lstStyle/>
          <a:p>
            <a:pPr algn="just"/>
            <a:r>
              <a:rPr lang="en-US" sz="1900" dirty="0">
                <a:solidFill>
                  <a:srgbClr val="242424"/>
                </a:solidFill>
                <a:latin typeface="Times New Roman" panose="02020603050405020304" pitchFamily="18" charset="0"/>
                <a:cs typeface="Times New Roman" panose="02020603050405020304" pitchFamily="18" charset="0"/>
              </a:rPr>
              <a:t>Cross-Validation (we will refer to as CV from here on)is a technique used to test a model’s ability to predict unseen data, data not used to train the model. CV is useful if we have limited data when our test set is not large enough. There are many different ways to perform a CV. In general, CV splits the training data into k blocks. In each iteration, the model trains on k-1 blocks and is validated using the last block. We can use multiple iterations of CV to reduce variability. We use the average error over all the iterations to evaluate the model.</a:t>
            </a:r>
          </a:p>
          <a:p>
            <a:pPr algn="just"/>
            <a:r>
              <a:rPr lang="en-US" sz="1900" dirty="0">
                <a:solidFill>
                  <a:srgbClr val="242424"/>
                </a:solidFill>
                <a:latin typeface="Times New Roman" panose="02020603050405020304" pitchFamily="18" charset="0"/>
                <a:cs typeface="Times New Roman" panose="02020603050405020304" pitchFamily="18" charset="0"/>
              </a:rPr>
              <a:t>It is always preferred to use a model with better CV performance. Similarly, we can also use CV to tune model parameters.</a:t>
            </a:r>
          </a:p>
          <a:p>
            <a:pPr algn="just"/>
            <a:endParaRPr lang="en-US" sz="1900" dirty="0">
              <a:solidFill>
                <a:srgbClr val="242424"/>
              </a:solidFill>
              <a:latin typeface="Times New Roman" panose="02020603050405020304" pitchFamily="18" charset="0"/>
              <a:cs typeface="Times New Roman" panose="02020603050405020304" pitchFamily="18" charset="0"/>
            </a:endParaRPr>
          </a:p>
          <a:p>
            <a:pPr algn="just"/>
            <a:r>
              <a:rPr lang="en-US" sz="1900" b="1" dirty="0">
                <a:solidFill>
                  <a:srgbClr val="242424"/>
                </a:solidFill>
                <a:latin typeface="Times New Roman" panose="02020603050405020304" pitchFamily="18" charset="0"/>
                <a:cs typeface="Times New Roman" panose="02020603050405020304" pitchFamily="18" charset="0"/>
              </a:rPr>
              <a:t>K-fold Cross-Validation Steps:</a:t>
            </a:r>
          </a:p>
          <a:p>
            <a:pPr algn="just">
              <a:buFont typeface="+mj-lt"/>
              <a:buAutoNum type="arabicPeriod"/>
            </a:pPr>
            <a:r>
              <a:rPr lang="en-US" sz="1900" dirty="0">
                <a:solidFill>
                  <a:srgbClr val="242424"/>
                </a:solidFill>
                <a:latin typeface="Times New Roman" panose="02020603050405020304" pitchFamily="18" charset="0"/>
                <a:cs typeface="Times New Roman" panose="02020603050405020304" pitchFamily="18" charset="0"/>
              </a:rPr>
              <a:t>Split training data into K equal parts</a:t>
            </a:r>
          </a:p>
          <a:p>
            <a:pPr algn="just">
              <a:buFont typeface="+mj-lt"/>
              <a:buAutoNum type="arabicPeriod"/>
            </a:pPr>
            <a:r>
              <a:rPr lang="en-US" sz="1900" dirty="0">
                <a:solidFill>
                  <a:srgbClr val="242424"/>
                </a:solidFill>
                <a:latin typeface="Times New Roman" panose="02020603050405020304" pitchFamily="18" charset="0"/>
                <a:cs typeface="Times New Roman" panose="02020603050405020304" pitchFamily="18" charset="0"/>
              </a:rPr>
              <a:t>Fit the model on k-1 parts and calculate test error using the fitted model on the kth part</a:t>
            </a:r>
          </a:p>
          <a:p>
            <a:pPr algn="just">
              <a:buFont typeface="+mj-lt"/>
              <a:buAutoNum type="arabicPeriod"/>
            </a:pPr>
            <a:r>
              <a:rPr lang="en-US" sz="1900" dirty="0">
                <a:solidFill>
                  <a:srgbClr val="242424"/>
                </a:solidFill>
                <a:latin typeface="Times New Roman" panose="02020603050405020304" pitchFamily="18" charset="0"/>
                <a:cs typeface="Times New Roman" panose="02020603050405020304" pitchFamily="18" charset="0"/>
              </a:rPr>
              <a:t>Repeat k times, using each data subset as the test set once. (usually k= 5~20)</a:t>
            </a:r>
          </a:p>
        </p:txBody>
      </p:sp>
    </p:spTree>
    <p:extLst>
      <p:ext uri="{BB962C8B-B14F-4D97-AF65-F5344CB8AC3E}">
        <p14:creationId xmlns:p14="http://schemas.microsoft.com/office/powerpoint/2010/main" val="3159369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DCC4BAE-73C8-926D-5DB3-1C8F5AC4D8C0}"/>
            </a:ext>
          </a:extLst>
        </p:cNvPr>
        <p:cNvGrpSpPr/>
        <p:nvPr/>
      </p:nvGrpSpPr>
      <p:grpSpPr>
        <a:xfrm>
          <a:off x="0" y="0"/>
          <a:ext cx="0" cy="0"/>
          <a:chOff x="0" y="0"/>
          <a:chExt cx="0" cy="0"/>
        </a:xfrm>
      </p:grpSpPr>
      <p:pic>
        <p:nvPicPr>
          <p:cNvPr id="241" name="Google Shape;241;p15">
            <a:extLst>
              <a:ext uri="{FF2B5EF4-FFF2-40B4-BE49-F238E27FC236}">
                <a16:creationId xmlns:a16="http://schemas.microsoft.com/office/drawing/2014/main" id="{43B76E65-38AF-CBE2-F778-BB55367A31E3}"/>
              </a:ext>
            </a:extLst>
          </p:cNvPr>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42" name="Google Shape;242;p15">
            <a:extLst>
              <a:ext uri="{FF2B5EF4-FFF2-40B4-BE49-F238E27FC236}">
                <a16:creationId xmlns:a16="http://schemas.microsoft.com/office/drawing/2014/main" id="{B5206F52-D5FD-F833-2ADA-A34330387A27}"/>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43" name="Google Shape;243;p15">
            <a:extLst>
              <a:ext uri="{FF2B5EF4-FFF2-40B4-BE49-F238E27FC236}">
                <a16:creationId xmlns:a16="http://schemas.microsoft.com/office/drawing/2014/main" id="{AB344061-92DC-888D-8EED-C8A831259CA3}"/>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44" name="Google Shape;244;p15">
            <a:extLst>
              <a:ext uri="{FF2B5EF4-FFF2-40B4-BE49-F238E27FC236}">
                <a16:creationId xmlns:a16="http://schemas.microsoft.com/office/drawing/2014/main" id="{21CA1EA3-892C-554F-A6E4-63E3978E56A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
        <p:nvSpPr>
          <p:cNvPr id="245" name="Google Shape;245;p15">
            <a:extLst>
              <a:ext uri="{FF2B5EF4-FFF2-40B4-BE49-F238E27FC236}">
                <a16:creationId xmlns:a16="http://schemas.microsoft.com/office/drawing/2014/main" id="{341A8B79-F300-1E89-B2A5-663CB6BC8EF6}"/>
              </a:ext>
            </a:extLst>
          </p:cNvPr>
          <p:cNvSpPr txBox="1"/>
          <p:nvPr/>
        </p:nvSpPr>
        <p:spPr>
          <a:xfrm>
            <a:off x="316637" y="2605182"/>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46" name="Google Shape;246;p15">
            <a:extLst>
              <a:ext uri="{FF2B5EF4-FFF2-40B4-BE49-F238E27FC236}">
                <a16:creationId xmlns:a16="http://schemas.microsoft.com/office/drawing/2014/main" id="{5B42C9F3-D3E3-7FAE-5F76-8693532DAA9F}"/>
              </a:ext>
            </a:extLst>
          </p:cNvPr>
          <p:cNvSpPr/>
          <p:nvPr/>
        </p:nvSpPr>
        <p:spPr>
          <a:xfrm>
            <a:off x="316637" y="1037231"/>
            <a:ext cx="11747984" cy="5878492"/>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r>
              <a:rPr lang="en-US" sz="3200" b="1" i="0" u="none" strike="noStrike" cap="none" dirty="0">
                <a:solidFill>
                  <a:schemeClr val="dk1"/>
                </a:solidFill>
                <a:latin typeface="Times New Roman"/>
                <a:ea typeface="Times New Roman"/>
                <a:cs typeface="Times New Roman"/>
                <a:sym typeface="Times New Roman"/>
              </a:rPr>
              <a:t>What is Bias?</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3200" b="1" i="0" u="none" strike="noStrike" cap="none" dirty="0">
              <a:solidFill>
                <a:schemeClr val="dk1"/>
              </a:solidFill>
              <a:latin typeface="Times New Roman"/>
              <a:ea typeface="Times New Roman"/>
              <a:cs typeface="Times New Roman"/>
              <a:sym typeface="Times New Roman"/>
            </a:endParaRPr>
          </a:p>
          <a:p>
            <a:pPr marL="457200" marR="0" lvl="0" indent="-457200" algn="l" rtl="0">
              <a:lnSpc>
                <a:spcPct val="100000"/>
              </a:lnSpc>
              <a:spcBef>
                <a:spcPts val="0"/>
              </a:spcBef>
              <a:spcAft>
                <a:spcPts val="0"/>
              </a:spcAft>
              <a:buClr>
                <a:srgbClr val="000000"/>
              </a:buClr>
              <a:buSzPts val="2000"/>
              <a:buFont typeface="Arial" panose="020B0604020202020204" pitchFamily="34" charset="0"/>
              <a:buChar char="•"/>
            </a:pPr>
            <a:r>
              <a:rPr lang="en-US" sz="2800" b="0" i="0" u="none" strike="noStrike" cap="none" dirty="0">
                <a:solidFill>
                  <a:schemeClr val="dk1"/>
                </a:solidFill>
                <a:latin typeface="Times New Roman"/>
                <a:ea typeface="Times New Roman"/>
                <a:cs typeface="Times New Roman"/>
                <a:sym typeface="Times New Roman"/>
              </a:rPr>
              <a:t>The bias is known as the </a:t>
            </a:r>
            <a:r>
              <a:rPr lang="en-US" sz="2800" b="1" i="0" u="none" strike="noStrike" cap="none" dirty="0">
                <a:solidFill>
                  <a:schemeClr val="dk1"/>
                </a:solidFill>
                <a:latin typeface="Times New Roman"/>
                <a:ea typeface="Times New Roman"/>
                <a:cs typeface="Times New Roman"/>
                <a:sym typeface="Times New Roman"/>
              </a:rPr>
              <a:t>difference</a:t>
            </a:r>
            <a:r>
              <a:rPr lang="en-US" sz="2800" b="0" i="0" u="none" strike="noStrike" cap="none" dirty="0">
                <a:solidFill>
                  <a:schemeClr val="dk1"/>
                </a:solidFill>
                <a:latin typeface="Times New Roman"/>
                <a:ea typeface="Times New Roman"/>
                <a:cs typeface="Times New Roman"/>
                <a:sym typeface="Times New Roman"/>
              </a:rPr>
              <a:t> between the </a:t>
            </a:r>
            <a:r>
              <a:rPr lang="en-US" sz="2800" b="1" i="0" u="none" strike="noStrike" cap="none" dirty="0">
                <a:solidFill>
                  <a:schemeClr val="dk1"/>
                </a:solidFill>
                <a:latin typeface="Times New Roman"/>
                <a:ea typeface="Times New Roman"/>
                <a:cs typeface="Times New Roman"/>
                <a:sym typeface="Times New Roman"/>
              </a:rPr>
              <a:t>prediction</a:t>
            </a:r>
            <a:r>
              <a:rPr lang="en-US" sz="2800" b="0" i="0" u="none" strike="noStrike" cap="none" dirty="0">
                <a:solidFill>
                  <a:schemeClr val="dk1"/>
                </a:solidFill>
                <a:latin typeface="Times New Roman"/>
                <a:ea typeface="Times New Roman"/>
                <a:cs typeface="Times New Roman"/>
                <a:sym typeface="Times New Roman"/>
              </a:rPr>
              <a:t> of the values by the Machine Learning model and the </a:t>
            </a:r>
            <a:r>
              <a:rPr lang="en-US" sz="2800" b="1" i="0" u="none" strike="noStrike" cap="none" dirty="0">
                <a:solidFill>
                  <a:schemeClr val="dk1"/>
                </a:solidFill>
                <a:latin typeface="Times New Roman"/>
                <a:ea typeface="Times New Roman"/>
                <a:cs typeface="Times New Roman"/>
                <a:sym typeface="Times New Roman"/>
              </a:rPr>
              <a:t>correct</a:t>
            </a:r>
            <a:r>
              <a:rPr lang="en-US" sz="2800" b="0" i="0" u="none" strike="noStrike" cap="none" dirty="0">
                <a:solidFill>
                  <a:schemeClr val="dk1"/>
                </a:solidFill>
                <a:latin typeface="Times New Roman"/>
                <a:ea typeface="Times New Roman"/>
                <a:cs typeface="Times New Roman"/>
                <a:sym typeface="Times New Roman"/>
              </a:rPr>
              <a:t> value. </a:t>
            </a:r>
          </a:p>
          <a:p>
            <a:pPr marL="457200" marR="0" lvl="0" indent="-457200" algn="l" rtl="0">
              <a:lnSpc>
                <a:spcPct val="100000"/>
              </a:lnSpc>
              <a:spcBef>
                <a:spcPts val="0"/>
              </a:spcBef>
              <a:spcAft>
                <a:spcPts val="0"/>
              </a:spcAft>
              <a:buClr>
                <a:srgbClr val="000000"/>
              </a:buClr>
              <a:buSzPts val="2000"/>
              <a:buFont typeface="Arial" panose="020B0604020202020204" pitchFamily="34" charset="0"/>
              <a:buChar char="•"/>
            </a:pPr>
            <a:r>
              <a:rPr lang="en-US" sz="2800" b="0" i="0" u="none" strike="noStrike" cap="none" dirty="0">
                <a:solidFill>
                  <a:schemeClr val="dk1"/>
                </a:solidFill>
                <a:latin typeface="Times New Roman"/>
                <a:ea typeface="Times New Roman"/>
                <a:cs typeface="Times New Roman"/>
                <a:sym typeface="Times New Roman"/>
              </a:rPr>
              <a:t>Being high in biasing gives </a:t>
            </a:r>
            <a:r>
              <a:rPr lang="en-US" sz="2800" b="1" i="0" u="none" strike="noStrike" cap="none" dirty="0">
                <a:solidFill>
                  <a:schemeClr val="dk1"/>
                </a:solidFill>
                <a:latin typeface="Times New Roman"/>
                <a:ea typeface="Times New Roman"/>
                <a:cs typeface="Times New Roman"/>
                <a:sym typeface="Times New Roman"/>
              </a:rPr>
              <a:t>a large error in training as well as testing data</a:t>
            </a:r>
            <a:r>
              <a:rPr lang="en-US" sz="2800" b="0" i="0" u="none" strike="noStrike" cap="none" dirty="0">
                <a:solidFill>
                  <a:schemeClr val="dk1"/>
                </a:solidFill>
                <a:latin typeface="Times New Roman"/>
                <a:ea typeface="Times New Roman"/>
                <a:cs typeface="Times New Roman"/>
                <a:sym typeface="Times New Roman"/>
              </a:rPr>
              <a:t>. </a:t>
            </a:r>
          </a:p>
          <a:p>
            <a:pPr marL="457200" marR="0" lvl="0" indent="-457200" algn="l" rtl="0">
              <a:lnSpc>
                <a:spcPct val="100000"/>
              </a:lnSpc>
              <a:spcBef>
                <a:spcPts val="0"/>
              </a:spcBef>
              <a:spcAft>
                <a:spcPts val="0"/>
              </a:spcAft>
              <a:buClr>
                <a:srgbClr val="000000"/>
              </a:buClr>
              <a:buSzPts val="2000"/>
              <a:buFont typeface="Arial" panose="020B0604020202020204" pitchFamily="34" charset="0"/>
              <a:buChar char="•"/>
            </a:pPr>
            <a:r>
              <a:rPr lang="en-US" sz="2800" b="0" i="0" u="none" strike="noStrike" cap="none" dirty="0">
                <a:solidFill>
                  <a:schemeClr val="dk1"/>
                </a:solidFill>
                <a:latin typeface="Times New Roman"/>
                <a:ea typeface="Times New Roman"/>
                <a:cs typeface="Times New Roman"/>
                <a:sym typeface="Times New Roman"/>
              </a:rPr>
              <a:t>It recommended that an algorithm should always be low-biased to avoid the problem of underfitting. </a:t>
            </a:r>
          </a:p>
          <a:p>
            <a:pPr marL="457200" marR="0" lvl="0" indent="-457200" algn="l" rtl="0">
              <a:lnSpc>
                <a:spcPct val="100000"/>
              </a:lnSpc>
              <a:spcBef>
                <a:spcPts val="0"/>
              </a:spcBef>
              <a:spcAft>
                <a:spcPts val="0"/>
              </a:spcAft>
              <a:buClr>
                <a:srgbClr val="000000"/>
              </a:buClr>
              <a:buSzPts val="2000"/>
              <a:buFont typeface="Arial" panose="020B0604020202020204" pitchFamily="34" charset="0"/>
              <a:buChar char="•"/>
            </a:pPr>
            <a:r>
              <a:rPr lang="en-US" sz="2800" b="0" i="0" u="none" strike="noStrike" cap="none" dirty="0">
                <a:solidFill>
                  <a:schemeClr val="dk1"/>
                </a:solidFill>
                <a:latin typeface="Times New Roman"/>
                <a:ea typeface="Times New Roman"/>
                <a:cs typeface="Times New Roman"/>
                <a:sym typeface="Times New Roman"/>
              </a:rPr>
              <a:t>By high bias, the data predicted is in a straight line format, thus not fitting accurately in the data in the data set. Such fitting is known as the </a:t>
            </a:r>
            <a:r>
              <a:rPr lang="en-US" sz="2800" b="1" i="0" u="none" strike="noStrike" cap="none" dirty="0">
                <a:solidFill>
                  <a:schemeClr val="dk1"/>
                </a:solidFill>
                <a:latin typeface="Times New Roman"/>
                <a:ea typeface="Times New Roman"/>
                <a:cs typeface="Times New Roman"/>
                <a:sym typeface="Times New Roman"/>
              </a:rPr>
              <a:t>Underfitting of Data</a:t>
            </a:r>
            <a:r>
              <a:rPr lang="en-US" sz="2800" b="0" i="0" u="none" strike="noStrike" cap="none" dirty="0">
                <a:solidFill>
                  <a:schemeClr val="dk1"/>
                </a:solidFill>
                <a:latin typeface="Times New Roman"/>
                <a:ea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56648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241" name="Google Shape;241;p15"/>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42" name="Google Shape;242;p15"/>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43" name="Google Shape;243;p15"/>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44" name="Google Shape;24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
        <p:nvSpPr>
          <p:cNvPr id="245" name="Google Shape;245;p15"/>
          <p:cNvSpPr txBox="1"/>
          <p:nvPr/>
        </p:nvSpPr>
        <p:spPr>
          <a:xfrm>
            <a:off x="316637" y="2605182"/>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Google Shape;172;p12">
            <a:extLst>
              <a:ext uri="{FF2B5EF4-FFF2-40B4-BE49-F238E27FC236}">
                <a16:creationId xmlns:a16="http://schemas.microsoft.com/office/drawing/2014/main" id="{D3F6DDDC-3938-0B89-DF45-FC497B0493E4}"/>
              </a:ext>
            </a:extLst>
          </p:cNvPr>
          <p:cNvSpPr txBox="1">
            <a:spLocks noGrp="1"/>
          </p:cNvSpPr>
          <p:nvPr/>
        </p:nvSpPr>
        <p:spPr>
          <a:xfrm>
            <a:off x="262128" y="876094"/>
            <a:ext cx="9720072" cy="625980"/>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C0C0C"/>
              </a:buClr>
              <a:buSzPts val="18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80000"/>
              </a:lnSpc>
              <a:spcBef>
                <a:spcPts val="0"/>
              </a:spcBef>
              <a:spcAft>
                <a:spcPts val="0"/>
              </a:spcAft>
              <a:buClr>
                <a:srgbClr val="0C0C0C"/>
              </a:buClr>
              <a:buSzPts val="5000"/>
              <a:buFont typeface="Twentieth Century"/>
              <a:buNone/>
            </a:pPr>
            <a:r>
              <a:rPr lang="en-US" dirty="0"/>
              <a:t>VARIANCE </a:t>
            </a:r>
            <a:endParaRPr dirty="0"/>
          </a:p>
        </p:txBody>
      </p:sp>
      <p:sp>
        <p:nvSpPr>
          <p:cNvPr id="3" name="Google Shape;173;p12">
            <a:extLst>
              <a:ext uri="{FF2B5EF4-FFF2-40B4-BE49-F238E27FC236}">
                <a16:creationId xmlns:a16="http://schemas.microsoft.com/office/drawing/2014/main" id="{A1BCD0B5-D99C-6B5D-55ED-61358A5E261E}"/>
              </a:ext>
            </a:extLst>
          </p:cNvPr>
          <p:cNvSpPr txBox="1">
            <a:spLocks noGrp="1"/>
          </p:cNvSpPr>
          <p:nvPr/>
        </p:nvSpPr>
        <p:spPr>
          <a:xfrm>
            <a:off x="262127" y="1502073"/>
            <a:ext cx="8914530" cy="4918885"/>
          </a:xfrm>
          <a:prstGeom prst="rect">
            <a:avLst/>
          </a:prstGeom>
          <a:noFill/>
          <a:ln>
            <a:noFill/>
          </a:ln>
        </p:spPr>
        <p:txBody>
          <a:bodyPr spcFirstLastPara="1" wrap="square" lIns="45700" tIns="45700" rIns="45700" bIns="45700" anchor="t" anchorCtr="0">
            <a:normAutofit lnSpcReduction="10000"/>
          </a:bodyPr>
          <a:lstStyle>
            <a:defPPr marR="0" lvl="0" algn="l" rtl="0">
              <a:lnSpc>
                <a:spcPct val="100000"/>
              </a:lnSpc>
              <a:spcBef>
                <a:spcPts val="0"/>
              </a:spcBef>
              <a:spcAft>
                <a:spcPts val="0"/>
              </a:spcAft>
            </a:defPPr>
            <a:lvl1pPr marL="457200" marR="0" lvl="0" indent="-342900" algn="l" rtl="0">
              <a:lnSpc>
                <a:spcPct val="90000"/>
              </a:lnSpc>
              <a:spcBef>
                <a:spcPts val="1200"/>
              </a:spcBef>
              <a:spcAft>
                <a:spcPts val="0"/>
              </a:spcAft>
              <a:buClr>
                <a:schemeClr val="accent1"/>
              </a:buClr>
              <a:buSzPts val="1800"/>
              <a:buFont typeface="Twentieth Century"/>
              <a:buChar char=" "/>
              <a:defRPr sz="22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90000"/>
              </a:lnSpc>
              <a:spcBef>
                <a:spcPts val="20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3pPr>
            <a:lvl4pPr marL="1828800" marR="0" lvl="3"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400"/>
              </a:spcBef>
              <a:spcAft>
                <a:spcPts val="40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pPr marL="91440" lvl="0" indent="-139700">
              <a:spcBef>
                <a:spcPts val="1400"/>
              </a:spcBef>
              <a:buSzPts val="2200"/>
              <a:buFont typeface="Arial"/>
              <a:buChar char="•"/>
            </a:pPr>
            <a:r>
              <a:rPr lang="en-US" sz="2400" dirty="0">
                <a:latin typeface="Times New Roman" panose="02020603050405020304" pitchFamily="18" charset="0"/>
                <a:cs typeface="Times New Roman" panose="02020603050405020304" pitchFamily="18" charset="0"/>
              </a:rPr>
              <a:t>When a model performs </a:t>
            </a:r>
            <a:r>
              <a:rPr lang="en-US" sz="2400" b="1" dirty="0">
                <a:latin typeface="Times New Roman" panose="02020603050405020304" pitchFamily="18" charset="0"/>
                <a:cs typeface="Times New Roman" panose="02020603050405020304" pitchFamily="18" charset="0"/>
              </a:rPr>
              <a:t>well on the training </a:t>
            </a:r>
            <a:r>
              <a:rPr lang="en-US" sz="2400" dirty="0">
                <a:latin typeface="Times New Roman" panose="02020603050405020304" pitchFamily="18" charset="0"/>
                <a:cs typeface="Times New Roman" panose="02020603050405020304" pitchFamily="18" charset="0"/>
              </a:rPr>
              <a:t>data but poorly on unseen (test or validation) data, it indicates that the model </a:t>
            </a:r>
            <a:r>
              <a:rPr lang="en-US" sz="2400" b="1" dirty="0">
                <a:latin typeface="Times New Roman" panose="02020603050405020304" pitchFamily="18" charset="0"/>
                <a:cs typeface="Times New Roman" panose="02020603050405020304" pitchFamily="18" charset="0"/>
              </a:rPr>
              <a:t>has high variance.</a:t>
            </a:r>
          </a:p>
          <a:p>
            <a:pPr marL="91440" lvl="0" indent="-139700">
              <a:spcBef>
                <a:spcPts val="1400"/>
              </a:spcBef>
              <a:buSzPts val="2200"/>
              <a:buFont typeface="Arial"/>
              <a:buChar char="•"/>
            </a:pPr>
            <a:r>
              <a:rPr lang="en-US" sz="2400" dirty="0">
                <a:latin typeface="Times New Roman"/>
                <a:cs typeface="Times New Roman"/>
              </a:rPr>
              <a:t>It basically tells how </a:t>
            </a:r>
            <a:r>
              <a:rPr lang="en-US" sz="2400" b="1" dirty="0">
                <a:latin typeface="Times New Roman"/>
                <a:cs typeface="Times New Roman"/>
              </a:rPr>
              <a:t>scattered</a:t>
            </a:r>
            <a:r>
              <a:rPr lang="en-US" sz="2400" dirty="0">
                <a:latin typeface="Times New Roman"/>
                <a:cs typeface="Times New Roman"/>
              </a:rPr>
              <a:t> the </a:t>
            </a:r>
            <a:r>
              <a:rPr lang="en-US" sz="2400" b="1" dirty="0">
                <a:latin typeface="Times New Roman"/>
                <a:cs typeface="Times New Roman"/>
              </a:rPr>
              <a:t>predicted values </a:t>
            </a:r>
            <a:r>
              <a:rPr lang="en-US" sz="2400" dirty="0">
                <a:latin typeface="Times New Roman"/>
                <a:cs typeface="Times New Roman"/>
              </a:rPr>
              <a:t>are from the </a:t>
            </a:r>
            <a:r>
              <a:rPr lang="en-US" sz="2400" b="1" dirty="0">
                <a:latin typeface="Times New Roman"/>
                <a:cs typeface="Times New Roman"/>
              </a:rPr>
              <a:t>actual values</a:t>
            </a:r>
            <a:r>
              <a:rPr lang="en-US" sz="2400" dirty="0">
                <a:latin typeface="Times New Roman"/>
                <a:cs typeface="Times New Roman"/>
              </a:rPr>
              <a:t>.</a:t>
            </a:r>
          </a:p>
          <a:p>
            <a:pPr marL="91440" indent="-139700">
              <a:spcBef>
                <a:spcPts val="1400"/>
              </a:spcBef>
              <a:buSzPts val="2200"/>
              <a:buFont typeface="Arial"/>
              <a:buChar char="•"/>
            </a:pPr>
            <a:r>
              <a:rPr lang="en-US" sz="2400" b="0" i="0" u="none" strike="noStrike" cap="none" dirty="0">
                <a:solidFill>
                  <a:schemeClr val="dk1"/>
                </a:solidFill>
                <a:latin typeface="Times New Roman"/>
                <a:ea typeface="Times New Roman"/>
                <a:cs typeface="Times New Roman"/>
                <a:sym typeface="Times New Roman"/>
              </a:rPr>
              <a:t>The variability of model prediction for a given data point which tells us the spread of our data is called the variance of the model. </a:t>
            </a:r>
          </a:p>
          <a:p>
            <a:pPr marL="91440" indent="-139700">
              <a:spcBef>
                <a:spcPts val="1400"/>
              </a:spcBef>
              <a:buSzPts val="2200"/>
              <a:buFont typeface="Arial"/>
              <a:buChar char="•"/>
            </a:pPr>
            <a:r>
              <a:rPr lang="en-US" sz="2400" b="0" i="0" u="none" strike="noStrike" cap="none" dirty="0">
                <a:solidFill>
                  <a:schemeClr val="dk1"/>
                </a:solidFill>
                <a:latin typeface="Times New Roman"/>
                <a:ea typeface="Times New Roman"/>
                <a:cs typeface="Times New Roman"/>
                <a:sym typeface="Times New Roman"/>
              </a:rPr>
              <a:t>The model with high variance has a very complex fit to the training data and thus is not able to fit accurately on the data which it hasn’t seen before. </a:t>
            </a:r>
          </a:p>
          <a:p>
            <a:pPr marL="91440" indent="-139700">
              <a:spcBef>
                <a:spcPts val="1400"/>
              </a:spcBef>
              <a:buSzPts val="2200"/>
              <a:buFont typeface="Arial"/>
              <a:buChar char="•"/>
            </a:pPr>
            <a:r>
              <a:rPr lang="en-US" sz="2400" b="0" i="0" u="none" strike="noStrike" cap="none" dirty="0">
                <a:solidFill>
                  <a:schemeClr val="dk1"/>
                </a:solidFill>
                <a:latin typeface="Times New Roman"/>
                <a:ea typeface="Times New Roman"/>
                <a:cs typeface="Times New Roman"/>
                <a:sym typeface="Times New Roman"/>
              </a:rPr>
              <a:t>As a result, such models perform </a:t>
            </a:r>
            <a:r>
              <a:rPr lang="en-US" sz="2400" b="1" i="0" u="none" strike="noStrike" cap="none" dirty="0">
                <a:solidFill>
                  <a:schemeClr val="dk1"/>
                </a:solidFill>
                <a:latin typeface="Times New Roman"/>
                <a:ea typeface="Times New Roman"/>
                <a:cs typeface="Times New Roman"/>
                <a:sym typeface="Times New Roman"/>
              </a:rPr>
              <a:t>very well </a:t>
            </a:r>
            <a:r>
              <a:rPr lang="en-US" sz="2400" b="0" i="0" u="none" strike="noStrike" cap="none" dirty="0">
                <a:solidFill>
                  <a:schemeClr val="dk1"/>
                </a:solidFill>
                <a:latin typeface="Times New Roman"/>
                <a:ea typeface="Times New Roman"/>
                <a:cs typeface="Times New Roman"/>
                <a:sym typeface="Times New Roman"/>
              </a:rPr>
              <a:t>on </a:t>
            </a:r>
            <a:r>
              <a:rPr lang="en-US" sz="2400" b="1" i="0" u="none" strike="noStrike" cap="none" dirty="0">
                <a:solidFill>
                  <a:schemeClr val="dk1"/>
                </a:solidFill>
                <a:latin typeface="Times New Roman"/>
                <a:ea typeface="Times New Roman"/>
                <a:cs typeface="Times New Roman"/>
                <a:sym typeface="Times New Roman"/>
              </a:rPr>
              <a:t>training data </a:t>
            </a:r>
            <a:r>
              <a:rPr lang="en-US" sz="2400" b="0" i="0" u="none" strike="noStrike" cap="none" dirty="0">
                <a:solidFill>
                  <a:schemeClr val="dk1"/>
                </a:solidFill>
                <a:latin typeface="Times New Roman"/>
                <a:ea typeface="Times New Roman"/>
                <a:cs typeface="Times New Roman"/>
                <a:sym typeface="Times New Roman"/>
              </a:rPr>
              <a:t>but have </a:t>
            </a:r>
            <a:r>
              <a:rPr lang="en-US" sz="2400" b="1" i="0" u="none" strike="noStrike" cap="none" dirty="0">
                <a:solidFill>
                  <a:schemeClr val="dk1"/>
                </a:solidFill>
                <a:latin typeface="Times New Roman"/>
                <a:ea typeface="Times New Roman"/>
                <a:cs typeface="Times New Roman"/>
                <a:sym typeface="Times New Roman"/>
              </a:rPr>
              <a:t>high error rates </a:t>
            </a:r>
            <a:r>
              <a:rPr lang="en-US" sz="2400" b="0" i="0" u="none" strike="noStrike" cap="none" dirty="0">
                <a:solidFill>
                  <a:schemeClr val="dk1"/>
                </a:solidFill>
                <a:latin typeface="Times New Roman"/>
                <a:ea typeface="Times New Roman"/>
                <a:cs typeface="Times New Roman"/>
                <a:sym typeface="Times New Roman"/>
              </a:rPr>
              <a:t>on </a:t>
            </a:r>
            <a:r>
              <a:rPr lang="en-US" sz="2400" b="1" i="0" u="none" strike="noStrike" cap="none" dirty="0">
                <a:solidFill>
                  <a:schemeClr val="dk1"/>
                </a:solidFill>
                <a:latin typeface="Times New Roman"/>
                <a:ea typeface="Times New Roman"/>
                <a:cs typeface="Times New Roman"/>
                <a:sym typeface="Times New Roman"/>
              </a:rPr>
              <a:t>test data</a:t>
            </a:r>
            <a:r>
              <a:rPr lang="en-US" sz="2400" b="0" i="0" u="none" strike="noStrike" cap="none" dirty="0">
                <a:solidFill>
                  <a:schemeClr val="dk1"/>
                </a:solidFill>
                <a:latin typeface="Times New Roman"/>
                <a:ea typeface="Times New Roman"/>
                <a:cs typeface="Times New Roman"/>
                <a:sym typeface="Times New Roman"/>
              </a:rPr>
              <a:t>. When a model is </a:t>
            </a:r>
            <a:r>
              <a:rPr lang="en-US" sz="2400" b="1" i="0" u="none" strike="noStrike" cap="none" dirty="0">
                <a:solidFill>
                  <a:schemeClr val="dk1"/>
                </a:solidFill>
                <a:latin typeface="Times New Roman"/>
                <a:ea typeface="Times New Roman"/>
                <a:cs typeface="Times New Roman"/>
                <a:sym typeface="Times New Roman"/>
              </a:rPr>
              <a:t>high on variance</a:t>
            </a:r>
            <a:r>
              <a:rPr lang="en-US" sz="2400" b="0" i="0" u="none" strike="noStrike" cap="none" dirty="0">
                <a:solidFill>
                  <a:schemeClr val="dk1"/>
                </a:solidFill>
                <a:latin typeface="Times New Roman"/>
                <a:ea typeface="Times New Roman"/>
                <a:cs typeface="Times New Roman"/>
                <a:sym typeface="Times New Roman"/>
              </a:rPr>
              <a:t>, it is then said to as </a:t>
            </a:r>
            <a:r>
              <a:rPr lang="en-US" sz="2400" b="1" i="0" u="none" strike="noStrike" cap="none" dirty="0">
                <a:solidFill>
                  <a:schemeClr val="dk1"/>
                </a:solidFill>
                <a:latin typeface="Times New Roman"/>
                <a:ea typeface="Times New Roman"/>
                <a:cs typeface="Times New Roman"/>
                <a:sym typeface="Times New Roman"/>
              </a:rPr>
              <a:t>Overfitting of Data</a:t>
            </a:r>
            <a:r>
              <a:rPr lang="en-US" sz="2400" b="0" i="0" u="none" strike="noStrike" cap="none" dirty="0">
                <a:solidFill>
                  <a:schemeClr val="dk1"/>
                </a:solidFill>
                <a:latin typeface="Times New Roman"/>
                <a:ea typeface="Times New Roman"/>
                <a:cs typeface="Times New Roman"/>
                <a:sym typeface="Times New Roman"/>
              </a:rPr>
              <a:t>.</a:t>
            </a:r>
            <a:endParaRPr lang="en-US" sz="1600" b="0" i="0" u="none" strike="noStrike" cap="none" dirty="0">
              <a:solidFill>
                <a:srgbClr val="000000"/>
              </a:solidFill>
              <a:latin typeface="Arial"/>
              <a:ea typeface="Arial"/>
              <a:cs typeface="Arial"/>
              <a:sym typeface="Arial"/>
            </a:endParaRPr>
          </a:p>
          <a:p>
            <a:pPr marL="91440" lvl="0" indent="-139700" algn="l" rtl="0">
              <a:lnSpc>
                <a:spcPct val="90000"/>
              </a:lnSpc>
              <a:spcBef>
                <a:spcPts val="1400"/>
              </a:spcBef>
              <a:spcAft>
                <a:spcPts val="0"/>
              </a:spcAft>
              <a:buSzPts val="2200"/>
              <a:buFont typeface="Arial"/>
              <a:buChar char="•"/>
            </a:pPr>
            <a:endParaRPr dirty="0"/>
          </a:p>
        </p:txBody>
      </p:sp>
      <p:pic>
        <p:nvPicPr>
          <p:cNvPr id="4" name="Google Shape;174;p12">
            <a:extLst>
              <a:ext uri="{FF2B5EF4-FFF2-40B4-BE49-F238E27FC236}">
                <a16:creationId xmlns:a16="http://schemas.microsoft.com/office/drawing/2014/main" id="{69F5C81F-9601-229A-74BD-59D39F7E77DF}"/>
              </a:ext>
            </a:extLst>
          </p:cNvPr>
          <p:cNvPicPr preferRelativeResize="0"/>
          <p:nvPr/>
        </p:nvPicPr>
        <p:blipFill rotWithShape="1">
          <a:blip r:embed="rId5">
            <a:alphaModFix/>
          </a:blip>
          <a:srcRect l="10407" t="38503" r="39083" b="25033"/>
          <a:stretch/>
        </p:blipFill>
        <p:spPr>
          <a:xfrm rot="5400000">
            <a:off x="8006643" y="2721202"/>
            <a:ext cx="5784481" cy="243383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16"/>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53" name="Google Shape;253;p16"/>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54" name="Google Shape;254;p16"/>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55" name="Google Shape;25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
        <p:nvSpPr>
          <p:cNvPr id="256" name="Google Shape;256;p16"/>
          <p:cNvSpPr txBox="1"/>
          <p:nvPr/>
        </p:nvSpPr>
        <p:spPr>
          <a:xfrm>
            <a:off x="174396" y="641845"/>
            <a:ext cx="11570563" cy="1369835"/>
          </a:xfrm>
          <a:prstGeom prst="rect">
            <a:avLst/>
          </a:prstGeom>
          <a:noFill/>
          <a:ln>
            <a:noFill/>
          </a:ln>
        </p:spPr>
        <p:txBody>
          <a:bodyPr spcFirstLastPara="1" wrap="square" lIns="91425" tIns="45700" rIns="91425" bIns="45700" anchor="t" anchorCtr="0">
            <a:noAutofit/>
          </a:bodyPr>
          <a:lstStyle/>
          <a:p>
            <a:pPr marL="91440" marR="0" lvl="0" indent="48260" algn="just" rtl="0">
              <a:lnSpc>
                <a:spcPct val="90000"/>
              </a:lnSpc>
              <a:spcBef>
                <a:spcPts val="0"/>
              </a:spcBef>
              <a:spcAft>
                <a:spcPts val="0"/>
              </a:spcAft>
              <a:buClr>
                <a:schemeClr val="dk1"/>
              </a:buClr>
              <a:buSzPts val="2200"/>
              <a:buFont typeface="Noto Sans Symbols"/>
              <a:buNone/>
            </a:pPr>
            <a:endParaRPr sz="2000" b="0" i="0" u="none" strike="noStrike" cap="none" dirty="0">
              <a:solidFill>
                <a:schemeClr val="dk1"/>
              </a:solidFill>
              <a:latin typeface="Calibri"/>
              <a:ea typeface="Calibri"/>
              <a:cs typeface="Calibri"/>
              <a:sym typeface="Calibri"/>
            </a:endParaRPr>
          </a:p>
          <a:p>
            <a:pPr marL="91440" marR="0" lvl="0" indent="-139700" algn="just" rtl="0">
              <a:lnSpc>
                <a:spcPct val="90000"/>
              </a:lnSpc>
              <a:spcBef>
                <a:spcPts val="0"/>
              </a:spcBef>
              <a:spcAft>
                <a:spcPts val="0"/>
              </a:spcAft>
              <a:buClr>
                <a:schemeClr val="dk1"/>
              </a:buClr>
              <a:buSzPts val="2200"/>
              <a:buFont typeface="Noto Sans Symbols"/>
              <a:buChar char="▪"/>
            </a:pPr>
            <a:r>
              <a:rPr lang="en-US" sz="2400" b="0" i="0" u="none" strike="noStrike" cap="none" dirty="0">
                <a:solidFill>
                  <a:schemeClr val="dk1"/>
                </a:solidFill>
                <a:latin typeface="Calibri"/>
                <a:ea typeface="Calibri"/>
                <a:cs typeface="Calibri"/>
                <a:sym typeface="Calibri"/>
              </a:rPr>
              <a:t>Bias: Error in training data and Testing Data</a:t>
            </a:r>
            <a:endParaRPr sz="1600" b="0" i="0" u="none" strike="noStrike" cap="none" dirty="0">
              <a:solidFill>
                <a:srgbClr val="000000"/>
              </a:solidFill>
              <a:latin typeface="Arial"/>
              <a:ea typeface="Arial"/>
              <a:cs typeface="Arial"/>
              <a:sym typeface="Arial"/>
            </a:endParaRPr>
          </a:p>
          <a:p>
            <a:pPr marL="91440" marR="0" lvl="0" indent="-139700" algn="just" rtl="0">
              <a:lnSpc>
                <a:spcPct val="90000"/>
              </a:lnSpc>
              <a:spcBef>
                <a:spcPts val="1400"/>
              </a:spcBef>
              <a:spcAft>
                <a:spcPts val="0"/>
              </a:spcAft>
              <a:buClr>
                <a:schemeClr val="dk1"/>
              </a:buClr>
              <a:buSzPts val="2200"/>
              <a:buFont typeface="Noto Sans Symbols"/>
              <a:buChar char="▪"/>
            </a:pPr>
            <a:r>
              <a:rPr lang="en-US" sz="2400" b="0" i="0" u="none" strike="noStrike" cap="none" dirty="0">
                <a:solidFill>
                  <a:schemeClr val="dk1"/>
                </a:solidFill>
                <a:latin typeface="Calibri"/>
                <a:ea typeface="Calibri"/>
                <a:cs typeface="Calibri"/>
                <a:sym typeface="Calibri"/>
              </a:rPr>
              <a:t>Variance: Error in test data</a:t>
            </a:r>
            <a:endParaRPr sz="1600" b="0" i="0" u="none" strike="noStrike" cap="none" dirty="0">
              <a:solidFill>
                <a:srgbClr val="000000"/>
              </a:solidFill>
              <a:latin typeface="Arial"/>
              <a:ea typeface="Arial"/>
              <a:cs typeface="Arial"/>
              <a:sym typeface="Arial"/>
            </a:endParaRPr>
          </a:p>
        </p:txBody>
      </p:sp>
      <p:pic>
        <p:nvPicPr>
          <p:cNvPr id="257" name="Google Shape;257;p16" descr="bull's eye - bias variance in machine learning-edureka"/>
          <p:cNvPicPr preferRelativeResize="0"/>
          <p:nvPr/>
        </p:nvPicPr>
        <p:blipFill rotWithShape="1">
          <a:blip r:embed="rId5">
            <a:alphaModFix/>
          </a:blip>
          <a:srcRect/>
          <a:stretch/>
        </p:blipFill>
        <p:spPr>
          <a:xfrm>
            <a:off x="7274560" y="0"/>
            <a:ext cx="4917440" cy="4742877"/>
          </a:xfrm>
          <a:prstGeom prst="rect">
            <a:avLst/>
          </a:prstGeom>
          <a:noFill/>
          <a:ln>
            <a:noFill/>
          </a:ln>
        </p:spPr>
      </p:pic>
      <p:pic>
        <p:nvPicPr>
          <p:cNvPr id="2" name="Picture 1"/>
          <p:cNvPicPr>
            <a:picLocks noChangeAspect="1"/>
          </p:cNvPicPr>
          <p:nvPr/>
        </p:nvPicPr>
        <p:blipFill>
          <a:blip r:embed="rId6"/>
          <a:stretch>
            <a:fillRect/>
          </a:stretch>
        </p:blipFill>
        <p:spPr>
          <a:xfrm>
            <a:off x="22302" y="1924399"/>
            <a:ext cx="6502734" cy="2905759"/>
          </a:xfrm>
          <a:prstGeom prst="rect">
            <a:avLst/>
          </a:prstGeom>
        </p:spPr>
      </p:pic>
      <p:pic>
        <p:nvPicPr>
          <p:cNvPr id="4" name="Picture 3"/>
          <p:cNvPicPr>
            <a:picLocks noChangeAspect="1"/>
          </p:cNvPicPr>
          <p:nvPr/>
        </p:nvPicPr>
        <p:blipFill>
          <a:blip r:embed="rId7"/>
          <a:stretch>
            <a:fillRect/>
          </a:stretch>
        </p:blipFill>
        <p:spPr>
          <a:xfrm>
            <a:off x="174396" y="4853584"/>
            <a:ext cx="5550764" cy="1976773"/>
          </a:xfrm>
          <a:prstGeom prst="rect">
            <a:avLst/>
          </a:prstGeom>
        </p:spPr>
      </p:pic>
      <p:pic>
        <p:nvPicPr>
          <p:cNvPr id="3" name="Picture 2"/>
          <p:cNvPicPr>
            <a:picLocks noChangeAspect="1"/>
          </p:cNvPicPr>
          <p:nvPr/>
        </p:nvPicPr>
        <p:blipFill>
          <a:blip r:embed="rId8"/>
          <a:stretch>
            <a:fillRect/>
          </a:stretch>
        </p:blipFill>
        <p:spPr>
          <a:xfrm>
            <a:off x="5725160" y="4742877"/>
            <a:ext cx="6466840" cy="209835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29"/>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94" name="Google Shape;394;p29"/>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95" name="Google Shape;395;p29"/>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96" name="Google Shape;39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pic>
        <p:nvPicPr>
          <p:cNvPr id="2" name="Picture 1"/>
          <p:cNvPicPr>
            <a:picLocks noChangeAspect="1"/>
          </p:cNvPicPr>
          <p:nvPr/>
        </p:nvPicPr>
        <p:blipFill>
          <a:blip r:embed="rId5"/>
          <a:stretch>
            <a:fillRect/>
          </a:stretch>
        </p:blipFill>
        <p:spPr>
          <a:xfrm>
            <a:off x="463989" y="968528"/>
            <a:ext cx="8852731" cy="5889471"/>
          </a:xfrm>
          <a:prstGeom prst="rect">
            <a:avLst/>
          </a:prstGeom>
        </p:spPr>
      </p:pic>
      <p:pic>
        <p:nvPicPr>
          <p:cNvPr id="4" name="Picture 3"/>
          <p:cNvPicPr>
            <a:picLocks noChangeAspect="1"/>
          </p:cNvPicPr>
          <p:nvPr/>
        </p:nvPicPr>
        <p:blipFill>
          <a:blip r:embed="rId6"/>
          <a:stretch>
            <a:fillRect/>
          </a:stretch>
        </p:blipFill>
        <p:spPr>
          <a:xfrm>
            <a:off x="7889824" y="2511221"/>
            <a:ext cx="4184752" cy="1289537"/>
          </a:xfrm>
          <a:prstGeom prst="rect">
            <a:avLst/>
          </a:prstGeom>
        </p:spPr>
      </p:pic>
    </p:spTree>
    <p:extLst>
      <p:ext uri="{BB962C8B-B14F-4D97-AF65-F5344CB8AC3E}">
        <p14:creationId xmlns:p14="http://schemas.microsoft.com/office/powerpoint/2010/main" val="3612716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29"/>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94" name="Google Shape;394;p29"/>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95" name="Google Shape;395;p29"/>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96" name="Google Shape;39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397" name="Google Shape;397;p29"/>
          <p:cNvSpPr txBox="1"/>
          <p:nvPr/>
        </p:nvSpPr>
        <p:spPr>
          <a:xfrm>
            <a:off x="22302" y="1450648"/>
            <a:ext cx="11875363" cy="3815777"/>
          </a:xfrm>
          <a:prstGeom prst="rect">
            <a:avLst/>
          </a:prstGeom>
          <a:noFill/>
          <a:ln>
            <a:noFill/>
          </a:ln>
        </p:spPr>
        <p:txBody>
          <a:bodyPr spcFirstLastPara="1" wrap="square" lIns="91425" tIns="45700" rIns="91425" bIns="45700" anchor="t" anchorCtr="0">
            <a:noAutofit/>
          </a:bodyPr>
          <a:lstStyle/>
          <a:p>
            <a:pPr marL="551117" marR="0" lvl="0" indent="-457200" algn="l" rtl="0">
              <a:lnSpc>
                <a:spcPct val="90000"/>
              </a:lnSpc>
              <a:spcBef>
                <a:spcPts val="700"/>
              </a:spcBef>
              <a:spcAft>
                <a:spcPts val="1200"/>
              </a:spcAft>
              <a:buClr>
                <a:schemeClr val="dk1"/>
              </a:buClr>
              <a:buSzPts val="1933"/>
              <a:buFont typeface="Arial" panose="020B0604020202020204" pitchFamily="34" charset="0"/>
              <a:buChar char="•"/>
            </a:pPr>
            <a:r>
              <a:rPr lang="en-US" sz="2800" b="0" i="0" dirty="0">
                <a:solidFill>
                  <a:srgbClr val="333333"/>
                </a:solidFill>
                <a:effectLst/>
                <a:latin typeface="Times New Roman" panose="02020603050405020304" pitchFamily="18" charset="0"/>
                <a:cs typeface="Times New Roman" panose="02020603050405020304" pitchFamily="18" charset="0"/>
              </a:rPr>
              <a:t>While building the machine learning model, it is really important to take care of bias and variance in order to avoid overfitting and underfitting in the model. </a:t>
            </a:r>
          </a:p>
          <a:p>
            <a:pPr marL="551117" marR="0" lvl="0" indent="-457200" algn="l" rtl="0">
              <a:lnSpc>
                <a:spcPct val="90000"/>
              </a:lnSpc>
              <a:spcBef>
                <a:spcPts val="700"/>
              </a:spcBef>
              <a:spcAft>
                <a:spcPts val="1200"/>
              </a:spcAft>
              <a:buClr>
                <a:schemeClr val="dk1"/>
              </a:buClr>
              <a:buSzPts val="1933"/>
              <a:buFont typeface="Arial" panose="020B0604020202020204" pitchFamily="34" charset="0"/>
              <a:buChar char="•"/>
            </a:pPr>
            <a:r>
              <a:rPr lang="en-US" sz="2800" b="0" i="0" dirty="0">
                <a:solidFill>
                  <a:srgbClr val="333333"/>
                </a:solidFill>
                <a:effectLst/>
                <a:latin typeface="Times New Roman" panose="02020603050405020304" pitchFamily="18" charset="0"/>
                <a:cs typeface="Times New Roman" panose="02020603050405020304" pitchFamily="18" charset="0"/>
              </a:rPr>
              <a:t>If the model is very simple with fewer parameters, it may have low variance and high bias. </a:t>
            </a:r>
          </a:p>
          <a:p>
            <a:pPr marL="551117" marR="0" lvl="0" indent="-457200" algn="l" rtl="0">
              <a:lnSpc>
                <a:spcPct val="90000"/>
              </a:lnSpc>
              <a:spcBef>
                <a:spcPts val="700"/>
              </a:spcBef>
              <a:spcAft>
                <a:spcPts val="1200"/>
              </a:spcAft>
              <a:buClr>
                <a:schemeClr val="dk1"/>
              </a:buClr>
              <a:buSzPts val="1933"/>
              <a:buFont typeface="Arial" panose="020B0604020202020204" pitchFamily="34" charset="0"/>
              <a:buChar char="•"/>
            </a:pPr>
            <a:r>
              <a:rPr lang="en-US" sz="2800" b="0" i="0" dirty="0">
                <a:solidFill>
                  <a:srgbClr val="333333"/>
                </a:solidFill>
                <a:effectLst/>
                <a:latin typeface="Times New Roman" panose="02020603050405020304" pitchFamily="18" charset="0"/>
                <a:cs typeface="Times New Roman" panose="02020603050405020304" pitchFamily="18" charset="0"/>
              </a:rPr>
              <a:t>Whereas, if the model has a large number of parameters, it will have high variance and low bias. </a:t>
            </a:r>
          </a:p>
          <a:p>
            <a:pPr marL="551117" marR="0" lvl="0" indent="-457200" algn="l" rtl="0">
              <a:lnSpc>
                <a:spcPct val="90000"/>
              </a:lnSpc>
              <a:spcBef>
                <a:spcPts val="700"/>
              </a:spcBef>
              <a:spcAft>
                <a:spcPts val="1200"/>
              </a:spcAft>
              <a:buClr>
                <a:schemeClr val="dk1"/>
              </a:buClr>
              <a:buSzPts val="1933"/>
              <a:buFont typeface="Arial" panose="020B0604020202020204" pitchFamily="34" charset="0"/>
              <a:buChar char="•"/>
            </a:pPr>
            <a:r>
              <a:rPr lang="en-US" sz="2800" b="0" i="0" dirty="0">
                <a:solidFill>
                  <a:srgbClr val="333333"/>
                </a:solidFill>
                <a:effectLst/>
                <a:latin typeface="Times New Roman" panose="02020603050405020304" pitchFamily="18" charset="0"/>
                <a:cs typeface="Times New Roman" panose="02020603050405020304" pitchFamily="18" charset="0"/>
              </a:rPr>
              <a:t>So, it is required to make a balance between bias and variance errors, and this balance between the bias error and variance error is known as </a:t>
            </a:r>
            <a:r>
              <a:rPr lang="en-US" sz="2800" b="1" i="0" dirty="0">
                <a:solidFill>
                  <a:srgbClr val="333333"/>
                </a:solidFill>
                <a:effectLst/>
                <a:latin typeface="Times New Roman" panose="02020603050405020304" pitchFamily="18" charset="0"/>
                <a:cs typeface="Times New Roman" panose="02020603050405020304" pitchFamily="18" charset="0"/>
              </a:rPr>
              <a:t>the Bias-Variance trade-off.</a:t>
            </a:r>
            <a:endParaRPr sz="20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D2CBFECF-10C7-6E03-685C-A05DBB0CB2E1}"/>
              </a:ext>
            </a:extLst>
          </p:cNvPr>
          <p:cNvSpPr txBox="1"/>
          <p:nvPr/>
        </p:nvSpPr>
        <p:spPr>
          <a:xfrm>
            <a:off x="124316" y="876094"/>
            <a:ext cx="6623956" cy="646331"/>
          </a:xfrm>
          <a:prstGeom prst="rect">
            <a:avLst/>
          </a:prstGeom>
          <a:noFill/>
        </p:spPr>
        <p:txBody>
          <a:bodyPr wrap="square">
            <a:spAutoFit/>
          </a:bodyPr>
          <a:lstStyle/>
          <a:p>
            <a:pPr algn="just"/>
            <a:r>
              <a:rPr lang="en-US" sz="3600" b="0" i="0" dirty="0">
                <a:solidFill>
                  <a:srgbClr val="610B38"/>
                </a:solidFill>
                <a:effectLst/>
                <a:latin typeface="Times New Roman" panose="02020603050405020304" pitchFamily="18" charset="0"/>
                <a:cs typeface="Times New Roman" panose="02020603050405020304" pitchFamily="18" charset="0"/>
              </a:rPr>
              <a:t>Bias-Variance Trade-Off</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3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404" name="Google Shape;404;p3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405" name="Google Shape;405;p3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406" name="Google Shape;40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
        <p:nvSpPr>
          <p:cNvPr id="407" name="Google Shape;407;p30"/>
          <p:cNvSpPr txBox="1"/>
          <p:nvPr/>
        </p:nvSpPr>
        <p:spPr>
          <a:xfrm>
            <a:off x="98923" y="1026754"/>
            <a:ext cx="8283077" cy="3815777"/>
          </a:xfrm>
          <a:prstGeom prst="rect">
            <a:avLst/>
          </a:prstGeom>
          <a:noFill/>
          <a:ln>
            <a:noFill/>
          </a:ln>
        </p:spPr>
        <p:txBody>
          <a:bodyPr spcFirstLastPara="1" wrap="square" lIns="91425" tIns="45700" rIns="91425" bIns="45700" anchor="t" anchorCtr="0">
            <a:noAutofit/>
          </a:bodyPr>
          <a:lstStyle/>
          <a:p>
            <a:pPr algn="just"/>
            <a:r>
              <a:rPr lang="en-US" sz="2200" b="0" i="0" dirty="0">
                <a:solidFill>
                  <a:srgbClr val="333333"/>
                </a:solidFill>
                <a:effectLst/>
                <a:latin typeface="Times New Roman" panose="02020603050405020304" pitchFamily="18" charset="0"/>
                <a:cs typeface="Times New Roman" panose="02020603050405020304" pitchFamily="18" charset="0"/>
              </a:rPr>
              <a:t>For an accurate prediction of the model, algorithms need a low variance and low bias. But this is not possible because bias and variance are related to each other:</a:t>
            </a:r>
          </a:p>
          <a:p>
            <a:pPr algn="jus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If we decrease the variance, it will increase the bias.</a:t>
            </a:r>
          </a:p>
          <a:p>
            <a:pPr algn="just">
              <a:buFont typeface="Arial" panose="020B0604020202020204" pitchFamily="34" charset="0"/>
              <a:buChar char="•"/>
            </a:pPr>
            <a:r>
              <a:rPr lang="en-US" sz="2200" b="0" i="0" dirty="0">
                <a:solidFill>
                  <a:srgbClr val="000000"/>
                </a:solidFill>
                <a:effectLst/>
                <a:latin typeface="Times New Roman" panose="02020603050405020304" pitchFamily="18" charset="0"/>
                <a:cs typeface="Times New Roman" panose="02020603050405020304" pitchFamily="18" charset="0"/>
              </a:rPr>
              <a:t>If we decrease the bias, it will increase the variance.</a:t>
            </a:r>
          </a:p>
          <a:p>
            <a:pPr algn="just"/>
            <a:endParaRPr lang="en-US" sz="700" b="0" i="0" dirty="0">
              <a:solidFill>
                <a:srgbClr val="333333"/>
              </a:solidFill>
              <a:effectLst/>
              <a:latin typeface="Times New Roman" panose="02020603050405020304" pitchFamily="18" charset="0"/>
              <a:cs typeface="Times New Roman" panose="02020603050405020304" pitchFamily="18" charset="0"/>
            </a:endParaRPr>
          </a:p>
          <a:p>
            <a:pPr algn="just"/>
            <a:r>
              <a:rPr lang="en-US" sz="2200" b="0" i="0" dirty="0">
                <a:solidFill>
                  <a:srgbClr val="333333"/>
                </a:solidFill>
                <a:effectLst/>
                <a:latin typeface="Times New Roman" panose="02020603050405020304" pitchFamily="18" charset="0"/>
                <a:cs typeface="Times New Roman" panose="02020603050405020304" pitchFamily="18" charset="0"/>
              </a:rPr>
              <a:t>Bias-Variance trade-off is a central issue in supervised learning. Ideally, we need a model that accurately captures the regularities in training data and simultaneously generalizes well with the unseen dataset. Unfortunately, doing this is not possible simultaneously. Because a high variance algorithm may perform well with training data, but it may lead to overfitting to noisy data. Whereas, </a:t>
            </a:r>
            <a:r>
              <a:rPr lang="en-US" sz="2200" b="1" i="0" dirty="0">
                <a:solidFill>
                  <a:srgbClr val="333333"/>
                </a:solidFill>
                <a:effectLst/>
                <a:latin typeface="Times New Roman" panose="02020603050405020304" pitchFamily="18" charset="0"/>
                <a:cs typeface="Times New Roman" panose="02020603050405020304" pitchFamily="18" charset="0"/>
              </a:rPr>
              <a:t>high bias </a:t>
            </a:r>
            <a:r>
              <a:rPr lang="en-US" sz="2200" b="0" i="0" dirty="0">
                <a:solidFill>
                  <a:srgbClr val="333333"/>
                </a:solidFill>
                <a:effectLst/>
                <a:latin typeface="Times New Roman" panose="02020603050405020304" pitchFamily="18" charset="0"/>
                <a:cs typeface="Times New Roman" panose="02020603050405020304" pitchFamily="18" charset="0"/>
              </a:rPr>
              <a:t>algorithm generates a much </a:t>
            </a:r>
            <a:r>
              <a:rPr lang="en-US" sz="2200" b="1" i="0" dirty="0">
                <a:solidFill>
                  <a:srgbClr val="333333"/>
                </a:solidFill>
                <a:effectLst/>
                <a:latin typeface="Times New Roman" panose="02020603050405020304" pitchFamily="18" charset="0"/>
                <a:cs typeface="Times New Roman" panose="02020603050405020304" pitchFamily="18" charset="0"/>
              </a:rPr>
              <a:t>simple mode</a:t>
            </a:r>
            <a:r>
              <a:rPr lang="en-US" sz="2200" b="0" i="0" dirty="0">
                <a:solidFill>
                  <a:srgbClr val="333333"/>
                </a:solidFill>
                <a:effectLst/>
                <a:latin typeface="Times New Roman" panose="02020603050405020304" pitchFamily="18" charset="0"/>
                <a:cs typeface="Times New Roman" panose="02020603050405020304" pitchFamily="18" charset="0"/>
              </a:rPr>
              <a:t>l that may </a:t>
            </a:r>
            <a:r>
              <a:rPr lang="en-US" sz="2200" b="1" i="0" dirty="0">
                <a:solidFill>
                  <a:srgbClr val="333333"/>
                </a:solidFill>
                <a:effectLst/>
                <a:latin typeface="Times New Roman" panose="02020603050405020304" pitchFamily="18" charset="0"/>
                <a:cs typeface="Times New Roman" panose="02020603050405020304" pitchFamily="18" charset="0"/>
              </a:rPr>
              <a:t>not even capture important regularities </a:t>
            </a:r>
            <a:r>
              <a:rPr lang="en-US" sz="2200" b="0" i="0" dirty="0">
                <a:solidFill>
                  <a:srgbClr val="333333"/>
                </a:solidFill>
                <a:effectLst/>
                <a:latin typeface="Times New Roman" panose="02020603050405020304" pitchFamily="18" charset="0"/>
                <a:cs typeface="Times New Roman" panose="02020603050405020304" pitchFamily="18" charset="0"/>
              </a:rPr>
              <a:t>in the data. So, we need to find a sweet spot between bias and variance to make an optimal model.</a:t>
            </a:r>
            <a:endParaRPr lang="en-US" sz="22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000" b="0" i="0" dirty="0">
              <a:solidFill>
                <a:srgbClr val="000000"/>
              </a:solidFill>
              <a:effectLst/>
              <a:latin typeface="inter-regular"/>
            </a:endParaRPr>
          </a:p>
        </p:txBody>
      </p:sp>
      <p:pic>
        <p:nvPicPr>
          <p:cNvPr id="3" name="Picture 2">
            <a:extLst>
              <a:ext uri="{FF2B5EF4-FFF2-40B4-BE49-F238E27FC236}">
                <a16:creationId xmlns:a16="http://schemas.microsoft.com/office/drawing/2014/main" id="{EAC9B698-C476-2FB6-5B20-38FF29D8062B}"/>
              </a:ext>
            </a:extLst>
          </p:cNvPr>
          <p:cNvPicPr>
            <a:picLocks noChangeAspect="1"/>
          </p:cNvPicPr>
          <p:nvPr/>
        </p:nvPicPr>
        <p:blipFill>
          <a:blip r:embed="rId5"/>
          <a:stretch>
            <a:fillRect/>
          </a:stretch>
        </p:blipFill>
        <p:spPr>
          <a:xfrm>
            <a:off x="8382000" y="1026754"/>
            <a:ext cx="3749063" cy="3645087"/>
          </a:xfrm>
          <a:prstGeom prst="rect">
            <a:avLst/>
          </a:prstGeom>
        </p:spPr>
      </p:pic>
      <p:sp>
        <p:nvSpPr>
          <p:cNvPr id="4" name="TextBox 3">
            <a:extLst>
              <a:ext uri="{FF2B5EF4-FFF2-40B4-BE49-F238E27FC236}">
                <a16:creationId xmlns:a16="http://schemas.microsoft.com/office/drawing/2014/main" id="{359BF86C-34CA-6E9E-D9A3-9A5BAD382CA4}"/>
              </a:ext>
            </a:extLst>
          </p:cNvPr>
          <p:cNvSpPr txBox="1"/>
          <p:nvPr/>
        </p:nvSpPr>
        <p:spPr>
          <a:xfrm>
            <a:off x="98923" y="5831246"/>
            <a:ext cx="11945055" cy="954107"/>
          </a:xfrm>
          <a:prstGeom prst="rect">
            <a:avLst/>
          </a:prstGeom>
          <a:noFill/>
        </p:spPr>
        <p:txBody>
          <a:bodyPr wrap="square">
            <a:spAutoFit/>
          </a:bodyPr>
          <a:lstStyle/>
          <a:p>
            <a:pPr algn="just">
              <a:buFont typeface="Arial" panose="020B0604020202020204" pitchFamily="34" charset="0"/>
              <a:buChar char="•"/>
            </a:pPr>
            <a:r>
              <a:rPr lang="en-US" sz="2800" b="1" i="1" dirty="0">
                <a:solidFill>
                  <a:srgbClr val="333333"/>
                </a:solidFill>
                <a:effectLst/>
                <a:latin typeface="inter-bold"/>
              </a:rPr>
              <a:t>Bias-Variance trade-off is about finding the sweet spot to make a balance between bias and variance errors.</a:t>
            </a:r>
            <a:endParaRPr lang="en-US" sz="2000" b="0" i="0" dirty="0">
              <a:solidFill>
                <a:srgbClr val="000000"/>
              </a:solidFill>
              <a:effectLst/>
              <a:latin typeface="inter-regular"/>
            </a:endParaRPr>
          </a:p>
        </p:txBody>
      </p:sp>
    </p:spTree>
    <p:extLst>
      <p:ext uri="{BB962C8B-B14F-4D97-AF65-F5344CB8AC3E}">
        <p14:creationId xmlns:p14="http://schemas.microsoft.com/office/powerpoint/2010/main" val="866159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263" name="Google Shape;263;p17"/>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64" name="Google Shape;264;p17"/>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65" name="Google Shape;265;p17"/>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66" name="Google Shape;26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
        <p:nvSpPr>
          <p:cNvPr id="267" name="Google Shape;267;p17"/>
          <p:cNvSpPr txBox="1"/>
          <p:nvPr/>
        </p:nvSpPr>
        <p:spPr>
          <a:xfrm>
            <a:off x="22302" y="704571"/>
            <a:ext cx="11742068" cy="5996807"/>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dirty="0">
                <a:solidFill>
                  <a:schemeClr val="dk1"/>
                </a:solidFill>
                <a:latin typeface="Calibri"/>
                <a:ea typeface="Calibri"/>
                <a:cs typeface="Calibri"/>
                <a:sym typeface="Calibri"/>
              </a:rPr>
              <a:t> </a:t>
            </a:r>
            <a:r>
              <a:rPr lang="en-US" sz="2400" b="1" i="0" u="none" strike="noStrike" cap="none" dirty="0">
                <a:solidFill>
                  <a:schemeClr val="dk1"/>
                </a:solidFill>
                <a:latin typeface="Times New Roman"/>
                <a:ea typeface="Times New Roman"/>
                <a:cs typeface="Times New Roman"/>
                <a:sym typeface="Times New Roman"/>
              </a:rPr>
              <a:t>Confusion Matrix?</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000"/>
              <a:buFont typeface="Arial"/>
              <a:buNone/>
            </a:pPr>
            <a:r>
              <a:rPr lang="en-US" sz="2400" b="0" i="0" u="none" strike="noStrike" cap="none" dirty="0">
                <a:solidFill>
                  <a:schemeClr val="dk1"/>
                </a:solidFill>
                <a:latin typeface="Times New Roman"/>
                <a:ea typeface="Times New Roman"/>
                <a:cs typeface="Times New Roman"/>
                <a:sym typeface="Times New Roman"/>
              </a:rPr>
              <a:t>A Confusion matrix is an N x N matrix used for evaluating the performance of a classification model, where N is the total number of target classes. The matrix compares the actual target values with those predicted by the machine learning model.</a:t>
            </a:r>
            <a:endParaRPr sz="1600" b="0" i="0" u="none" strike="noStrike" cap="none" dirty="0">
              <a:solidFill>
                <a:srgbClr val="000000"/>
              </a:solidFill>
              <a:latin typeface="Arial"/>
              <a:ea typeface="Arial"/>
              <a:cs typeface="Arial"/>
              <a:sym typeface="Arial"/>
            </a:endParaRPr>
          </a:p>
        </p:txBody>
      </p:sp>
      <p:pic>
        <p:nvPicPr>
          <p:cNvPr id="268" name="Google Shape;268;p17"/>
          <p:cNvPicPr preferRelativeResize="0"/>
          <p:nvPr/>
        </p:nvPicPr>
        <p:blipFill rotWithShape="1">
          <a:blip r:embed="rId5">
            <a:alphaModFix/>
          </a:blip>
          <a:srcRect/>
          <a:stretch/>
        </p:blipFill>
        <p:spPr>
          <a:xfrm>
            <a:off x="1735444" y="2351314"/>
            <a:ext cx="9233531" cy="450668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263" name="Google Shape;263;p17"/>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64" name="Google Shape;264;p17"/>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65" name="Google Shape;265;p17"/>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66" name="Google Shape;26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
        <p:nvSpPr>
          <p:cNvPr id="267" name="Google Shape;267;p17"/>
          <p:cNvSpPr txBox="1"/>
          <p:nvPr/>
        </p:nvSpPr>
        <p:spPr>
          <a:xfrm>
            <a:off x="22302" y="704571"/>
            <a:ext cx="11742068" cy="5996807"/>
          </a:xfrm>
          <a:prstGeom prst="rect">
            <a:avLst/>
          </a:prstGeom>
          <a:noFill/>
          <a:ln>
            <a:noFill/>
          </a:ln>
        </p:spPr>
        <p:txBody>
          <a:bodyPr spcFirstLastPara="1" wrap="square" lIns="91425" tIns="45700" rIns="91425" bIns="45700" anchor="t" anchorCtr="0">
            <a:noAutofit/>
          </a:bodyPr>
          <a:lstStyle/>
          <a:p>
            <a:pPr>
              <a:spcBef>
                <a:spcPts val="1000"/>
              </a:spcBef>
              <a:buClr>
                <a:schemeClr val="dk1"/>
              </a:buClr>
              <a:buSzPts val="2000"/>
            </a:pPr>
            <a:r>
              <a:rPr lang="en-US" sz="3200" b="1" i="0" dirty="0">
                <a:solidFill>
                  <a:srgbClr val="111111"/>
                </a:solidFill>
                <a:effectLst/>
                <a:latin typeface="Times New Roman" panose="02020603050405020304" pitchFamily="18" charset="0"/>
                <a:cs typeface="Times New Roman" panose="02020603050405020304" pitchFamily="18" charset="0"/>
              </a:rPr>
              <a:t>Type I and Type II Errors:</a:t>
            </a:r>
            <a:endParaRPr lang="en-US" sz="2800" b="1" i="0" dirty="0">
              <a:solidFill>
                <a:srgbClr val="11111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600" b="0" i="0" dirty="0">
                <a:solidFill>
                  <a:srgbClr val="111111"/>
                </a:solidFill>
                <a:effectLst/>
                <a:latin typeface="Times New Roman" panose="02020603050405020304" pitchFamily="18" charset="0"/>
                <a:cs typeface="Times New Roman" panose="02020603050405020304" pitchFamily="18" charset="0"/>
              </a:rPr>
              <a:t>Type I and Type II errors are very common in machine learning and statistics.</a:t>
            </a:r>
          </a:p>
          <a:p>
            <a:pPr algn="l">
              <a:buFont typeface="Arial" panose="020B0604020202020204" pitchFamily="34" charset="0"/>
              <a:buChar char="•"/>
            </a:pPr>
            <a:r>
              <a:rPr lang="en-US" sz="2600" b="0" i="0" dirty="0">
                <a:solidFill>
                  <a:srgbClr val="111111"/>
                </a:solidFill>
                <a:effectLst/>
                <a:latin typeface="Times New Roman" panose="02020603050405020304" pitchFamily="18" charset="0"/>
                <a:cs typeface="Times New Roman" panose="02020603050405020304" pitchFamily="18" charset="0"/>
              </a:rPr>
              <a:t>Type I error occurs when the Null Hypothesis (H0) is mistakenly rejected. This is also referred to as the False Positive Error. </a:t>
            </a:r>
          </a:p>
          <a:p>
            <a:pPr algn="l">
              <a:buFont typeface="Arial" panose="020B0604020202020204" pitchFamily="34" charset="0"/>
              <a:buChar char="•"/>
            </a:pPr>
            <a:r>
              <a:rPr lang="en-US" sz="2600" b="0" i="0" dirty="0">
                <a:solidFill>
                  <a:srgbClr val="111111"/>
                </a:solidFill>
                <a:effectLst/>
                <a:latin typeface="Times New Roman" panose="02020603050405020304" pitchFamily="18" charset="0"/>
                <a:cs typeface="Times New Roman" panose="02020603050405020304" pitchFamily="18" charset="0"/>
              </a:rPr>
              <a:t>Type II error occurs when a Null Hypothesis that is actually false is accepted. This is also referred to as the False Negative Error.</a:t>
            </a:r>
          </a:p>
          <a:p>
            <a:pPr marL="228600" indent="-228600">
              <a:lnSpc>
                <a:spcPct val="90000"/>
              </a:lnSpc>
              <a:spcBef>
                <a:spcPts val="1000"/>
              </a:spcBef>
              <a:buClr>
                <a:schemeClr val="dk1"/>
              </a:buClr>
              <a:buSzPts val="2000"/>
              <a:buFont typeface="Arial"/>
              <a:buChar char="•"/>
            </a:pPr>
            <a:endParaRPr lang="en-US" sz="3200" b="1" i="0" dirty="0">
              <a:solidFill>
                <a:srgbClr val="111111"/>
              </a:solidFill>
              <a:effectLst/>
              <a:latin typeface="Times New Roman" panose="02020603050405020304" pitchFamily="18" charset="0"/>
              <a:cs typeface="Times New Roman" panose="02020603050405020304" pitchFamily="18" charset="0"/>
            </a:endParaRPr>
          </a:p>
          <a:p>
            <a:pPr marL="228600" marR="0" lvl="0" indent="-228600" algn="l" rtl="0">
              <a:lnSpc>
                <a:spcPct val="90000"/>
              </a:lnSpc>
              <a:spcBef>
                <a:spcPts val="1000"/>
              </a:spcBef>
              <a:spcAft>
                <a:spcPts val="0"/>
              </a:spcAft>
              <a:buClr>
                <a:schemeClr val="dk1"/>
              </a:buClr>
              <a:buSzPts val="2000"/>
              <a:buFont typeface="Arial"/>
              <a:buChar char="•"/>
            </a:pP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64C2A01D-7562-2863-9CB5-2615B25FE059}"/>
              </a:ext>
            </a:extLst>
          </p:cNvPr>
          <p:cNvPicPr>
            <a:picLocks noChangeAspect="1"/>
          </p:cNvPicPr>
          <p:nvPr/>
        </p:nvPicPr>
        <p:blipFill>
          <a:blip r:embed="rId5"/>
          <a:stretch>
            <a:fillRect/>
          </a:stretch>
        </p:blipFill>
        <p:spPr>
          <a:xfrm>
            <a:off x="6912429" y="3135086"/>
            <a:ext cx="5257269" cy="3705319"/>
          </a:xfrm>
          <a:prstGeom prst="rect">
            <a:avLst/>
          </a:prstGeom>
        </p:spPr>
      </p:pic>
      <p:sp>
        <p:nvSpPr>
          <p:cNvPr id="4" name="Google Shape;152;p9">
            <a:extLst>
              <a:ext uri="{FF2B5EF4-FFF2-40B4-BE49-F238E27FC236}">
                <a16:creationId xmlns:a16="http://schemas.microsoft.com/office/drawing/2014/main" id="{0CBA1966-18CB-DCB1-9840-97A33EDFF497}"/>
              </a:ext>
            </a:extLst>
          </p:cNvPr>
          <p:cNvSpPr txBox="1">
            <a:spLocks noGrp="1"/>
          </p:cNvSpPr>
          <p:nvPr/>
        </p:nvSpPr>
        <p:spPr>
          <a:xfrm>
            <a:off x="186459" y="3635830"/>
            <a:ext cx="6725970" cy="3237072"/>
          </a:xfrm>
          <a:prstGeom prst="rect">
            <a:avLst/>
          </a:prstGeom>
          <a:noFill/>
          <a:ln>
            <a:noFill/>
          </a:ln>
        </p:spPr>
        <p:txBody>
          <a:bodyPr spcFirstLastPara="1" wrap="square" lIns="91425" tIns="45700" rIns="91425" bIns="45700" anchor="ctr" anchorCtr="0">
            <a:normAutofit fontScale="92500" lnSpcReduction="10000"/>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C0C0C"/>
              </a:buClr>
              <a:buSzPts val="18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120000"/>
              </a:lnSpc>
              <a:spcBef>
                <a:spcPts val="0"/>
              </a:spcBef>
              <a:buClr>
                <a:srgbClr val="0C0C0C"/>
              </a:buClr>
              <a:buSzPts val="5000"/>
              <a:buFont typeface="Twentieth Century"/>
              <a:buNone/>
            </a:pPr>
            <a:r>
              <a:rPr lang="en-US" sz="2800" b="0" i="0" dirty="0">
                <a:solidFill>
                  <a:srgbClr val="202124"/>
                </a:solidFill>
                <a:effectLst/>
                <a:latin typeface="Times New Roman" panose="02020603050405020304" pitchFamily="18" charset="0"/>
                <a:cs typeface="Times New Roman" panose="02020603050405020304" pitchFamily="18" charset="0"/>
              </a:rPr>
              <a:t>There are two errors that could potentially occur: </a:t>
            </a:r>
          </a:p>
          <a:p>
            <a:pPr marL="457200" lvl="0" indent="-457200" algn="l" rtl="0">
              <a:lnSpc>
                <a:spcPct val="120000"/>
              </a:lnSpc>
              <a:spcBef>
                <a:spcPts val="0"/>
              </a:spcBef>
              <a:buClr>
                <a:srgbClr val="0C0C0C"/>
              </a:buClr>
              <a:buSzPts val="5000"/>
              <a:buFont typeface="Arial" panose="020B0604020202020204" pitchFamily="34" charset="0"/>
              <a:buChar char="•"/>
            </a:pPr>
            <a:r>
              <a:rPr lang="en-US" sz="2800" dirty="0">
                <a:solidFill>
                  <a:srgbClr val="202124"/>
                </a:solidFill>
                <a:latin typeface="Times New Roman" panose="02020603050405020304" pitchFamily="18" charset="0"/>
                <a:cs typeface="Times New Roman" panose="02020603050405020304" pitchFamily="18" charset="0"/>
              </a:rPr>
              <a:t>T</a:t>
            </a:r>
            <a:r>
              <a:rPr lang="en-US" sz="2800" b="0" i="0" dirty="0">
                <a:solidFill>
                  <a:srgbClr val="202124"/>
                </a:solidFill>
                <a:effectLst/>
                <a:latin typeface="Times New Roman" panose="02020603050405020304" pitchFamily="18" charset="0"/>
                <a:cs typeface="Times New Roman" panose="02020603050405020304" pitchFamily="18" charset="0"/>
              </a:rPr>
              <a:t>ype I error (false positive): the test result says you have coronavirus, but you actually don’t. </a:t>
            </a:r>
          </a:p>
          <a:p>
            <a:pPr marL="457200" lvl="0" indent="-457200" algn="l" rtl="0">
              <a:lnSpc>
                <a:spcPct val="120000"/>
              </a:lnSpc>
              <a:spcBef>
                <a:spcPts val="0"/>
              </a:spcBef>
              <a:buClr>
                <a:srgbClr val="0C0C0C"/>
              </a:buClr>
              <a:buSzPts val="5000"/>
              <a:buFont typeface="Arial" panose="020B0604020202020204" pitchFamily="34" charset="0"/>
              <a:buChar char="•"/>
            </a:pPr>
            <a:r>
              <a:rPr lang="en-US" sz="2800" b="0" i="0" dirty="0">
                <a:solidFill>
                  <a:srgbClr val="202124"/>
                </a:solidFill>
                <a:effectLst/>
                <a:latin typeface="Times New Roman" panose="02020603050405020304" pitchFamily="18" charset="0"/>
                <a:cs typeface="Times New Roman" panose="02020603050405020304" pitchFamily="18" charset="0"/>
              </a:rPr>
              <a:t>Type II error (false negative): the test result says you don't have coronavirus, but you actually do.</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3943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18"/>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75" name="Google Shape;275;p18"/>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76" name="Google Shape;276;p18"/>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77" name="Google Shape;27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
        <p:nvSpPr>
          <p:cNvPr id="278" name="Google Shape;278;p18"/>
          <p:cNvSpPr txBox="1"/>
          <p:nvPr/>
        </p:nvSpPr>
        <p:spPr>
          <a:xfrm>
            <a:off x="163773" y="941696"/>
            <a:ext cx="11805314" cy="5479263"/>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1000"/>
              </a:spcBef>
              <a:spcAft>
                <a:spcPts val="0"/>
              </a:spcAft>
              <a:buClr>
                <a:schemeClr val="dk1"/>
              </a:buClr>
              <a:buSzPts val="2000"/>
              <a:buFont typeface="Arial"/>
              <a:buChar char="•"/>
            </a:pPr>
            <a:r>
              <a:rPr lang="en-US" sz="2000" b="1" i="0" u="none" strike="noStrike" cap="none">
                <a:solidFill>
                  <a:schemeClr val="dk1"/>
                </a:solidFill>
                <a:latin typeface="Times New Roman"/>
                <a:ea typeface="Times New Roman"/>
                <a:cs typeface="Times New Roman"/>
                <a:sym typeface="Times New Roman"/>
              </a:rPr>
              <a:t>Important Terms in a Confusion Matrix</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000"/>
              <a:buFont typeface="Arial"/>
              <a:buNone/>
            </a:pPr>
            <a:endParaRPr sz="2000" b="1" i="0" u="none" strike="noStrike" cap="none">
              <a:solidFill>
                <a:schemeClr val="dk1"/>
              </a:solidFill>
              <a:latin typeface="Times New Roman"/>
              <a:ea typeface="Times New Roman"/>
              <a:cs typeface="Times New Roman"/>
              <a:sym typeface="Times New Roman"/>
            </a:endParaRPr>
          </a:p>
          <a:p>
            <a:pPr marL="457200" marR="0" lvl="0" indent="-457200" algn="l" rtl="0">
              <a:lnSpc>
                <a:spcPct val="90000"/>
              </a:lnSpc>
              <a:spcBef>
                <a:spcPts val="1000"/>
              </a:spcBef>
              <a:spcAft>
                <a:spcPts val="0"/>
              </a:spcAft>
              <a:buClr>
                <a:schemeClr val="dk1"/>
              </a:buClr>
              <a:buSzPts val="2000"/>
              <a:buFont typeface="Calibri"/>
              <a:buAutoNum type="arabicPeriod"/>
            </a:pPr>
            <a:r>
              <a:rPr lang="en-US" sz="2000" b="1" i="0" u="none" strike="noStrike" cap="none">
                <a:solidFill>
                  <a:schemeClr val="dk1"/>
                </a:solidFill>
                <a:latin typeface="Times New Roman"/>
                <a:ea typeface="Times New Roman"/>
                <a:cs typeface="Times New Roman"/>
                <a:sym typeface="Times New Roman"/>
              </a:rPr>
              <a:t>True Positive (TP) : </a:t>
            </a:r>
            <a:r>
              <a:rPr lang="en-US" sz="2000" b="0" i="0" u="none" strike="noStrike" cap="none">
                <a:solidFill>
                  <a:schemeClr val="dk1"/>
                </a:solidFill>
                <a:latin typeface="Times New Roman"/>
                <a:ea typeface="Times New Roman"/>
                <a:cs typeface="Times New Roman"/>
                <a:sym typeface="Times New Roman"/>
              </a:rPr>
              <a:t>The predicted value matches the actual value, or the predicted class matches the actual class.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The actual value was positive, and the model predicted a positive value.</a:t>
            </a:r>
            <a:endParaRPr sz="1400" b="0" i="0" u="none" strike="noStrike" cap="none">
              <a:solidFill>
                <a:srgbClr val="000000"/>
              </a:solidFill>
              <a:latin typeface="Arial"/>
              <a:ea typeface="Arial"/>
              <a:cs typeface="Arial"/>
              <a:sym typeface="Arial"/>
            </a:endParaRPr>
          </a:p>
          <a:p>
            <a:pPr marL="457200" marR="0" lvl="0" indent="-457200" algn="l" rtl="0">
              <a:lnSpc>
                <a:spcPct val="90000"/>
              </a:lnSpc>
              <a:spcBef>
                <a:spcPts val="1000"/>
              </a:spcBef>
              <a:spcAft>
                <a:spcPts val="0"/>
              </a:spcAft>
              <a:buClr>
                <a:schemeClr val="dk1"/>
              </a:buClr>
              <a:buSzPts val="2000"/>
              <a:buFont typeface="Arial"/>
              <a:buAutoNum type="arabicPeriod" startAt="2"/>
            </a:pPr>
            <a:r>
              <a:rPr lang="en-US" sz="2000" b="1" i="0" u="none" strike="noStrike" cap="none">
                <a:solidFill>
                  <a:schemeClr val="dk1"/>
                </a:solidFill>
                <a:latin typeface="Times New Roman"/>
                <a:ea typeface="Times New Roman"/>
                <a:cs typeface="Times New Roman"/>
                <a:sym typeface="Times New Roman"/>
              </a:rPr>
              <a:t>True Negative (TN) : </a:t>
            </a:r>
            <a:r>
              <a:rPr lang="en-US" sz="2000" b="0" i="0" u="none" strike="noStrike" cap="none">
                <a:solidFill>
                  <a:schemeClr val="dk1"/>
                </a:solidFill>
                <a:latin typeface="Times New Roman"/>
                <a:ea typeface="Times New Roman"/>
                <a:cs typeface="Times New Roman"/>
                <a:sym typeface="Times New Roman"/>
              </a:rPr>
              <a:t>The predicted value matches the actual value, or the predicted class matches the actual 	class. </a:t>
            </a:r>
            <a:endParaRPr sz="1400" b="0" i="0" u="none" strike="noStrike" cap="none">
              <a:solidFill>
                <a:srgbClr val="000000"/>
              </a:solidFill>
              <a:latin typeface="Arial"/>
              <a:ea typeface="Arial"/>
              <a:cs typeface="Arial"/>
              <a:sym typeface="Arial"/>
            </a:endParaRPr>
          </a:p>
          <a:p>
            <a:pPr marL="457200" marR="0" lvl="1" indent="0" algn="l" rtl="0">
              <a:lnSpc>
                <a:spcPct val="90000"/>
              </a:lnSpc>
              <a:spcBef>
                <a:spcPts val="50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Times New Roman"/>
                <a:ea typeface="Times New Roman"/>
                <a:cs typeface="Times New Roman"/>
                <a:sym typeface="Times New Roman"/>
              </a:rPr>
              <a:t>The actual value was negative, and the model predicted a negative value.</a:t>
            </a:r>
            <a:endParaRPr sz="1400" b="0" i="0" u="none" strike="noStrike" cap="none">
              <a:solidFill>
                <a:srgbClr val="000000"/>
              </a:solidFill>
              <a:latin typeface="Arial"/>
              <a:ea typeface="Arial"/>
              <a:cs typeface="Arial"/>
              <a:sym typeface="Arial"/>
            </a:endParaRPr>
          </a:p>
          <a:p>
            <a:pPr marL="457200" marR="0" lvl="1" indent="0" algn="l" rtl="0">
              <a:lnSpc>
                <a:spcPct val="90000"/>
              </a:lnSpc>
              <a:spcBef>
                <a:spcPts val="5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3.    False Positive (FP) – Type I Error : </a:t>
            </a:r>
            <a:r>
              <a:rPr lang="en-US" sz="2000" b="0" i="0" u="none" strike="noStrike" cap="none">
                <a:solidFill>
                  <a:schemeClr val="dk1"/>
                </a:solidFill>
                <a:latin typeface="Times New Roman"/>
                <a:ea typeface="Times New Roman"/>
                <a:cs typeface="Times New Roman"/>
                <a:sym typeface="Times New Roman"/>
              </a:rPr>
              <a:t>The predicted value was falsely predicted.</a:t>
            </a:r>
            <a:endParaRPr sz="1400" b="0" i="0" u="none" strike="noStrike" cap="none">
              <a:solidFill>
                <a:srgbClr val="000000"/>
              </a:solidFill>
              <a:latin typeface="Arial"/>
              <a:ea typeface="Arial"/>
              <a:cs typeface="Arial"/>
              <a:sym typeface="Arial"/>
            </a:endParaRPr>
          </a:p>
          <a:p>
            <a:pPr marL="685800" marR="0" lvl="1" indent="-228600" algn="l" rtl="0">
              <a:lnSpc>
                <a:spcPct val="90000"/>
              </a:lnSpc>
              <a:spcBef>
                <a:spcPts val="5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The actual value was negative, but the model predicted a positive value.</a:t>
            </a:r>
            <a:endParaRPr sz="1400" b="0" i="0" u="none" strike="noStrike" cap="none">
              <a:solidFill>
                <a:srgbClr val="000000"/>
              </a:solidFill>
              <a:latin typeface="Arial"/>
              <a:ea typeface="Arial"/>
              <a:cs typeface="Arial"/>
              <a:sym typeface="Arial"/>
            </a:endParaRPr>
          </a:p>
          <a:p>
            <a:pPr marL="457200" marR="0" lvl="1" indent="0" algn="l" rtl="0">
              <a:lnSpc>
                <a:spcPct val="90000"/>
              </a:lnSpc>
              <a:spcBef>
                <a:spcPts val="5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4.    False Negative (FN) – Type II Error : </a:t>
            </a:r>
            <a:r>
              <a:rPr lang="en-US" sz="2000" b="0" i="0" u="none" strike="noStrike" cap="none">
                <a:solidFill>
                  <a:schemeClr val="dk1"/>
                </a:solidFill>
                <a:latin typeface="Times New Roman"/>
                <a:ea typeface="Times New Roman"/>
                <a:cs typeface="Times New Roman"/>
                <a:sym typeface="Times New Roman"/>
              </a:rPr>
              <a:t>The predicted value was falsely predicted.</a:t>
            </a:r>
            <a:endParaRPr sz="1400" b="0" i="0" u="none" strike="noStrike" cap="none">
              <a:solidFill>
                <a:srgbClr val="000000"/>
              </a:solidFill>
              <a:latin typeface="Arial"/>
              <a:ea typeface="Arial"/>
              <a:cs typeface="Arial"/>
              <a:sym typeface="Arial"/>
            </a:endParaRPr>
          </a:p>
          <a:p>
            <a:pPr marL="685800" marR="0" lvl="1" indent="-228600" algn="l" rtl="0">
              <a:lnSpc>
                <a:spcPct val="90000"/>
              </a:lnSpc>
              <a:spcBef>
                <a:spcPts val="5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The actual value was positive, but the model predicted a negative value</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19"/>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85" name="Google Shape;285;p19"/>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86" name="Google Shape;286;p19"/>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87" name="Google Shape;28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
        <p:nvSpPr>
          <p:cNvPr id="288" name="Google Shape;288;p19"/>
          <p:cNvSpPr txBox="1"/>
          <p:nvPr/>
        </p:nvSpPr>
        <p:spPr>
          <a:xfrm>
            <a:off x="316637" y="2605182"/>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89" name="Google Shape;289;p19"/>
          <p:cNvSpPr/>
          <p:nvPr/>
        </p:nvSpPr>
        <p:spPr>
          <a:xfrm>
            <a:off x="316636" y="1256489"/>
            <a:ext cx="11106539" cy="5164470"/>
          </a:xfrm>
          <a:prstGeom prst="rect">
            <a:avLst/>
          </a:prstGeom>
          <a:solidFill>
            <a:srgbClr val="FFFFFF"/>
          </a:solidFill>
          <a:ln>
            <a:noFill/>
          </a:ln>
        </p:spPr>
        <p:txBody>
          <a:bodyPr spcFirstLastPara="1" wrap="square" lIns="91425" tIns="268200" rIns="91425" bIns="45700" anchor="ctr" anchorCtr="0">
            <a:spAutoFit/>
          </a:bodyPr>
          <a:lstStyle/>
          <a:p>
            <a:pPr marL="0" marR="0" lvl="0" indent="0" algn="just" rtl="0">
              <a:lnSpc>
                <a:spcPct val="100000"/>
              </a:lnSpc>
              <a:spcBef>
                <a:spcPts val="0"/>
              </a:spcBef>
              <a:spcAft>
                <a:spcPts val="0"/>
              </a:spcAft>
              <a:buClr>
                <a:srgbClr val="000000"/>
              </a:buClr>
              <a:buSzPts val="2100"/>
              <a:buFont typeface="Arial"/>
              <a:buNone/>
            </a:pPr>
            <a:r>
              <a:rPr lang="en-US" sz="2100" b="1" i="0" u="none" strike="noStrike" cap="none">
                <a:solidFill>
                  <a:schemeClr val="dk1"/>
                </a:solidFill>
                <a:latin typeface="Times New Roman"/>
                <a:ea typeface="Times New Roman"/>
                <a:cs typeface="Times New Roman"/>
                <a:sym typeface="Times New Roman"/>
              </a:rPr>
              <a:t>What is accuracy?</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100"/>
              <a:buFont typeface="Arial"/>
              <a:buNone/>
            </a:pPr>
            <a:r>
              <a:rPr lang="en-US" sz="2100" b="1" i="0" u="none" strike="noStrike" cap="none">
                <a:solidFill>
                  <a:schemeClr val="dk1"/>
                </a:solidFill>
                <a:latin typeface="Times New Roman"/>
                <a:ea typeface="Times New Roman"/>
                <a:cs typeface="Times New Roman"/>
                <a:sym typeface="Times New Roman"/>
              </a:rPr>
              <a:t>Accuracy</a:t>
            </a:r>
            <a:r>
              <a:rPr lang="en-US" sz="2100" b="0" i="0" u="none" strike="noStrike" cap="none">
                <a:solidFill>
                  <a:schemeClr val="dk1"/>
                </a:solidFill>
                <a:latin typeface="Times New Roman"/>
                <a:ea typeface="Times New Roman"/>
                <a:cs typeface="Times New Roman"/>
                <a:sym typeface="Times New Roman"/>
              </a:rPr>
              <a:t> is a metric that measures how often a machine learning model correctly predicts the outcome. You can calculate accuracy by dividing the number of correct predictions by the total number of predictions. </a:t>
            </a: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100"/>
              <a:buFont typeface="Arial"/>
              <a:buNone/>
            </a:pPr>
            <a:endParaRPr sz="2100" b="0" i="0" u="none" strike="noStrike" cap="none">
              <a:solidFill>
                <a:schemeClr val="dk1"/>
              </a:solidFill>
              <a:latin typeface="Times New Roman"/>
              <a:ea typeface="Times New Roman"/>
              <a:cs typeface="Times New Roman"/>
              <a:sym typeface="Times New Roman"/>
            </a:endParaRPr>
          </a:p>
        </p:txBody>
      </p:sp>
      <p:pic>
        <p:nvPicPr>
          <p:cNvPr id="290" name="Google Shape;290;p19"/>
          <p:cNvPicPr preferRelativeResize="0"/>
          <p:nvPr/>
        </p:nvPicPr>
        <p:blipFill rotWithShape="1">
          <a:blip r:embed="rId5">
            <a:alphaModFix/>
          </a:blip>
          <a:srcRect/>
          <a:stretch/>
        </p:blipFill>
        <p:spPr>
          <a:xfrm>
            <a:off x="2855722" y="3392993"/>
            <a:ext cx="5743575" cy="1390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p2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97" name="Google Shape;297;p2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98" name="Google Shape;298;p2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99" name="Google Shape;29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
        <p:nvSpPr>
          <p:cNvPr id="300" name="Google Shape;300;p20"/>
          <p:cNvSpPr txBox="1"/>
          <p:nvPr/>
        </p:nvSpPr>
        <p:spPr>
          <a:xfrm>
            <a:off x="316636" y="982639"/>
            <a:ext cx="11707041" cy="565017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What is precision?</a:t>
            </a:r>
            <a:endParaRPr sz="1400" b="0" i="0" u="none" strike="noStrike" cap="none">
              <a:solidFill>
                <a:srgbClr val="000000"/>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000"/>
              <a:buFont typeface="Arial"/>
              <a:buChar char="•"/>
            </a:pPr>
            <a:r>
              <a:rPr lang="en-US" sz="2000" b="1" i="0" u="none" strike="noStrike" cap="none">
                <a:solidFill>
                  <a:schemeClr val="dk1"/>
                </a:solidFill>
                <a:latin typeface="Times New Roman"/>
                <a:ea typeface="Times New Roman"/>
                <a:cs typeface="Times New Roman"/>
                <a:sym typeface="Times New Roman"/>
              </a:rPr>
              <a:t>Precision</a:t>
            </a:r>
            <a:r>
              <a:rPr lang="en-US" sz="2000" b="0" i="0" u="none" strike="noStrike" cap="none">
                <a:solidFill>
                  <a:schemeClr val="dk1"/>
                </a:solidFill>
                <a:latin typeface="Times New Roman"/>
                <a:ea typeface="Times New Roman"/>
                <a:cs typeface="Times New Roman"/>
                <a:sym typeface="Times New Roman"/>
              </a:rPr>
              <a:t> is a metric that measures how often a machine learning model correctly predicts the positive class. You can calculate precision by dividing the number of correct positive predictions (true positives) by the total number of instances the model predicted as positive (both true and false positives).</a:t>
            </a:r>
            <a:endParaRPr sz="1400" b="0" i="0" u="none" strike="noStrike" cap="none">
              <a:solidFill>
                <a:srgbClr val="000000"/>
              </a:solidFill>
              <a:latin typeface="Arial"/>
              <a:ea typeface="Arial"/>
              <a:cs typeface="Arial"/>
              <a:sym typeface="Arial"/>
            </a:endParaRPr>
          </a:p>
          <a:p>
            <a:pPr marL="228600" marR="0" lvl="0" indent="-101600" algn="l" rtl="0">
              <a:lnSpc>
                <a:spcPct val="90000"/>
              </a:lnSpc>
              <a:spcBef>
                <a:spcPts val="10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chemeClr val="dk1"/>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What is recall?</a:t>
            </a:r>
            <a:endParaRPr sz="1400" b="0" i="0" u="none" strike="noStrike" cap="none">
              <a:solidFill>
                <a:srgbClr val="000000"/>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000"/>
              <a:buFont typeface="Arial"/>
              <a:buChar char="•"/>
            </a:pPr>
            <a:r>
              <a:rPr lang="en-US" sz="2000" b="0" i="0" u="none" strike="noStrike" cap="none">
                <a:solidFill>
                  <a:schemeClr val="dk1"/>
                </a:solidFill>
                <a:latin typeface="Times New Roman"/>
                <a:ea typeface="Times New Roman"/>
                <a:cs typeface="Times New Roman"/>
                <a:sym typeface="Times New Roman"/>
              </a:rPr>
              <a:t>Recall is a metric that measures how often a machine learning model correctly identifies positive instances (true positives) from all the actual positive samples in the dataset. You can calculate recall by dividing the number of true positives by the number of positive instances. The latter includes true positives (successfully identified cases) and false negative results (missed cases).</a:t>
            </a:r>
            <a:endParaRPr sz="1400" b="0" i="0" u="none" strike="noStrike" cap="none">
              <a:solidFill>
                <a:srgbClr val="000000"/>
              </a:solidFill>
              <a:latin typeface="Arial"/>
              <a:ea typeface="Arial"/>
              <a:cs typeface="Arial"/>
              <a:sym typeface="Arial"/>
            </a:endParaRPr>
          </a:p>
          <a:p>
            <a:pPr marL="228600" marR="0" lvl="0" indent="-101600" algn="l" rtl="0">
              <a:lnSpc>
                <a:spcPct val="90000"/>
              </a:lnSpc>
              <a:spcBef>
                <a:spcPts val="1000"/>
              </a:spcBef>
              <a:spcAft>
                <a:spcPts val="0"/>
              </a:spcAft>
              <a:buClr>
                <a:schemeClr val="dk1"/>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301" name="Google Shape;301;p20"/>
          <p:cNvPicPr preferRelativeResize="0"/>
          <p:nvPr/>
        </p:nvPicPr>
        <p:blipFill rotWithShape="1">
          <a:blip r:embed="rId5">
            <a:alphaModFix/>
          </a:blip>
          <a:srcRect/>
          <a:stretch/>
        </p:blipFill>
        <p:spPr>
          <a:xfrm>
            <a:off x="2644280" y="2443305"/>
            <a:ext cx="6477000" cy="1152525"/>
          </a:xfrm>
          <a:prstGeom prst="rect">
            <a:avLst/>
          </a:prstGeom>
          <a:noFill/>
          <a:ln>
            <a:noFill/>
          </a:ln>
        </p:spPr>
      </p:pic>
      <p:pic>
        <p:nvPicPr>
          <p:cNvPr id="302" name="Google Shape;302;p20"/>
          <p:cNvPicPr preferRelativeResize="0"/>
          <p:nvPr/>
        </p:nvPicPr>
        <p:blipFill rotWithShape="1">
          <a:blip r:embed="rId6">
            <a:alphaModFix/>
          </a:blip>
          <a:srcRect/>
          <a:stretch/>
        </p:blipFill>
        <p:spPr>
          <a:xfrm>
            <a:off x="2968130" y="5196670"/>
            <a:ext cx="6153150" cy="1104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2">
          <a:extLst>
            <a:ext uri="{FF2B5EF4-FFF2-40B4-BE49-F238E27FC236}">
              <a16:creationId xmlns:a16="http://schemas.microsoft.com/office/drawing/2014/main" id="{BCF3E118-1638-F5A5-815D-38EA917D12D2}"/>
            </a:ext>
          </a:extLst>
        </p:cNvPr>
        <p:cNvGrpSpPr/>
        <p:nvPr/>
      </p:nvGrpSpPr>
      <p:grpSpPr>
        <a:xfrm>
          <a:off x="0" y="0"/>
          <a:ext cx="0" cy="0"/>
          <a:chOff x="0" y="0"/>
          <a:chExt cx="0" cy="0"/>
        </a:xfrm>
      </p:grpSpPr>
      <p:pic>
        <p:nvPicPr>
          <p:cNvPr id="263" name="Google Shape;263;p17">
            <a:extLst>
              <a:ext uri="{FF2B5EF4-FFF2-40B4-BE49-F238E27FC236}">
                <a16:creationId xmlns:a16="http://schemas.microsoft.com/office/drawing/2014/main" id="{BF1105A9-B195-772E-5512-A992C6EF4C7A}"/>
              </a:ext>
            </a:extLst>
          </p:cNvPr>
          <p:cNvPicPr preferRelativeResize="0"/>
          <p:nvPr/>
        </p:nvPicPr>
        <p:blipFill rotWithShape="1">
          <a:blip r:embed="rId3">
            <a:alphaModFix/>
          </a:blip>
          <a:srcRect b="2862"/>
          <a:stretch/>
        </p:blipFill>
        <p:spPr>
          <a:xfrm>
            <a:off x="-45250" y="-61194"/>
            <a:ext cx="12214948" cy="6874728"/>
          </a:xfrm>
          <a:prstGeom prst="rect">
            <a:avLst/>
          </a:prstGeom>
          <a:noFill/>
          <a:ln>
            <a:noFill/>
          </a:ln>
        </p:spPr>
      </p:pic>
      <p:pic>
        <p:nvPicPr>
          <p:cNvPr id="264" name="Google Shape;264;p17">
            <a:extLst>
              <a:ext uri="{FF2B5EF4-FFF2-40B4-BE49-F238E27FC236}">
                <a16:creationId xmlns:a16="http://schemas.microsoft.com/office/drawing/2014/main" id="{B97041D9-D3A9-11A7-E024-3C14AB97027A}"/>
              </a:ext>
            </a:extLst>
          </p:cNvPr>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65" name="Google Shape;265;p17">
            <a:extLst>
              <a:ext uri="{FF2B5EF4-FFF2-40B4-BE49-F238E27FC236}">
                <a16:creationId xmlns:a16="http://schemas.microsoft.com/office/drawing/2014/main" id="{96559490-920B-F0C0-4DD7-87CD27630DEF}"/>
              </a:ext>
            </a:extLst>
          </p:cNvPr>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66" name="Google Shape;266;p17">
            <a:extLst>
              <a:ext uri="{FF2B5EF4-FFF2-40B4-BE49-F238E27FC236}">
                <a16:creationId xmlns:a16="http://schemas.microsoft.com/office/drawing/2014/main" id="{CD1D8DFA-EC82-BD8A-E6E6-EB81AC93D1F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sp>
        <p:nvSpPr>
          <p:cNvPr id="2" name="Google Shape;152;p9">
            <a:extLst>
              <a:ext uri="{FF2B5EF4-FFF2-40B4-BE49-F238E27FC236}">
                <a16:creationId xmlns:a16="http://schemas.microsoft.com/office/drawing/2014/main" id="{C29FD58B-62CC-7F37-1CDC-921A932F6B31}"/>
              </a:ext>
            </a:extLst>
          </p:cNvPr>
          <p:cNvSpPr txBox="1">
            <a:spLocks noGrp="1"/>
          </p:cNvSpPr>
          <p:nvPr/>
        </p:nvSpPr>
        <p:spPr>
          <a:xfrm>
            <a:off x="954722" y="833549"/>
            <a:ext cx="9720072" cy="115050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C0C0C"/>
              </a:buClr>
              <a:buSzPts val="1800"/>
              <a:buFont typeface="Twentieth Century"/>
              <a:buNone/>
              <a:defRPr sz="5000" b="0" i="0" u="none" strike="noStrike" cap="none">
                <a:solidFill>
                  <a:srgbClr val="0C0C0C"/>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80000"/>
              </a:lnSpc>
              <a:spcBef>
                <a:spcPts val="0"/>
              </a:spcBef>
              <a:spcAft>
                <a:spcPts val="0"/>
              </a:spcAft>
              <a:buClr>
                <a:srgbClr val="0C0C0C"/>
              </a:buClr>
              <a:buSzPts val="5000"/>
              <a:buFont typeface="Twentieth Century"/>
              <a:buNone/>
            </a:pPr>
            <a:r>
              <a:rPr lang="en-US" dirty="0"/>
              <a:t>F1 SCORE</a:t>
            </a:r>
            <a:endParaRPr dirty="0"/>
          </a:p>
        </p:txBody>
      </p:sp>
      <p:sp>
        <p:nvSpPr>
          <p:cNvPr id="3" name="Google Shape;153;p9">
            <a:extLst>
              <a:ext uri="{FF2B5EF4-FFF2-40B4-BE49-F238E27FC236}">
                <a16:creationId xmlns:a16="http://schemas.microsoft.com/office/drawing/2014/main" id="{B88A9E8C-EAF3-7DD8-EE97-F07DD29C5A1D}"/>
              </a:ext>
            </a:extLst>
          </p:cNvPr>
          <p:cNvSpPr txBox="1">
            <a:spLocks noGrp="1"/>
          </p:cNvSpPr>
          <p:nvPr/>
        </p:nvSpPr>
        <p:spPr>
          <a:xfrm>
            <a:off x="1235963" y="2267712"/>
            <a:ext cx="9720073" cy="4023360"/>
          </a:xfrm>
          <a:prstGeom prst="rect">
            <a:avLst/>
          </a:prstGeom>
          <a:noFill/>
          <a:ln>
            <a:noFill/>
          </a:ln>
        </p:spPr>
        <p:txBody>
          <a:bodyPr spcFirstLastPara="1" wrap="square" lIns="45700" tIns="45700" rIns="45700"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200"/>
              </a:spcBef>
              <a:spcAft>
                <a:spcPts val="0"/>
              </a:spcAft>
              <a:buClr>
                <a:schemeClr val="accent1"/>
              </a:buClr>
              <a:buSzPts val="1800"/>
              <a:buFont typeface="Twentieth Century"/>
              <a:buChar char=" "/>
              <a:defRPr sz="2200" b="0" i="0" u="none" strike="noStrike" cap="none">
                <a:solidFill>
                  <a:schemeClr val="dk1"/>
                </a:solidFill>
                <a:latin typeface="Twentieth Century"/>
                <a:ea typeface="Twentieth Century"/>
                <a:cs typeface="Twentieth Century"/>
                <a:sym typeface="Twentieth Century"/>
              </a:defRPr>
            </a:lvl1pPr>
            <a:lvl2pPr marL="914400" marR="0" lvl="1" indent="-342900" algn="l" rtl="0">
              <a:lnSpc>
                <a:spcPct val="90000"/>
              </a:lnSpc>
              <a:spcBef>
                <a:spcPts val="200"/>
              </a:spcBef>
              <a:spcAft>
                <a:spcPts val="0"/>
              </a:spcAft>
              <a:buClr>
                <a:schemeClr val="accent1"/>
              </a:buClr>
              <a:buSzPts val="1800"/>
              <a:buFont typeface="Noto Sans Symbols"/>
              <a:buChar char="🢝"/>
              <a:defRPr sz="1800" b="0" i="0" u="none" strike="noStrike" cap="none">
                <a:solidFill>
                  <a:schemeClr val="dk1"/>
                </a:solidFill>
                <a:latin typeface="Twentieth Century"/>
                <a:ea typeface="Twentieth Century"/>
                <a:cs typeface="Twentieth Century"/>
                <a:sym typeface="Twentieth Century"/>
              </a:defRPr>
            </a:lvl2pPr>
            <a:lvl3pPr marL="1371600" marR="0" lvl="2"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3pPr>
            <a:lvl4pPr marL="1828800" marR="0" lvl="3"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4pPr>
            <a:lvl5pPr marL="2286000" marR="0" lvl="4"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5pPr>
            <a:lvl6pPr marL="2743200" marR="0" lvl="5"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400"/>
              </a:spcBef>
              <a:spcAft>
                <a:spcPts val="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400"/>
              </a:spcBef>
              <a:spcAft>
                <a:spcPts val="400"/>
              </a:spcAft>
              <a:buClr>
                <a:schemeClr val="accent1"/>
              </a:buClr>
              <a:buSzPts val="18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pPr marL="91440" lvl="0" indent="-152400" algn="l" rtl="0">
              <a:lnSpc>
                <a:spcPct val="90000"/>
              </a:lnSpc>
              <a:spcBef>
                <a:spcPts val="0"/>
              </a:spcBef>
              <a:spcAft>
                <a:spcPts val="0"/>
              </a:spcAft>
              <a:buSzPts val="2400"/>
              <a:buChar char=" "/>
            </a:pPr>
            <a:r>
              <a:rPr lang="en-US" sz="2400"/>
              <a:t>F1 score is a weighted average of the recall (sensitivity) and precision.</a:t>
            </a:r>
            <a:endParaRPr sz="2400"/>
          </a:p>
        </p:txBody>
      </p:sp>
      <p:pic>
        <p:nvPicPr>
          <p:cNvPr id="4" name="Google Shape;154;p9">
            <a:extLst>
              <a:ext uri="{FF2B5EF4-FFF2-40B4-BE49-F238E27FC236}">
                <a16:creationId xmlns:a16="http://schemas.microsoft.com/office/drawing/2014/main" id="{10589511-61E3-E157-B5BF-6E642A79E05E}"/>
              </a:ext>
            </a:extLst>
          </p:cNvPr>
          <p:cNvPicPr preferRelativeResize="0"/>
          <p:nvPr/>
        </p:nvPicPr>
        <p:blipFill rotWithShape="1">
          <a:blip r:embed="rId5">
            <a:alphaModFix/>
          </a:blip>
          <a:srcRect/>
          <a:stretch/>
        </p:blipFill>
        <p:spPr>
          <a:xfrm>
            <a:off x="3731031" y="3622749"/>
            <a:ext cx="4624309" cy="763011"/>
          </a:xfrm>
          <a:prstGeom prst="rect">
            <a:avLst/>
          </a:prstGeom>
          <a:noFill/>
          <a:ln>
            <a:noFill/>
          </a:ln>
        </p:spPr>
      </p:pic>
    </p:spTree>
    <p:extLst>
      <p:ext uri="{BB962C8B-B14F-4D97-AF65-F5344CB8AC3E}">
        <p14:creationId xmlns:p14="http://schemas.microsoft.com/office/powerpoint/2010/main" val="3125397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p2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297" name="Google Shape;297;p2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98" name="Google Shape;298;p2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99" name="Google Shape;29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sp>
        <p:nvSpPr>
          <p:cNvPr id="2" name="Rectangle 1"/>
          <p:cNvSpPr/>
          <p:nvPr/>
        </p:nvSpPr>
        <p:spPr>
          <a:xfrm>
            <a:off x="22302" y="956548"/>
            <a:ext cx="6096000" cy="1815882"/>
          </a:xfrm>
          <a:prstGeom prst="rect">
            <a:avLst/>
          </a:prstGeom>
        </p:spPr>
        <p:txBody>
          <a:bodyPr>
            <a:spAutoFit/>
          </a:bodyPr>
          <a:lstStyle/>
          <a:p>
            <a:r>
              <a:rPr lang="en-US" sz="1600" dirty="0"/>
              <a:t>A classification model predicts whether a customer will churn (leave the service). The model's predictions on a test set are evaluated against the actual outcomes, resulting in the following confusion matrix: Based on this confusion matrix, calculate the following </a:t>
            </a:r>
            <a:r>
              <a:rPr lang="en-US" sz="1600" b="1" dirty="0"/>
              <a:t>Level 2</a:t>
            </a:r>
            <a:r>
              <a:rPr lang="en-US" sz="1600" dirty="0"/>
              <a:t> metrics:</a:t>
            </a:r>
          </a:p>
          <a:p>
            <a:pPr>
              <a:buFont typeface="+mj-lt"/>
              <a:buAutoNum type="arabicPeriod"/>
            </a:pPr>
            <a:r>
              <a:rPr lang="en-US" sz="1600" b="1" dirty="0"/>
              <a:t>Accuracy 2. Precision 3. Recall  4. F1-Score</a:t>
            </a:r>
            <a:endParaRPr lang="en-US" sz="1600" dirty="0"/>
          </a:p>
          <a:p>
            <a:endParaRPr lang="en-IN" sz="1600" dirty="0"/>
          </a:p>
        </p:txBody>
      </p:sp>
      <p:pic>
        <p:nvPicPr>
          <p:cNvPr id="3" name="Picture 2"/>
          <p:cNvPicPr>
            <a:picLocks noChangeAspect="1"/>
          </p:cNvPicPr>
          <p:nvPr/>
        </p:nvPicPr>
        <p:blipFill>
          <a:blip r:embed="rId5"/>
          <a:stretch>
            <a:fillRect/>
          </a:stretch>
        </p:blipFill>
        <p:spPr>
          <a:xfrm>
            <a:off x="6421120" y="1065074"/>
            <a:ext cx="4541520" cy="1485086"/>
          </a:xfrm>
          <a:prstGeom prst="rect">
            <a:avLst/>
          </a:prstGeom>
        </p:spPr>
      </p:pic>
      <p:sp>
        <p:nvSpPr>
          <p:cNvPr id="4" name="Rectangle 3"/>
          <p:cNvSpPr/>
          <p:nvPr/>
        </p:nvSpPr>
        <p:spPr>
          <a:xfrm>
            <a:off x="-22948" y="2021224"/>
            <a:ext cx="6096000" cy="338554"/>
          </a:xfrm>
          <a:prstGeom prst="rect">
            <a:avLst/>
          </a:prstGeom>
        </p:spPr>
        <p:txBody>
          <a:bodyPr>
            <a:spAutoFit/>
          </a:bodyPr>
          <a:lstStyle/>
          <a:p>
            <a:endParaRPr lang="en-US" sz="1600" dirty="0"/>
          </a:p>
        </p:txBody>
      </p:sp>
      <p:pic>
        <p:nvPicPr>
          <p:cNvPr id="6" name="Picture 5"/>
          <p:cNvPicPr>
            <a:picLocks noChangeAspect="1"/>
          </p:cNvPicPr>
          <p:nvPr/>
        </p:nvPicPr>
        <p:blipFill>
          <a:blip r:embed="rId6"/>
          <a:stretch>
            <a:fillRect/>
          </a:stretch>
        </p:blipFill>
        <p:spPr>
          <a:xfrm>
            <a:off x="22302" y="2544445"/>
            <a:ext cx="6510578" cy="4177030"/>
          </a:xfrm>
          <a:prstGeom prst="rect">
            <a:avLst/>
          </a:prstGeom>
        </p:spPr>
      </p:pic>
      <p:pic>
        <p:nvPicPr>
          <p:cNvPr id="7" name="Picture 6"/>
          <p:cNvPicPr>
            <a:picLocks noChangeAspect="1"/>
          </p:cNvPicPr>
          <p:nvPr/>
        </p:nvPicPr>
        <p:blipFill>
          <a:blip r:embed="rId7"/>
          <a:stretch>
            <a:fillRect/>
          </a:stretch>
        </p:blipFill>
        <p:spPr>
          <a:xfrm>
            <a:off x="6118302" y="2550161"/>
            <a:ext cx="6073698" cy="4280196"/>
          </a:xfrm>
          <a:prstGeom prst="rect">
            <a:avLst/>
          </a:prstGeom>
        </p:spPr>
      </p:pic>
    </p:spTree>
    <p:extLst>
      <p:ext uri="{BB962C8B-B14F-4D97-AF65-F5344CB8AC3E}">
        <p14:creationId xmlns:p14="http://schemas.microsoft.com/office/powerpoint/2010/main" val="2388054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p20"/>
          <p:cNvPicPr preferRelativeResize="0"/>
          <p:nvPr/>
        </p:nvPicPr>
        <p:blipFill rotWithShape="1">
          <a:blip r:embed="rId3">
            <a:alphaModFix/>
          </a:blip>
          <a:srcRect b="2862"/>
          <a:stretch/>
        </p:blipFill>
        <p:spPr>
          <a:xfrm>
            <a:off x="-22948" y="-130828"/>
            <a:ext cx="12214948" cy="6988828"/>
          </a:xfrm>
          <a:prstGeom prst="rect">
            <a:avLst/>
          </a:prstGeom>
          <a:noFill/>
          <a:ln>
            <a:noFill/>
          </a:ln>
        </p:spPr>
      </p:pic>
      <p:pic>
        <p:nvPicPr>
          <p:cNvPr id="297" name="Google Shape;297;p2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298" name="Google Shape;298;p2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299" name="Google Shape;29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sp>
        <p:nvSpPr>
          <p:cNvPr id="2" name="Rectangle 1"/>
          <p:cNvSpPr/>
          <p:nvPr/>
        </p:nvSpPr>
        <p:spPr>
          <a:xfrm>
            <a:off x="22302" y="804860"/>
            <a:ext cx="11795760" cy="2339102"/>
          </a:xfrm>
          <a:prstGeom prst="rect">
            <a:avLst/>
          </a:prstGeom>
        </p:spPr>
        <p:txBody>
          <a:bodyPr wrap="square">
            <a:spAutoFit/>
          </a:bodyPr>
          <a:lstStyle/>
          <a:p>
            <a:r>
              <a:rPr lang="en-US" sz="1500" dirty="0"/>
              <a:t>A bank's machine learning model is designed to detect fraudulent credit card transactions. </a:t>
            </a:r>
          </a:p>
          <a:p>
            <a:r>
              <a:rPr lang="en-US" sz="1500" dirty="0"/>
              <a:t>A test set of 200 transactions is used to evaluate the model's performance.</a:t>
            </a:r>
          </a:p>
          <a:p>
            <a:pPr>
              <a:buFont typeface="Arial" panose="020B0604020202020204" pitchFamily="34" charset="0"/>
              <a:buChar char="•"/>
            </a:pPr>
            <a:r>
              <a:rPr lang="en-US" sz="1500" dirty="0"/>
              <a:t>Of the </a:t>
            </a:r>
            <a:r>
              <a:rPr lang="en-US" sz="1500" b="1" dirty="0"/>
              <a:t>150 genuine transactions</a:t>
            </a:r>
            <a:r>
              <a:rPr lang="en-US" sz="1500" dirty="0"/>
              <a:t>, the model correctly identified </a:t>
            </a:r>
            <a:r>
              <a:rPr lang="en-US" sz="1500" b="1" dirty="0"/>
              <a:t>135</a:t>
            </a:r>
            <a:r>
              <a:rPr lang="en-US" sz="1500" dirty="0"/>
              <a:t> as genuine.</a:t>
            </a:r>
          </a:p>
          <a:p>
            <a:pPr>
              <a:buFont typeface="Arial" panose="020B0604020202020204" pitchFamily="34" charset="0"/>
              <a:buChar char="•"/>
            </a:pPr>
            <a:r>
              <a:rPr lang="en-US" sz="1500" dirty="0"/>
              <a:t>Of the </a:t>
            </a:r>
            <a:r>
              <a:rPr lang="en-US" sz="1500" b="1" dirty="0"/>
              <a:t>50 fraudulent transactions</a:t>
            </a:r>
            <a:r>
              <a:rPr lang="en-US" sz="1500" dirty="0"/>
              <a:t>, the model correctly identified </a:t>
            </a:r>
            <a:r>
              <a:rPr lang="en-US" sz="1500" b="1" dirty="0"/>
              <a:t>40</a:t>
            </a:r>
            <a:r>
              <a:rPr lang="en-US" sz="1500" dirty="0"/>
              <a:t> as fraudulent.</a:t>
            </a:r>
          </a:p>
          <a:p>
            <a:r>
              <a:rPr lang="en-US" sz="1500" dirty="0"/>
              <a:t>Based on this information, calculate the following metrics:</a:t>
            </a:r>
          </a:p>
          <a:p>
            <a:r>
              <a:rPr lang="en-US" sz="1600" b="1" dirty="0"/>
              <a:t>1. Accuracy 2. Precision for fraudulent transactions</a:t>
            </a:r>
            <a:endParaRPr lang="en-US" sz="1600" dirty="0"/>
          </a:p>
          <a:p>
            <a:r>
              <a:rPr lang="en-US" sz="1600" b="1" dirty="0"/>
              <a:t>3. Recall for fraudulent transactions </a:t>
            </a:r>
          </a:p>
          <a:p>
            <a:r>
              <a:rPr lang="en-US" sz="1600" b="1" dirty="0"/>
              <a:t>4. F1-Score for fraudulent transactions</a:t>
            </a:r>
            <a:endParaRPr lang="en-US" sz="1600" dirty="0"/>
          </a:p>
          <a:p>
            <a:pPr>
              <a:buFont typeface="Arial" panose="020B0604020202020204" pitchFamily="34" charset="0"/>
              <a:buChar char="•"/>
            </a:pPr>
            <a:endParaRPr lang="en-US" sz="1800" dirty="0"/>
          </a:p>
        </p:txBody>
      </p:sp>
      <p:sp>
        <p:nvSpPr>
          <p:cNvPr id="3" name="Rectangle 2"/>
          <p:cNvSpPr/>
          <p:nvPr/>
        </p:nvSpPr>
        <p:spPr>
          <a:xfrm>
            <a:off x="-12257" y="2887681"/>
            <a:ext cx="6977938" cy="3970318"/>
          </a:xfrm>
          <a:prstGeom prst="rect">
            <a:avLst/>
          </a:prstGeom>
        </p:spPr>
        <p:txBody>
          <a:bodyPr wrap="square">
            <a:spAutoFit/>
          </a:bodyPr>
          <a:lstStyle/>
          <a:p>
            <a:r>
              <a:rPr lang="en-IN" b="1" dirty="0"/>
              <a:t>Construct the Confusion Matrix</a:t>
            </a:r>
            <a:endParaRPr lang="en-IN" dirty="0"/>
          </a:p>
          <a:p>
            <a:r>
              <a:rPr lang="en-IN" dirty="0"/>
              <a:t>First, let's identify the four key values (TP, TN, FP, FN) from the provided information.</a:t>
            </a:r>
          </a:p>
          <a:p>
            <a:pPr>
              <a:buFont typeface="Arial" panose="020B0604020202020204" pitchFamily="34" charset="0"/>
              <a:buChar char="•"/>
            </a:pPr>
            <a:r>
              <a:rPr lang="en-IN" b="1" dirty="0"/>
              <a:t>True Positive (TP):</a:t>
            </a:r>
            <a:r>
              <a:rPr lang="en-IN" dirty="0"/>
              <a:t> The model correctly predicted fraudulent transactions.</a:t>
            </a:r>
          </a:p>
          <a:p>
            <a:pPr marL="742950" lvl="1" indent="-285750">
              <a:buFont typeface="Arial" panose="020B0604020202020204" pitchFamily="34" charset="0"/>
              <a:buChar char="•"/>
            </a:pPr>
            <a:r>
              <a:rPr lang="en-IN" i="1" dirty="0"/>
              <a:t>Given:</a:t>
            </a:r>
            <a:r>
              <a:rPr lang="en-IN" dirty="0"/>
              <a:t> 40 fraudulent transactions were correctly identified.</a:t>
            </a:r>
          </a:p>
          <a:p>
            <a:pPr marL="742950" lvl="1" indent="-285750">
              <a:buFont typeface="Arial" panose="020B0604020202020204" pitchFamily="34" charset="0"/>
              <a:buChar char="•"/>
            </a:pPr>
            <a:r>
              <a:rPr lang="en-IN" b="1" dirty="0"/>
              <a:t>TP=40</a:t>
            </a:r>
          </a:p>
          <a:p>
            <a:pPr>
              <a:buFont typeface="Arial" panose="020B0604020202020204" pitchFamily="34" charset="0"/>
              <a:buChar char="•"/>
            </a:pPr>
            <a:r>
              <a:rPr lang="en-IN" b="1" dirty="0"/>
              <a:t>True Negative (TN):</a:t>
            </a:r>
            <a:r>
              <a:rPr lang="en-IN" dirty="0"/>
              <a:t> The model correctly predicted genuine transactions.</a:t>
            </a:r>
          </a:p>
          <a:p>
            <a:pPr marL="742950" lvl="1" indent="-285750">
              <a:buFont typeface="Arial" panose="020B0604020202020204" pitchFamily="34" charset="0"/>
              <a:buChar char="•"/>
            </a:pPr>
            <a:r>
              <a:rPr lang="en-IN" i="1" dirty="0"/>
              <a:t>Given:</a:t>
            </a:r>
            <a:r>
              <a:rPr lang="en-IN" dirty="0"/>
              <a:t> 135 genuine transactions were correctly identified.</a:t>
            </a:r>
          </a:p>
          <a:p>
            <a:pPr marL="742950" lvl="1" indent="-285750">
              <a:buFont typeface="Arial" panose="020B0604020202020204" pitchFamily="34" charset="0"/>
              <a:buChar char="•"/>
            </a:pPr>
            <a:r>
              <a:rPr lang="en-IN" b="1" dirty="0"/>
              <a:t>TN=135</a:t>
            </a:r>
          </a:p>
          <a:p>
            <a:pPr>
              <a:buFont typeface="Arial" panose="020B0604020202020204" pitchFamily="34" charset="0"/>
              <a:buChar char="•"/>
            </a:pPr>
            <a:r>
              <a:rPr lang="en-IN" b="1" dirty="0"/>
              <a:t>False Positive (FP):</a:t>
            </a:r>
            <a:r>
              <a:rPr lang="en-IN" dirty="0"/>
              <a:t> The model incorrectly predicted genuine transactions as fraudulent.</a:t>
            </a:r>
          </a:p>
          <a:p>
            <a:pPr marL="742950" lvl="1" indent="-285750">
              <a:buFont typeface="Arial" panose="020B0604020202020204" pitchFamily="34" charset="0"/>
              <a:buChar char="•"/>
            </a:pPr>
            <a:r>
              <a:rPr lang="en-IN" i="1" dirty="0"/>
              <a:t>Calculation:</a:t>
            </a:r>
            <a:r>
              <a:rPr lang="en-IN" dirty="0"/>
              <a:t> Total genuine transactions - correctly identified genuine transactions.</a:t>
            </a:r>
          </a:p>
          <a:p>
            <a:pPr marL="742950" lvl="1" indent="-285750">
              <a:buFont typeface="Arial" panose="020B0604020202020204" pitchFamily="34" charset="0"/>
              <a:buChar char="•"/>
            </a:pPr>
            <a:r>
              <a:rPr lang="en-IN" b="1" dirty="0"/>
              <a:t>FP=150−135=15</a:t>
            </a:r>
          </a:p>
          <a:p>
            <a:pPr>
              <a:buFont typeface="Arial" panose="020B0604020202020204" pitchFamily="34" charset="0"/>
              <a:buChar char="•"/>
            </a:pPr>
            <a:r>
              <a:rPr lang="en-IN" b="1" dirty="0"/>
              <a:t>False Negative (FN):</a:t>
            </a:r>
            <a:r>
              <a:rPr lang="en-IN" dirty="0"/>
              <a:t> The model incorrectly predicted fraudulent transactions as genuine.</a:t>
            </a:r>
          </a:p>
          <a:p>
            <a:pPr marL="742950" lvl="1" indent="-285750">
              <a:buFont typeface="Arial" panose="020B0604020202020204" pitchFamily="34" charset="0"/>
              <a:buChar char="•"/>
            </a:pPr>
            <a:r>
              <a:rPr lang="en-IN" i="1" dirty="0"/>
              <a:t>Calculation:</a:t>
            </a:r>
            <a:r>
              <a:rPr lang="en-IN" dirty="0"/>
              <a:t> Total fraudulent transactions - correctly identified fraudulent transactions.</a:t>
            </a:r>
          </a:p>
          <a:p>
            <a:pPr marL="742950" lvl="1" indent="-285750">
              <a:buFont typeface="Arial" panose="020B0604020202020204" pitchFamily="34" charset="0"/>
              <a:buChar char="•"/>
            </a:pPr>
            <a:r>
              <a:rPr lang="en-IN" b="1" dirty="0"/>
              <a:t>FN=50−40=10</a:t>
            </a:r>
          </a:p>
        </p:txBody>
      </p:sp>
      <p:pic>
        <p:nvPicPr>
          <p:cNvPr id="4" name="Picture 3"/>
          <p:cNvPicPr>
            <a:picLocks noChangeAspect="1"/>
          </p:cNvPicPr>
          <p:nvPr/>
        </p:nvPicPr>
        <p:blipFill>
          <a:blip r:embed="rId5"/>
          <a:stretch>
            <a:fillRect/>
          </a:stretch>
        </p:blipFill>
        <p:spPr>
          <a:xfrm>
            <a:off x="7122160" y="1076961"/>
            <a:ext cx="5069840" cy="2167290"/>
          </a:xfrm>
          <a:prstGeom prst="rect">
            <a:avLst/>
          </a:prstGeom>
        </p:spPr>
      </p:pic>
      <p:pic>
        <p:nvPicPr>
          <p:cNvPr id="5" name="Picture 4"/>
          <p:cNvPicPr>
            <a:picLocks noChangeAspect="1"/>
          </p:cNvPicPr>
          <p:nvPr/>
        </p:nvPicPr>
        <p:blipFill>
          <a:blip r:embed="rId6"/>
          <a:stretch>
            <a:fillRect/>
          </a:stretch>
        </p:blipFill>
        <p:spPr>
          <a:xfrm>
            <a:off x="6748272" y="2887680"/>
            <a:ext cx="5443728" cy="3970319"/>
          </a:xfrm>
          <a:prstGeom prst="rect">
            <a:avLst/>
          </a:prstGeom>
        </p:spPr>
      </p:pic>
    </p:spTree>
    <p:extLst>
      <p:ext uri="{BB962C8B-B14F-4D97-AF65-F5344CB8AC3E}">
        <p14:creationId xmlns:p14="http://schemas.microsoft.com/office/powerpoint/2010/main" val="614564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21"/>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09" name="Google Shape;309;p21"/>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10" name="Google Shape;310;p21"/>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11" name="Google Shape;31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sp>
        <p:nvSpPr>
          <p:cNvPr id="312" name="Google Shape;312;p21"/>
          <p:cNvSpPr txBox="1"/>
          <p:nvPr/>
        </p:nvSpPr>
        <p:spPr>
          <a:xfrm>
            <a:off x="218364" y="1037230"/>
            <a:ext cx="11464120" cy="538372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000"/>
              <a:buFont typeface="Arial"/>
              <a:buNone/>
            </a:pPr>
            <a:r>
              <a:rPr lang="en-US" sz="2800" b="1" i="0" u="none" strike="noStrike" cap="none" dirty="0">
                <a:solidFill>
                  <a:schemeClr val="dk1"/>
                </a:solidFill>
                <a:latin typeface="Times New Roman"/>
                <a:ea typeface="Times New Roman"/>
                <a:cs typeface="Times New Roman"/>
                <a:sym typeface="Times New Roman"/>
              </a:rPr>
              <a:t>What is underfitting</a:t>
            </a:r>
            <a:endParaRPr sz="2800" b="1" i="0" u="none" strike="noStrike" cap="none" dirty="0">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Underfitting occurs when a model is </a:t>
            </a:r>
            <a:r>
              <a:rPr lang="en-US" sz="2400" b="1" i="0" u="none" strike="noStrike" cap="none" dirty="0">
                <a:solidFill>
                  <a:schemeClr val="dk1"/>
                </a:solidFill>
                <a:latin typeface="Times New Roman"/>
                <a:ea typeface="Times New Roman"/>
                <a:cs typeface="Times New Roman"/>
                <a:sym typeface="Times New Roman"/>
              </a:rPr>
              <a:t>not able </a:t>
            </a:r>
            <a:r>
              <a:rPr lang="en-US" sz="2400" b="0" i="0" u="none" strike="noStrike" cap="none" dirty="0">
                <a:solidFill>
                  <a:schemeClr val="dk1"/>
                </a:solidFill>
                <a:latin typeface="Times New Roman"/>
                <a:ea typeface="Times New Roman"/>
                <a:cs typeface="Times New Roman"/>
                <a:sym typeface="Times New Roman"/>
              </a:rPr>
              <a:t>to make accurate predictions based on training data and hence, doesn’t have the capacity to </a:t>
            </a:r>
            <a:r>
              <a:rPr lang="en-US" sz="2400" b="1" i="0" u="none" strike="noStrike" cap="none" dirty="0">
                <a:solidFill>
                  <a:schemeClr val="dk1"/>
                </a:solidFill>
                <a:latin typeface="Times New Roman"/>
                <a:ea typeface="Times New Roman"/>
                <a:cs typeface="Times New Roman"/>
                <a:sym typeface="Times New Roman"/>
              </a:rPr>
              <a:t>generalize well on new data</a:t>
            </a:r>
            <a:r>
              <a:rPr lang="en-US" sz="2400" b="0" i="0" u="none" strike="noStrike" cap="none" dirty="0">
                <a:solidFill>
                  <a:schemeClr val="dk1"/>
                </a:solidFill>
                <a:latin typeface="Times New Roman"/>
                <a:ea typeface="Times New Roman"/>
                <a:cs typeface="Times New Roman"/>
                <a:sym typeface="Times New Roman"/>
              </a:rPr>
              <a:t>. Another case of underfitting is when a model is </a:t>
            </a:r>
            <a:r>
              <a:rPr lang="en-US" sz="2400" b="1" i="0" u="none" strike="noStrike" cap="none" dirty="0">
                <a:solidFill>
                  <a:schemeClr val="dk1"/>
                </a:solidFill>
                <a:latin typeface="Times New Roman"/>
                <a:ea typeface="Times New Roman"/>
                <a:cs typeface="Times New Roman"/>
                <a:sym typeface="Times New Roman"/>
              </a:rPr>
              <a:t>not</a:t>
            </a:r>
            <a:r>
              <a:rPr lang="en-US" sz="2400" b="0" i="0" u="none" strike="noStrike" cap="none" dirty="0">
                <a:solidFill>
                  <a:schemeClr val="dk1"/>
                </a:solidFill>
                <a:latin typeface="Times New Roman"/>
                <a:ea typeface="Times New Roman"/>
                <a:cs typeface="Times New Roman"/>
                <a:sym typeface="Times New Roman"/>
              </a:rPr>
              <a:t> able to </a:t>
            </a:r>
            <a:r>
              <a:rPr lang="en-US" sz="2400" b="1" i="0" u="none" strike="noStrike" cap="none" dirty="0">
                <a:solidFill>
                  <a:schemeClr val="dk1"/>
                </a:solidFill>
                <a:latin typeface="Times New Roman"/>
                <a:ea typeface="Times New Roman"/>
                <a:cs typeface="Times New Roman"/>
                <a:sym typeface="Times New Roman"/>
              </a:rPr>
              <a:t>learn enough </a:t>
            </a:r>
            <a:r>
              <a:rPr lang="en-US" sz="2400" b="0" i="0" u="none" strike="noStrike" cap="none" dirty="0">
                <a:solidFill>
                  <a:schemeClr val="dk1"/>
                </a:solidFill>
                <a:latin typeface="Times New Roman"/>
                <a:ea typeface="Times New Roman"/>
                <a:cs typeface="Times New Roman"/>
                <a:sym typeface="Times New Roman"/>
              </a:rPr>
              <a:t>from training data (Fig), making it difficult to capture the dominating trend (the model is unable to create a mapping between the input and the target variable).</a:t>
            </a:r>
            <a:endParaRPr sz="1600" b="0" i="0" u="none" strike="noStrike" cap="none" dirty="0">
              <a:solidFill>
                <a:srgbClr val="000000"/>
              </a:solidFill>
              <a:latin typeface="Arial"/>
              <a:ea typeface="Arial"/>
              <a:cs typeface="Arial"/>
              <a:sym typeface="Arial"/>
            </a:endParaRPr>
          </a:p>
          <a:p>
            <a:pPr marL="228600" marR="0" lvl="0" indent="-101600" algn="l" rtl="0">
              <a:lnSpc>
                <a:spcPct val="90000"/>
              </a:lnSpc>
              <a:spcBef>
                <a:spcPts val="10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pic>
        <p:nvPicPr>
          <p:cNvPr id="313" name="Google Shape;313;p21"/>
          <p:cNvPicPr preferRelativeResize="0"/>
          <p:nvPr/>
        </p:nvPicPr>
        <p:blipFill rotWithShape="1">
          <a:blip r:embed="rId5">
            <a:alphaModFix/>
          </a:blip>
          <a:srcRect/>
          <a:stretch/>
        </p:blipFill>
        <p:spPr>
          <a:xfrm>
            <a:off x="1746867" y="3840480"/>
            <a:ext cx="7872044" cy="3032422"/>
          </a:xfrm>
          <a:prstGeom prst="rect">
            <a:avLst/>
          </a:prstGeom>
          <a:noFill/>
          <a:ln>
            <a:noFill/>
          </a:ln>
        </p:spPr>
      </p:pic>
      <p:pic>
        <p:nvPicPr>
          <p:cNvPr id="8" name="Picture 7"/>
          <p:cNvPicPr>
            <a:picLocks noChangeAspect="1"/>
          </p:cNvPicPr>
          <p:nvPr/>
        </p:nvPicPr>
        <p:blipFill rotWithShape="1">
          <a:blip r:embed="rId6"/>
          <a:srcRect t="11163" b="5596"/>
          <a:stretch/>
        </p:blipFill>
        <p:spPr>
          <a:xfrm>
            <a:off x="22302" y="1037230"/>
            <a:ext cx="12169698" cy="264069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p22"/>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20" name="Google Shape;320;p22"/>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21" name="Google Shape;321;p22"/>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22" name="Google Shape;32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sp>
        <p:nvSpPr>
          <p:cNvPr id="323" name="Google Shape;323;p22"/>
          <p:cNvSpPr txBox="1"/>
          <p:nvPr/>
        </p:nvSpPr>
        <p:spPr>
          <a:xfrm>
            <a:off x="14243" y="833549"/>
            <a:ext cx="11737074" cy="545196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000"/>
              <a:buFont typeface="Arial"/>
              <a:buNone/>
            </a:pPr>
            <a:r>
              <a:rPr lang="en-US" sz="2800" b="1" i="0" u="none" strike="noStrike" cap="none" dirty="0">
                <a:solidFill>
                  <a:schemeClr val="dk1"/>
                </a:solidFill>
                <a:latin typeface="Times New Roman"/>
                <a:ea typeface="Times New Roman"/>
                <a:cs typeface="Times New Roman"/>
                <a:sym typeface="Times New Roman"/>
              </a:rPr>
              <a:t>What is overfitting</a:t>
            </a:r>
            <a:endParaRPr sz="2800" b="1" i="0" u="none" strike="noStrike" cap="none" dirty="0">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A model is considered overfitting when it </a:t>
            </a:r>
            <a:r>
              <a:rPr lang="en-US" sz="2800" b="1" i="0" u="none" strike="noStrike" cap="none" dirty="0">
                <a:solidFill>
                  <a:schemeClr val="dk1"/>
                </a:solidFill>
                <a:latin typeface="Times New Roman"/>
                <a:ea typeface="Times New Roman"/>
                <a:cs typeface="Times New Roman"/>
                <a:sym typeface="Times New Roman"/>
              </a:rPr>
              <a:t>does extremely well on training data </a:t>
            </a:r>
            <a:r>
              <a:rPr lang="en-US" sz="2800" b="0" i="0" u="none" strike="noStrike" cap="none" dirty="0">
                <a:solidFill>
                  <a:schemeClr val="dk1"/>
                </a:solidFill>
                <a:latin typeface="Times New Roman"/>
                <a:ea typeface="Times New Roman"/>
                <a:cs typeface="Times New Roman"/>
                <a:sym typeface="Times New Roman"/>
              </a:rPr>
              <a:t>but </a:t>
            </a:r>
            <a:r>
              <a:rPr lang="en-US" sz="2800" b="1" i="0" u="none" strike="noStrike" cap="none" dirty="0">
                <a:solidFill>
                  <a:schemeClr val="dk1"/>
                </a:solidFill>
                <a:latin typeface="Times New Roman"/>
                <a:ea typeface="Times New Roman"/>
                <a:cs typeface="Times New Roman"/>
                <a:sym typeface="Times New Roman"/>
              </a:rPr>
              <a:t>fails to perform</a:t>
            </a:r>
            <a:r>
              <a:rPr lang="en-US" sz="2800" b="0" i="0" u="none" strike="noStrike" cap="none" dirty="0">
                <a:solidFill>
                  <a:schemeClr val="dk1"/>
                </a:solidFill>
                <a:latin typeface="Times New Roman"/>
                <a:ea typeface="Times New Roman"/>
                <a:cs typeface="Times New Roman"/>
                <a:sym typeface="Times New Roman"/>
              </a:rPr>
              <a:t> on the same level on the </a:t>
            </a:r>
            <a:r>
              <a:rPr lang="en-US" sz="2800" b="1" i="0" u="none" strike="noStrike" cap="none" dirty="0">
                <a:solidFill>
                  <a:schemeClr val="dk1"/>
                </a:solidFill>
                <a:latin typeface="Times New Roman"/>
                <a:ea typeface="Times New Roman"/>
                <a:cs typeface="Times New Roman"/>
                <a:sym typeface="Times New Roman"/>
              </a:rPr>
              <a:t>validation data </a:t>
            </a:r>
            <a:r>
              <a:rPr lang="en-US" sz="2800" b="0" i="0" u="none" strike="noStrike" cap="none" dirty="0">
                <a:solidFill>
                  <a:schemeClr val="dk1"/>
                </a:solidFill>
                <a:latin typeface="Times New Roman"/>
                <a:ea typeface="Times New Roman"/>
                <a:cs typeface="Times New Roman"/>
                <a:sym typeface="Times New Roman"/>
              </a:rPr>
              <a:t>(like the child who memorized every math problem in the problem book and would struggle when facing problems from anywhere else). An overfitting model </a:t>
            </a:r>
            <a:r>
              <a:rPr lang="en-US" sz="2800" b="1" i="0" u="none" strike="noStrike" cap="none" dirty="0">
                <a:solidFill>
                  <a:schemeClr val="dk1"/>
                </a:solidFill>
                <a:latin typeface="Times New Roman"/>
                <a:ea typeface="Times New Roman"/>
                <a:cs typeface="Times New Roman"/>
                <a:sym typeface="Times New Roman"/>
              </a:rPr>
              <a:t>fails to generalize </a:t>
            </a:r>
            <a:r>
              <a:rPr lang="en-US" sz="2800" b="0" i="0" u="none" strike="noStrike" cap="none" dirty="0">
                <a:solidFill>
                  <a:schemeClr val="dk1"/>
                </a:solidFill>
                <a:latin typeface="Times New Roman"/>
                <a:ea typeface="Times New Roman"/>
                <a:cs typeface="Times New Roman"/>
                <a:sym typeface="Times New Roman"/>
              </a:rPr>
              <a:t>well, as it learns the noise and patterns of the training data to the point where it negatively impacts the performance of the model on new data (fig). </a:t>
            </a:r>
            <a:endParaRPr sz="2800" b="0" i="0" u="none" strike="noStrike" cap="none" dirty="0">
              <a:solidFill>
                <a:schemeClr val="dk1"/>
              </a:solidFill>
              <a:latin typeface="Times New Roman"/>
              <a:ea typeface="Times New Roman"/>
              <a:cs typeface="Times New Roman"/>
              <a:sym typeface="Times New Roman"/>
            </a:endParaRPr>
          </a:p>
        </p:txBody>
      </p:sp>
      <p:pic>
        <p:nvPicPr>
          <p:cNvPr id="324" name="Google Shape;324;p22"/>
          <p:cNvPicPr preferRelativeResize="0"/>
          <p:nvPr/>
        </p:nvPicPr>
        <p:blipFill rotWithShape="1">
          <a:blip r:embed="rId5">
            <a:alphaModFix/>
          </a:blip>
          <a:srcRect/>
          <a:stretch/>
        </p:blipFill>
        <p:spPr>
          <a:xfrm>
            <a:off x="1520587" y="4013199"/>
            <a:ext cx="8461613" cy="262112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pic>
        <p:nvPicPr>
          <p:cNvPr id="330" name="Google Shape;330;p23"/>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31" name="Google Shape;331;p23"/>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32" name="Google Shape;332;p23"/>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33" name="Google Shape;33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sp>
        <p:nvSpPr>
          <p:cNvPr id="334" name="Google Shape;334;p23"/>
          <p:cNvSpPr txBox="1"/>
          <p:nvPr/>
        </p:nvSpPr>
        <p:spPr>
          <a:xfrm>
            <a:off x="150720" y="747116"/>
            <a:ext cx="11464120" cy="5383729"/>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1000"/>
              </a:spcBef>
              <a:spcAft>
                <a:spcPts val="0"/>
              </a:spcAft>
              <a:buClr>
                <a:schemeClr val="dk1"/>
              </a:buClr>
              <a:buSzPts val="2400"/>
              <a:buFont typeface="Arial"/>
              <a:buNone/>
            </a:pPr>
            <a:r>
              <a:rPr lang="en-US" sz="2400" b="1" i="0" u="none" strike="noStrike" cap="none" dirty="0">
                <a:solidFill>
                  <a:schemeClr val="dk1"/>
                </a:solidFill>
                <a:latin typeface="Times New Roman"/>
                <a:ea typeface="Times New Roman"/>
                <a:cs typeface="Times New Roman"/>
                <a:sym typeface="Times New Roman"/>
              </a:rPr>
              <a:t>Reasons for Under fitting</a:t>
            </a:r>
            <a:endParaRPr sz="2400" b="1" i="0" u="none" strike="noStrike" cap="none" dirty="0">
              <a:solidFill>
                <a:schemeClr val="dk1"/>
              </a:solidFill>
              <a:latin typeface="Times New Roman"/>
              <a:ea typeface="Times New Roman"/>
              <a:cs typeface="Times New Roman"/>
              <a:sym typeface="Times New Roman"/>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The model is too simple, So it may be not capable to represent the complexities in the data.</a:t>
            </a:r>
            <a:endParaRPr sz="16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The input features which is used to train the model is not the adequate representations of underlying factors influencing the target variable.</a:t>
            </a:r>
            <a:endParaRPr sz="16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The size of the training dataset used is not enough.</a:t>
            </a:r>
            <a:endParaRPr sz="16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Excessive regularization are used to prevent the overfitting, which constraint the model to capture the data well.</a:t>
            </a:r>
            <a:endParaRPr sz="16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Features are not scaled.</a:t>
            </a:r>
            <a:endParaRPr sz="1600" b="0" i="0" u="none" strike="noStrike" cap="none" dirty="0">
              <a:solidFill>
                <a:srgbClr val="000000"/>
              </a:solidFill>
              <a:latin typeface="Arial"/>
              <a:ea typeface="Arial"/>
              <a:cs typeface="Arial"/>
              <a:sym typeface="Arial"/>
            </a:endParaRPr>
          </a:p>
          <a:p>
            <a:pPr marL="0" marR="0" lvl="0" indent="0" algn="just" rtl="0">
              <a:lnSpc>
                <a:spcPct val="90000"/>
              </a:lnSpc>
              <a:spcBef>
                <a:spcPts val="1000"/>
              </a:spcBef>
              <a:spcAft>
                <a:spcPts val="0"/>
              </a:spcAft>
              <a:buClr>
                <a:schemeClr val="dk1"/>
              </a:buClr>
              <a:buSzPts val="2400"/>
              <a:buFont typeface="Arial"/>
              <a:buNone/>
            </a:pPr>
            <a:r>
              <a:rPr lang="en-US" sz="2400" b="1" i="0" u="none" strike="noStrike" cap="none" dirty="0">
                <a:solidFill>
                  <a:schemeClr val="dk1"/>
                </a:solidFill>
                <a:latin typeface="Times New Roman"/>
                <a:ea typeface="Times New Roman"/>
                <a:cs typeface="Times New Roman"/>
                <a:sym typeface="Times New Roman"/>
              </a:rPr>
              <a:t>Reasons for Overfitting</a:t>
            </a:r>
            <a:r>
              <a:rPr lang="en-US" sz="2000" b="1" i="0" u="none" strike="noStrike" cap="none" dirty="0">
                <a:solidFill>
                  <a:schemeClr val="dk1"/>
                </a:solidFill>
                <a:latin typeface="Times New Roman"/>
                <a:ea typeface="Times New Roman"/>
                <a:cs typeface="Times New Roman"/>
                <a:sym typeface="Times New Roman"/>
              </a:rPr>
              <a:t>:</a:t>
            </a:r>
            <a:endParaRPr sz="14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High variance and low bias.</a:t>
            </a:r>
            <a:endParaRPr sz="2400" b="0" i="0" u="none" strike="noStrike" cap="none" dirty="0">
              <a:solidFill>
                <a:srgbClr val="000000"/>
              </a:solidFil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The model is too complex.</a:t>
            </a:r>
            <a:endParaRPr sz="2400" b="0" i="0" u="none" strike="noStrike" cap="none" dirty="0">
              <a:solidFill>
                <a:srgbClr val="000000"/>
              </a:solidFil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The size of the training data.</a:t>
            </a:r>
            <a:endParaRPr sz="2400" b="0" i="0" u="none" strike="noStrike" cap="none" dirty="0">
              <a:solidFill>
                <a:srgbClr val="000000"/>
              </a:solidFill>
              <a:sym typeface="Arial"/>
            </a:endParaRPr>
          </a:p>
          <a:p>
            <a:pPr marL="0" marR="0" lvl="0" indent="0" algn="just" rtl="0">
              <a:lnSpc>
                <a:spcPct val="90000"/>
              </a:lnSpc>
              <a:spcBef>
                <a:spcPts val="1000"/>
              </a:spcBef>
              <a:spcAft>
                <a:spcPts val="0"/>
              </a:spcAft>
              <a:buClr>
                <a:schemeClr val="dk1"/>
              </a:buClr>
              <a:buSzPts val="2000"/>
              <a:buFont typeface="Arial"/>
              <a:buNone/>
            </a:pP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pic>
        <p:nvPicPr>
          <p:cNvPr id="340" name="Google Shape;340;p24"/>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41" name="Google Shape;341;p24"/>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42" name="Google Shape;342;p24"/>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43" name="Google Shape;34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
        <p:nvSpPr>
          <p:cNvPr id="344" name="Google Shape;344;p24"/>
          <p:cNvSpPr txBox="1"/>
          <p:nvPr/>
        </p:nvSpPr>
        <p:spPr>
          <a:xfrm>
            <a:off x="316636" y="1201004"/>
            <a:ext cx="11352199" cy="5219956"/>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1000"/>
              </a:spcBef>
              <a:spcAft>
                <a:spcPts val="0"/>
              </a:spcAft>
              <a:buClr>
                <a:schemeClr val="dk1"/>
              </a:buClr>
              <a:buSzPts val="2400"/>
              <a:buFont typeface="Arial"/>
              <a:buNone/>
            </a:pPr>
            <a:r>
              <a:rPr lang="en-US" sz="3200" b="1" i="0" u="none" strike="noStrike" cap="none" dirty="0">
                <a:solidFill>
                  <a:schemeClr val="dk1"/>
                </a:solidFill>
                <a:latin typeface="Times New Roman"/>
                <a:ea typeface="Times New Roman"/>
                <a:cs typeface="Times New Roman"/>
                <a:sym typeface="Times New Roman"/>
              </a:rPr>
              <a:t>How to avoid Overfitting and Underfitting?</a:t>
            </a:r>
            <a:endParaRPr sz="18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To solve the issue of overfitting and underfitting, it is important to choose an </a:t>
            </a:r>
            <a:r>
              <a:rPr lang="en-US" sz="2800" b="1" i="0" u="none" strike="noStrike" cap="none" dirty="0">
                <a:solidFill>
                  <a:schemeClr val="dk1"/>
                </a:solidFill>
                <a:latin typeface="Times New Roman"/>
                <a:ea typeface="Times New Roman"/>
                <a:cs typeface="Times New Roman"/>
                <a:sym typeface="Times New Roman"/>
              </a:rPr>
              <a:t>appropriate model </a:t>
            </a:r>
            <a:r>
              <a:rPr lang="en-US" sz="2800" b="0" i="0" u="none" strike="noStrike" cap="none" dirty="0">
                <a:solidFill>
                  <a:schemeClr val="dk1"/>
                </a:solidFill>
                <a:latin typeface="Times New Roman"/>
                <a:ea typeface="Times New Roman"/>
                <a:cs typeface="Times New Roman"/>
                <a:sym typeface="Times New Roman"/>
              </a:rPr>
              <a:t>for the given dataset.</a:t>
            </a:r>
            <a:endParaRPr sz="18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Hyper-performance </a:t>
            </a:r>
            <a:r>
              <a:rPr lang="en-US" sz="2800" b="1" i="0" u="none" strike="noStrike" cap="none" dirty="0">
                <a:solidFill>
                  <a:schemeClr val="dk1"/>
                </a:solidFill>
                <a:latin typeface="Times New Roman"/>
                <a:ea typeface="Times New Roman"/>
                <a:cs typeface="Times New Roman"/>
                <a:sym typeface="Times New Roman"/>
              </a:rPr>
              <a:t>tuning</a:t>
            </a:r>
            <a:r>
              <a:rPr lang="en-US" sz="2800" b="0" i="0" u="none" strike="noStrike" cap="none" dirty="0">
                <a:solidFill>
                  <a:schemeClr val="dk1"/>
                </a:solidFill>
                <a:latin typeface="Times New Roman"/>
                <a:ea typeface="Times New Roman"/>
                <a:cs typeface="Times New Roman"/>
                <a:sym typeface="Times New Roman"/>
              </a:rPr>
              <a:t> can also be performed.</a:t>
            </a:r>
            <a:endParaRPr sz="18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For overfitting reducing the model complexity can help similarly for underfitting the model complexity can be increased.</a:t>
            </a:r>
            <a:endParaRPr sz="18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800" b="0" i="0" u="none" strike="noStrike" cap="none" dirty="0">
                <a:solidFill>
                  <a:schemeClr val="dk1"/>
                </a:solidFill>
                <a:latin typeface="Times New Roman"/>
                <a:ea typeface="Times New Roman"/>
                <a:cs typeface="Times New Roman"/>
                <a:sym typeface="Times New Roman"/>
              </a:rPr>
              <a:t>As </a:t>
            </a:r>
            <a:r>
              <a:rPr lang="en-US" sz="2800" b="1" i="0" u="none" strike="noStrike" cap="none" dirty="0">
                <a:solidFill>
                  <a:schemeClr val="dk1"/>
                </a:solidFill>
                <a:latin typeface="Times New Roman"/>
                <a:ea typeface="Times New Roman"/>
                <a:cs typeface="Times New Roman"/>
                <a:sym typeface="Times New Roman"/>
              </a:rPr>
              <a:t>overfitting</a:t>
            </a:r>
            <a:r>
              <a:rPr lang="en-US" sz="2800" b="0" i="0" u="none" strike="noStrike" cap="none" dirty="0">
                <a:solidFill>
                  <a:schemeClr val="dk1"/>
                </a:solidFill>
                <a:latin typeface="Times New Roman"/>
                <a:ea typeface="Times New Roman"/>
                <a:cs typeface="Times New Roman"/>
                <a:sym typeface="Times New Roman"/>
              </a:rPr>
              <a:t> is caused due to </a:t>
            </a:r>
            <a:r>
              <a:rPr lang="en-US" sz="2800" b="1" i="0" u="none" strike="noStrike" cap="none" dirty="0">
                <a:solidFill>
                  <a:schemeClr val="dk1"/>
                </a:solidFill>
                <a:latin typeface="Times New Roman"/>
                <a:ea typeface="Times New Roman"/>
                <a:cs typeface="Times New Roman"/>
                <a:sym typeface="Times New Roman"/>
              </a:rPr>
              <a:t>too many features </a:t>
            </a:r>
            <a:r>
              <a:rPr lang="en-US" sz="2800" b="0" i="0" u="none" strike="noStrike" cap="none" dirty="0">
                <a:solidFill>
                  <a:schemeClr val="dk1"/>
                </a:solidFill>
                <a:latin typeface="Times New Roman"/>
                <a:ea typeface="Times New Roman"/>
                <a:cs typeface="Times New Roman"/>
                <a:sym typeface="Times New Roman"/>
              </a:rPr>
              <a:t>in the dataset and </a:t>
            </a:r>
            <a:r>
              <a:rPr lang="en-US" sz="2800" b="1" i="0" u="none" strike="noStrike" cap="none" dirty="0">
                <a:solidFill>
                  <a:schemeClr val="dk1"/>
                </a:solidFill>
                <a:latin typeface="Times New Roman"/>
                <a:ea typeface="Times New Roman"/>
                <a:cs typeface="Times New Roman"/>
                <a:sym typeface="Times New Roman"/>
              </a:rPr>
              <a:t>underfitting</a:t>
            </a:r>
            <a:r>
              <a:rPr lang="en-US" sz="2800" b="0" i="0" u="none" strike="noStrike" cap="none" dirty="0">
                <a:solidFill>
                  <a:schemeClr val="dk1"/>
                </a:solidFill>
                <a:latin typeface="Times New Roman"/>
                <a:ea typeface="Times New Roman"/>
                <a:cs typeface="Times New Roman"/>
                <a:sym typeface="Times New Roman"/>
              </a:rPr>
              <a:t> is caused </a:t>
            </a:r>
            <a:r>
              <a:rPr lang="en-US" sz="2800" b="1" i="0" u="none" strike="noStrike" cap="none" dirty="0">
                <a:solidFill>
                  <a:schemeClr val="dk1"/>
                </a:solidFill>
                <a:latin typeface="Times New Roman"/>
                <a:ea typeface="Times New Roman"/>
                <a:cs typeface="Times New Roman"/>
                <a:sym typeface="Times New Roman"/>
              </a:rPr>
              <a:t>by too few features </a:t>
            </a:r>
            <a:r>
              <a:rPr lang="en-US" sz="2800" b="0" i="0" u="none" strike="noStrike" cap="none" dirty="0">
                <a:solidFill>
                  <a:schemeClr val="dk1"/>
                </a:solidFill>
                <a:latin typeface="Times New Roman"/>
                <a:ea typeface="Times New Roman"/>
                <a:cs typeface="Times New Roman"/>
                <a:sym typeface="Times New Roman"/>
              </a:rPr>
              <a:t>so during feature engineering the numbers of features can be decreased and increased to avoid overfitting and underfitting respectively.</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26"/>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61" name="Google Shape;361;p26"/>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62" name="Google Shape;362;p26"/>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63" name="Google Shape;36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
        <p:nvSpPr>
          <p:cNvPr id="364" name="Google Shape;364;p26"/>
          <p:cNvSpPr txBox="1"/>
          <p:nvPr/>
        </p:nvSpPr>
        <p:spPr>
          <a:xfrm>
            <a:off x="316637" y="1023582"/>
            <a:ext cx="10044154" cy="539737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400"/>
              <a:buFont typeface="Arial"/>
              <a:buNone/>
            </a:pPr>
            <a:r>
              <a:rPr lang="en-US" sz="2800" b="1" i="0" u="none" strike="noStrike" cap="none" dirty="0">
                <a:solidFill>
                  <a:schemeClr val="dk1"/>
                </a:solidFill>
                <a:latin typeface="Times New Roman"/>
                <a:ea typeface="Times New Roman"/>
                <a:cs typeface="Times New Roman"/>
                <a:sym typeface="Times New Roman"/>
              </a:rPr>
              <a:t>What is Regularization in Machine Learning?</a:t>
            </a:r>
            <a:endParaRPr sz="1600" b="0" i="0" u="none" strike="noStrike" cap="none" dirty="0">
              <a:solidFill>
                <a:srgbClr val="000000"/>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Regularization refers to techniques that are used to calibrate machine learning models in order to minimize the adjusted loss function and prevent overfitting or underfitting.</a:t>
            </a:r>
            <a:endParaRPr sz="1600" b="0" i="0" u="none" strike="noStrike" cap="none" dirty="0">
              <a:solidFill>
                <a:srgbClr val="000000"/>
              </a:solidFill>
              <a:latin typeface="Arial"/>
              <a:ea typeface="Arial"/>
              <a:cs typeface="Arial"/>
              <a:sym typeface="Arial"/>
            </a:endParaRPr>
          </a:p>
          <a:p>
            <a:pPr marL="228600" marR="0" lvl="0" indent="-101600" algn="l" rtl="0">
              <a:lnSpc>
                <a:spcPct val="90000"/>
              </a:lnSpc>
              <a:spcBef>
                <a:spcPts val="1000"/>
              </a:spcBef>
              <a:spcAft>
                <a:spcPts val="0"/>
              </a:spcAft>
              <a:buClr>
                <a:schemeClr val="dk1"/>
              </a:buClr>
              <a:buSzPts val="20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228600" marR="0" lvl="0" indent="-101600" algn="l" rtl="0">
              <a:lnSpc>
                <a:spcPct val="90000"/>
              </a:lnSpc>
              <a:spcBef>
                <a:spcPts val="10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pic>
        <p:nvPicPr>
          <p:cNvPr id="365" name="Google Shape;365;p26"/>
          <p:cNvPicPr preferRelativeResize="0"/>
          <p:nvPr/>
        </p:nvPicPr>
        <p:blipFill rotWithShape="1">
          <a:blip r:embed="rId5">
            <a:alphaModFix/>
          </a:blip>
          <a:srcRect/>
          <a:stretch/>
        </p:blipFill>
        <p:spPr>
          <a:xfrm>
            <a:off x="1270035" y="3096352"/>
            <a:ext cx="8200535" cy="273806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pic>
        <p:nvPicPr>
          <p:cNvPr id="371" name="Google Shape;371;p27"/>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72" name="Google Shape;372;p27"/>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73" name="Google Shape;373;p27"/>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74" name="Google Shape;37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
        <p:nvSpPr>
          <p:cNvPr id="375" name="Google Shape;375;p27"/>
          <p:cNvSpPr txBox="1"/>
          <p:nvPr/>
        </p:nvSpPr>
        <p:spPr>
          <a:xfrm>
            <a:off x="131618" y="891033"/>
            <a:ext cx="11502324" cy="5830441"/>
          </a:xfrm>
          <a:prstGeom prst="rect">
            <a:avLst/>
          </a:prstGeom>
          <a:noFill/>
          <a:ln>
            <a:noFill/>
          </a:ln>
        </p:spPr>
        <p:txBody>
          <a:bodyPr spcFirstLastPara="1" wrap="square" lIns="91425" tIns="45700" rIns="91425" bIns="45700" anchor="t" anchorCtr="0">
            <a:noAutofit/>
          </a:bodyPr>
          <a:lstStyle/>
          <a:p>
            <a:pPr marR="0" lvl="0" algn="l" rtl="0">
              <a:lnSpc>
                <a:spcPct val="90000"/>
              </a:lnSpc>
              <a:spcBef>
                <a:spcPts val="1000"/>
              </a:spcBef>
              <a:spcAft>
                <a:spcPts val="0"/>
              </a:spcAft>
              <a:buClr>
                <a:schemeClr val="dk1"/>
              </a:buClr>
              <a:buSzPts val="2000"/>
            </a:pPr>
            <a:r>
              <a:rPr lang="en-US" sz="2800" b="1" i="0" u="none" strike="noStrike" cap="none" dirty="0">
                <a:solidFill>
                  <a:schemeClr val="dk1"/>
                </a:solidFill>
                <a:latin typeface="Times New Roman"/>
                <a:ea typeface="Times New Roman"/>
                <a:cs typeface="Times New Roman"/>
                <a:sym typeface="Times New Roman"/>
              </a:rPr>
              <a:t>Regularization Techniques</a:t>
            </a:r>
            <a:endParaRPr sz="1800" b="0" i="0" u="none" strike="noStrike" cap="none" dirty="0">
              <a:solidFill>
                <a:srgbClr val="000000"/>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000"/>
              <a:buFont typeface="Arial"/>
              <a:buNone/>
            </a:pPr>
            <a:r>
              <a:rPr lang="en-US" sz="2400" b="1" i="0" u="none" strike="noStrike" cap="none" dirty="0">
                <a:solidFill>
                  <a:schemeClr val="dk1"/>
                </a:solidFill>
                <a:latin typeface="Times New Roman"/>
                <a:ea typeface="Times New Roman"/>
                <a:cs typeface="Times New Roman"/>
                <a:sym typeface="Times New Roman"/>
              </a:rPr>
              <a:t>1. Ridge Regularization </a:t>
            </a:r>
            <a:r>
              <a:rPr lang="en-US" sz="24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rgbClr val="000000"/>
              </a:solidFill>
              <a:latin typeface="Arial"/>
              <a:ea typeface="Arial"/>
              <a:cs typeface="Arial"/>
              <a:sym typeface="Arial"/>
            </a:endParaRPr>
          </a:p>
          <a:p>
            <a:pPr marL="0" marR="0" lvl="0" indent="0" algn="just" rtl="0">
              <a:lnSpc>
                <a:spcPct val="90000"/>
              </a:lnSpc>
              <a:spcBef>
                <a:spcPts val="1000"/>
              </a:spcBef>
              <a:spcAft>
                <a:spcPts val="0"/>
              </a:spcAft>
              <a:buClr>
                <a:schemeClr val="dk1"/>
              </a:buClr>
              <a:buSzPts val="2000"/>
              <a:buFont typeface="Arial"/>
              <a:buNone/>
            </a:pPr>
            <a:r>
              <a:rPr lang="en-US" sz="2400" b="0" i="0" u="none" strike="noStrike" cap="none" dirty="0">
                <a:solidFill>
                  <a:schemeClr val="dk1"/>
                </a:solidFill>
                <a:latin typeface="Times New Roman"/>
                <a:ea typeface="Times New Roman"/>
                <a:cs typeface="Times New Roman"/>
                <a:sym typeface="Times New Roman"/>
              </a:rPr>
              <a:t>	It modifies the over-fitted or under fitted models by adding the penalty equivalent to the sum of the squares of the magnitude of coefficients.</a:t>
            </a:r>
            <a:endParaRPr sz="1600" b="0" i="0" u="none" strike="noStrike" cap="none" dirty="0">
              <a:solidFill>
                <a:srgbClr val="000000"/>
              </a:solidFill>
              <a:latin typeface="Arial"/>
              <a:ea typeface="Arial"/>
              <a:cs typeface="Arial"/>
              <a:sym typeface="Arial"/>
            </a:endParaRPr>
          </a:p>
          <a:p>
            <a:pPr marL="0" marR="0" lvl="0" indent="0" algn="just" rtl="0">
              <a:lnSpc>
                <a:spcPct val="90000"/>
              </a:lnSpc>
              <a:spcBef>
                <a:spcPts val="1000"/>
              </a:spcBef>
              <a:spcAft>
                <a:spcPts val="0"/>
              </a:spcAft>
              <a:buClr>
                <a:schemeClr val="dk1"/>
              </a:buClr>
              <a:buSzPts val="2000"/>
              <a:buFont typeface="Arial"/>
              <a:buNone/>
            </a:pPr>
            <a:r>
              <a:rPr lang="en-US" sz="2400" b="0" i="0" u="none" strike="noStrike" cap="none" dirty="0">
                <a:solidFill>
                  <a:schemeClr val="dk1"/>
                </a:solidFill>
                <a:latin typeface="Times New Roman"/>
                <a:ea typeface="Times New Roman"/>
                <a:cs typeface="Times New Roman"/>
                <a:sym typeface="Times New Roman"/>
              </a:rPr>
              <a:t>This means that the mathematical function representing our machine learning model is minimized and coefficients are calculated. The magnitude of coefficients is squared and added. Ridge Regression performs regularization by shrinking the coefficients present. The function depicted below shows the cost function of ridge regression :</a:t>
            </a:r>
            <a:endParaRPr sz="1600" b="0" i="0" u="none" strike="noStrike" cap="none" dirty="0">
              <a:solidFill>
                <a:srgbClr val="000000"/>
              </a:solidFill>
              <a:latin typeface="Arial"/>
              <a:ea typeface="Arial"/>
              <a:cs typeface="Arial"/>
              <a:sym typeface="Arial"/>
            </a:endParaRPr>
          </a:p>
          <a:p>
            <a:pPr marL="0" marR="0" lvl="0" indent="0" algn="just" rtl="0">
              <a:lnSpc>
                <a:spcPct val="90000"/>
              </a:lnSpc>
              <a:spcBef>
                <a:spcPts val="10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chemeClr val="dk1"/>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p:txBody>
      </p:sp>
      <p:pic>
        <p:nvPicPr>
          <p:cNvPr id="376" name="Google Shape;376;p27"/>
          <p:cNvPicPr preferRelativeResize="0"/>
          <p:nvPr/>
        </p:nvPicPr>
        <p:blipFill rotWithShape="1">
          <a:blip r:embed="rId5">
            <a:alphaModFix/>
          </a:blip>
          <a:srcRect/>
          <a:stretch/>
        </p:blipFill>
        <p:spPr>
          <a:xfrm>
            <a:off x="2565779" y="4245428"/>
            <a:ext cx="7192369" cy="253352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28"/>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83" name="Google Shape;383;p28"/>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84" name="Google Shape;384;p28"/>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85" name="Google Shape;38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sp>
        <p:nvSpPr>
          <p:cNvPr id="386" name="Google Shape;386;p28"/>
          <p:cNvSpPr txBox="1"/>
          <p:nvPr/>
        </p:nvSpPr>
        <p:spPr>
          <a:xfrm>
            <a:off x="202340" y="876094"/>
            <a:ext cx="11764371" cy="531549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000"/>
              <a:buFont typeface="Arial"/>
              <a:buNone/>
            </a:pPr>
            <a:r>
              <a:rPr lang="en-US" sz="2400" b="1" i="0" u="none" strike="noStrike" cap="none" dirty="0">
                <a:solidFill>
                  <a:schemeClr val="dk1"/>
                </a:solidFill>
                <a:latin typeface="Times New Roman"/>
                <a:ea typeface="Times New Roman"/>
                <a:cs typeface="Times New Roman"/>
                <a:sym typeface="Times New Roman"/>
              </a:rPr>
              <a:t>2. </a:t>
            </a:r>
            <a:r>
              <a:rPr lang="en-US" sz="2800" b="1" i="0" u="none" strike="noStrike" cap="none" dirty="0">
                <a:solidFill>
                  <a:schemeClr val="dk1"/>
                </a:solidFill>
                <a:latin typeface="Times New Roman"/>
                <a:ea typeface="Times New Roman"/>
                <a:cs typeface="Times New Roman"/>
                <a:sym typeface="Times New Roman"/>
              </a:rPr>
              <a:t>Lasso Regression:</a:t>
            </a:r>
            <a:endParaRPr sz="2800" b="1" i="0" u="none" strike="noStrike" cap="none" dirty="0">
              <a:solidFill>
                <a:schemeClr val="dk1"/>
              </a:solidFill>
              <a:latin typeface="Times New Roman"/>
              <a:ea typeface="Times New Roman"/>
              <a:cs typeface="Times New Roman"/>
              <a:sym typeface="Times New Roman"/>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It modifies the over-fitted or under-fitted models by adding the penalty equivalent to the sum of the absolute values of coefficients. </a:t>
            </a:r>
            <a:endParaRPr sz="1600" b="0" i="0" u="none" strike="noStrike" cap="none" dirty="0">
              <a:solidFill>
                <a:srgbClr val="000000"/>
              </a:solidFill>
              <a:latin typeface="Arial"/>
              <a:ea typeface="Arial"/>
              <a:cs typeface="Arial"/>
              <a:sym typeface="Arial"/>
            </a:endParaRPr>
          </a:p>
          <a:p>
            <a:pPr marL="228600" marR="0" lvl="0" indent="-228600" algn="just" rtl="0">
              <a:lnSpc>
                <a:spcPct val="90000"/>
              </a:lnSpc>
              <a:spcBef>
                <a:spcPts val="1000"/>
              </a:spcBef>
              <a:spcAft>
                <a:spcPts val="0"/>
              </a:spcAft>
              <a:buClr>
                <a:schemeClr val="dk1"/>
              </a:buClr>
              <a:buSzPts val="2000"/>
              <a:buFont typeface="Arial"/>
              <a:buChar char="•"/>
            </a:pPr>
            <a:r>
              <a:rPr lang="en-US" sz="2400" b="0" i="0" u="none" strike="noStrike" cap="none" dirty="0">
                <a:solidFill>
                  <a:schemeClr val="dk1"/>
                </a:solidFill>
                <a:latin typeface="Times New Roman"/>
                <a:ea typeface="Times New Roman"/>
                <a:cs typeface="Times New Roman"/>
                <a:sym typeface="Times New Roman"/>
              </a:rPr>
              <a:t>Lasso regression also performs coefficient minimization,  but instead of squaring the magnitudes of the coefficients, it takes the true values of coefficients. This means that the coefficient sum can also be 0, because of the presence of negative coefficients. Consider the cost function for Lasso regression :</a:t>
            </a:r>
            <a:endParaRPr sz="1600" b="0" i="0" u="none" strike="noStrike" cap="none" dirty="0">
              <a:solidFill>
                <a:srgbClr val="000000"/>
              </a:solidFill>
              <a:latin typeface="Arial"/>
              <a:ea typeface="Arial"/>
              <a:cs typeface="Arial"/>
              <a:sym typeface="Arial"/>
            </a:endParaRPr>
          </a:p>
          <a:p>
            <a:pPr marL="228600" marR="0" lvl="0" indent="-101600" algn="just" rtl="0">
              <a:lnSpc>
                <a:spcPct val="90000"/>
              </a:lnSpc>
              <a:spcBef>
                <a:spcPts val="1000"/>
              </a:spcBef>
              <a:spcAft>
                <a:spcPts val="0"/>
              </a:spcAft>
              <a:buClr>
                <a:schemeClr val="dk1"/>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p:txBody>
      </p:sp>
      <p:pic>
        <p:nvPicPr>
          <p:cNvPr id="387" name="Google Shape;387;p28"/>
          <p:cNvPicPr preferRelativeResize="0"/>
          <p:nvPr/>
        </p:nvPicPr>
        <p:blipFill rotWithShape="1">
          <a:blip r:embed="rId5">
            <a:alphaModFix/>
          </a:blip>
          <a:srcRect/>
          <a:stretch/>
        </p:blipFill>
        <p:spPr>
          <a:xfrm>
            <a:off x="2306472" y="3788229"/>
            <a:ext cx="7806519" cy="284458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28"/>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83" name="Google Shape;383;p28"/>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84" name="Google Shape;384;p28"/>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85" name="Google Shape;38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44</a:t>
            </a:fld>
            <a:endParaRPr/>
          </a:p>
        </p:txBody>
      </p:sp>
      <p:pic>
        <p:nvPicPr>
          <p:cNvPr id="2" name="Picture 1"/>
          <p:cNvPicPr>
            <a:picLocks noChangeAspect="1"/>
          </p:cNvPicPr>
          <p:nvPr/>
        </p:nvPicPr>
        <p:blipFill>
          <a:blip r:embed="rId5"/>
          <a:stretch>
            <a:fillRect/>
          </a:stretch>
        </p:blipFill>
        <p:spPr>
          <a:xfrm>
            <a:off x="22302" y="-44371"/>
            <a:ext cx="12169698" cy="6874728"/>
          </a:xfrm>
          <a:prstGeom prst="rect">
            <a:avLst/>
          </a:prstGeom>
        </p:spPr>
      </p:pic>
    </p:spTree>
    <p:extLst>
      <p:ext uri="{BB962C8B-B14F-4D97-AF65-F5344CB8AC3E}">
        <p14:creationId xmlns:p14="http://schemas.microsoft.com/office/powerpoint/2010/main" val="10233456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28"/>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383" name="Google Shape;383;p28"/>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384" name="Google Shape;384;p28"/>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385" name="Google Shape;38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pic>
        <p:nvPicPr>
          <p:cNvPr id="3" name="Picture 2"/>
          <p:cNvPicPr>
            <a:picLocks noChangeAspect="1"/>
          </p:cNvPicPr>
          <p:nvPr/>
        </p:nvPicPr>
        <p:blipFill>
          <a:blip r:embed="rId5"/>
          <a:stretch>
            <a:fillRect/>
          </a:stretch>
        </p:blipFill>
        <p:spPr>
          <a:xfrm>
            <a:off x="-22948" y="1056640"/>
            <a:ext cx="12214948" cy="5773717"/>
          </a:xfrm>
          <a:prstGeom prst="rect">
            <a:avLst/>
          </a:prstGeom>
        </p:spPr>
      </p:pic>
    </p:spTree>
    <p:extLst>
      <p:ext uri="{BB962C8B-B14F-4D97-AF65-F5344CB8AC3E}">
        <p14:creationId xmlns:p14="http://schemas.microsoft.com/office/powerpoint/2010/main" val="464114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3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404" name="Google Shape;404;p3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405" name="Google Shape;405;p3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406" name="Google Shape;40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
        <p:nvSpPr>
          <p:cNvPr id="407" name="Google Shape;407;p30"/>
          <p:cNvSpPr txBox="1"/>
          <p:nvPr/>
        </p:nvSpPr>
        <p:spPr>
          <a:xfrm>
            <a:off x="316637" y="2605182"/>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Rectangle 1"/>
          <p:cNvSpPr/>
          <p:nvPr/>
        </p:nvSpPr>
        <p:spPr>
          <a:xfrm>
            <a:off x="223520" y="929146"/>
            <a:ext cx="5966698" cy="584775"/>
          </a:xfrm>
          <a:prstGeom prst="rect">
            <a:avLst/>
          </a:prstGeom>
        </p:spPr>
        <p:txBody>
          <a:bodyPr wrap="none">
            <a:spAutoFit/>
          </a:bodyPr>
          <a:lstStyle/>
          <a:p>
            <a:pPr fontAlgn="base"/>
            <a:r>
              <a:rPr lang="en-IN" sz="3200" b="1" dirty="0">
                <a:solidFill>
                  <a:srgbClr val="273239"/>
                </a:solidFill>
                <a:latin typeface="Source Sans 3"/>
              </a:rPr>
              <a:t>What is Feature Engineering?</a:t>
            </a:r>
          </a:p>
        </p:txBody>
      </p:sp>
      <p:sp>
        <p:nvSpPr>
          <p:cNvPr id="3" name="Rectangle 2"/>
          <p:cNvSpPr/>
          <p:nvPr/>
        </p:nvSpPr>
        <p:spPr>
          <a:xfrm>
            <a:off x="223520" y="1585183"/>
            <a:ext cx="11582400" cy="2308324"/>
          </a:xfrm>
          <a:prstGeom prst="rect">
            <a:avLst/>
          </a:prstGeom>
        </p:spPr>
        <p:txBody>
          <a:bodyPr wrap="square">
            <a:spAutoFit/>
          </a:bodyPr>
          <a:lstStyle/>
          <a:p>
            <a:pPr marL="285750" indent="-285750" fontAlgn="base">
              <a:buFont typeface="Arial" panose="020B0604020202020204" pitchFamily="34" charset="0"/>
              <a:buChar char="•"/>
            </a:pPr>
            <a:r>
              <a:rPr lang="en-US" sz="1800" dirty="0">
                <a:solidFill>
                  <a:srgbClr val="273239"/>
                </a:solidFill>
                <a:latin typeface="Nunito"/>
              </a:rPr>
              <a:t>Feature engineering is the process of </a:t>
            </a:r>
            <a:r>
              <a:rPr lang="en-US" sz="1800" b="1" dirty="0">
                <a:solidFill>
                  <a:srgbClr val="273239"/>
                </a:solidFill>
                <a:latin typeface="Nunito"/>
              </a:rPr>
              <a:t>turning raw data </a:t>
            </a:r>
            <a:r>
              <a:rPr lang="en-US" sz="1800" dirty="0">
                <a:solidFill>
                  <a:srgbClr val="273239"/>
                </a:solidFill>
                <a:latin typeface="Nunito"/>
              </a:rPr>
              <a:t>into useful features that </a:t>
            </a:r>
            <a:r>
              <a:rPr lang="en-US" sz="1800" b="1" dirty="0">
                <a:solidFill>
                  <a:srgbClr val="273239"/>
                </a:solidFill>
                <a:latin typeface="Nunito"/>
              </a:rPr>
              <a:t>help improve the performance</a:t>
            </a:r>
            <a:r>
              <a:rPr lang="en-US" sz="1800" dirty="0">
                <a:solidFill>
                  <a:srgbClr val="273239"/>
                </a:solidFill>
                <a:latin typeface="Nunito"/>
              </a:rPr>
              <a:t> of machine learning models. It includes </a:t>
            </a:r>
            <a:r>
              <a:rPr lang="en-US" sz="1800" b="1" dirty="0">
                <a:solidFill>
                  <a:srgbClr val="273239"/>
                </a:solidFill>
                <a:latin typeface="Nunito"/>
              </a:rPr>
              <a:t>choosing, creating and adjusting data attributes </a:t>
            </a:r>
            <a:r>
              <a:rPr lang="en-US" sz="1800" dirty="0">
                <a:solidFill>
                  <a:srgbClr val="273239"/>
                </a:solidFill>
                <a:latin typeface="Nunito"/>
              </a:rPr>
              <a:t>to make the model’s predictions </a:t>
            </a:r>
            <a:r>
              <a:rPr lang="en-US" sz="1800" b="1" dirty="0">
                <a:solidFill>
                  <a:srgbClr val="273239"/>
                </a:solidFill>
                <a:latin typeface="Nunito"/>
              </a:rPr>
              <a:t>more accurate</a:t>
            </a:r>
            <a:r>
              <a:rPr lang="en-US" sz="1800" dirty="0">
                <a:solidFill>
                  <a:srgbClr val="273239"/>
                </a:solidFill>
                <a:latin typeface="Nunito"/>
              </a:rPr>
              <a:t>. The goal is to make the model better by providing relevant and easy-to-understand information.</a:t>
            </a:r>
          </a:p>
          <a:p>
            <a:pPr marL="285750" indent="-285750" fontAlgn="base">
              <a:buFont typeface="Arial" panose="020B0604020202020204" pitchFamily="34" charset="0"/>
              <a:buChar char="•"/>
            </a:pPr>
            <a:r>
              <a:rPr lang="en-US" sz="1800" dirty="0">
                <a:solidFill>
                  <a:srgbClr val="273239"/>
                </a:solidFill>
                <a:latin typeface="Nunito"/>
              </a:rPr>
              <a:t>A feature or attribute is a measurable property of data that is used as input for machine learning algorithms. Features can be numerical, categorical or text-based representing essential data aspects which are relevant to the problem. For example in housing price prediction, features might include the number of bedrooms, location and property age.</a:t>
            </a:r>
          </a:p>
        </p:txBody>
      </p:sp>
      <p:pic>
        <p:nvPicPr>
          <p:cNvPr id="4" name="Picture 3"/>
          <p:cNvPicPr>
            <a:picLocks noChangeAspect="1"/>
          </p:cNvPicPr>
          <p:nvPr/>
        </p:nvPicPr>
        <p:blipFill>
          <a:blip r:embed="rId5"/>
          <a:stretch>
            <a:fillRect/>
          </a:stretch>
        </p:blipFill>
        <p:spPr>
          <a:xfrm>
            <a:off x="2988881" y="3759200"/>
            <a:ext cx="6051677" cy="28346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3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404" name="Google Shape;404;p3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405" name="Google Shape;405;p3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406" name="Google Shape;40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407" name="Google Shape;407;p30"/>
          <p:cNvSpPr txBox="1"/>
          <p:nvPr/>
        </p:nvSpPr>
        <p:spPr>
          <a:xfrm>
            <a:off x="316637" y="2605182"/>
            <a:ext cx="10044154" cy="3815777"/>
          </a:xfrm>
          <a:prstGeom prst="rect">
            <a:avLst/>
          </a:prstGeom>
          <a:noFill/>
          <a:ln>
            <a:noFill/>
          </a:ln>
        </p:spPr>
        <p:txBody>
          <a:bodyPr spcFirstLastPara="1" wrap="square" lIns="91425" tIns="45700" rIns="91425" bIns="45700" anchor="t" anchorCtr="0">
            <a:noAutofit/>
          </a:bodyPr>
          <a:lstStyle/>
          <a:p>
            <a:pPr marL="320040" marR="0" lvl="0" indent="-226123" algn="l" rtl="0">
              <a:lnSpc>
                <a:spcPct val="90000"/>
              </a:lnSpc>
              <a:spcBef>
                <a:spcPts val="700"/>
              </a:spcBef>
              <a:spcAft>
                <a:spcPts val="1200"/>
              </a:spcAft>
              <a:buClr>
                <a:schemeClr val="dk1"/>
              </a:buClr>
              <a:buSzPts val="1933"/>
              <a:buFont typeface="Arial"/>
              <a:buNone/>
            </a:pPr>
            <a:endParaRPr sz="2000" b="0" i="0" u="none" strike="noStrike" cap="none">
              <a:solidFill>
                <a:schemeClr val="dk1"/>
              </a:solidFill>
              <a:latin typeface="Times New Roman"/>
              <a:ea typeface="Times New Roman"/>
              <a:cs typeface="Times New Roman"/>
              <a:sym typeface="Times New Roman"/>
            </a:endParaRPr>
          </a:p>
        </p:txBody>
      </p:sp>
      <p:sp>
        <p:nvSpPr>
          <p:cNvPr id="2" name="Rectangle 1"/>
          <p:cNvSpPr/>
          <p:nvPr/>
        </p:nvSpPr>
        <p:spPr>
          <a:xfrm>
            <a:off x="111760" y="1020889"/>
            <a:ext cx="10647680" cy="4416594"/>
          </a:xfrm>
          <a:prstGeom prst="rect">
            <a:avLst/>
          </a:prstGeom>
        </p:spPr>
        <p:txBody>
          <a:bodyPr wrap="square">
            <a:spAutoFit/>
          </a:bodyPr>
          <a:lstStyle/>
          <a:p>
            <a:pPr fontAlgn="base"/>
            <a:r>
              <a:rPr lang="en-US" sz="3600" b="1" dirty="0">
                <a:solidFill>
                  <a:srgbClr val="273239"/>
                </a:solidFill>
                <a:latin typeface="Nunito"/>
              </a:rPr>
              <a:t>Importance of Feature Engineering</a:t>
            </a:r>
          </a:p>
          <a:p>
            <a:pPr fontAlgn="base"/>
            <a:endParaRPr lang="en-US" sz="2000" b="1" dirty="0">
              <a:solidFill>
                <a:srgbClr val="273239"/>
              </a:solidFill>
              <a:latin typeface="Nunito"/>
            </a:endParaRPr>
          </a:p>
          <a:p>
            <a:pPr fontAlgn="base">
              <a:spcBef>
                <a:spcPts val="600"/>
              </a:spcBef>
            </a:pPr>
            <a:r>
              <a:rPr lang="en-US" sz="2000" dirty="0">
                <a:solidFill>
                  <a:srgbClr val="273239"/>
                </a:solidFill>
                <a:latin typeface="Nunito"/>
              </a:rPr>
              <a:t>Feature engineering can significantly influence model performance. By refining features, we can:</a:t>
            </a:r>
          </a:p>
          <a:p>
            <a:pPr fontAlgn="base">
              <a:spcBef>
                <a:spcPts val="600"/>
              </a:spcBef>
              <a:buFont typeface="Arial" panose="020B0604020202020204" pitchFamily="34" charset="0"/>
              <a:buChar char="•"/>
            </a:pPr>
            <a:r>
              <a:rPr lang="en-US" sz="2000" b="1" dirty="0">
                <a:solidFill>
                  <a:srgbClr val="273239"/>
                </a:solidFill>
                <a:latin typeface="Nunito"/>
              </a:rPr>
              <a:t>Improve accuracy</a:t>
            </a:r>
            <a:r>
              <a:rPr lang="en-US" sz="2000" dirty="0">
                <a:solidFill>
                  <a:srgbClr val="273239"/>
                </a:solidFill>
                <a:latin typeface="Nunito"/>
              </a:rPr>
              <a:t>: Choosing the right features helps the model learn better, leading to more accurate predictions.</a:t>
            </a:r>
          </a:p>
          <a:p>
            <a:pPr fontAlgn="base">
              <a:spcBef>
                <a:spcPts val="600"/>
              </a:spcBef>
              <a:buFont typeface="Arial" panose="020B0604020202020204" pitchFamily="34" charset="0"/>
              <a:buChar char="•"/>
            </a:pPr>
            <a:r>
              <a:rPr lang="en-US" sz="2000" b="1" dirty="0">
                <a:solidFill>
                  <a:srgbClr val="273239"/>
                </a:solidFill>
                <a:latin typeface="Nunito"/>
              </a:rPr>
              <a:t>Reduce overfitting</a:t>
            </a:r>
            <a:r>
              <a:rPr lang="en-US" sz="2000" dirty="0">
                <a:solidFill>
                  <a:srgbClr val="273239"/>
                </a:solidFill>
                <a:latin typeface="Nunito"/>
              </a:rPr>
              <a:t>: Using fewer, more important features helps the model avoid memorizing the data and perform better on new data.</a:t>
            </a:r>
          </a:p>
          <a:p>
            <a:pPr fontAlgn="base">
              <a:spcBef>
                <a:spcPts val="600"/>
              </a:spcBef>
              <a:buFont typeface="Arial" panose="020B0604020202020204" pitchFamily="34" charset="0"/>
              <a:buChar char="•"/>
            </a:pPr>
            <a:r>
              <a:rPr lang="en-US" sz="2000" b="1" dirty="0">
                <a:solidFill>
                  <a:srgbClr val="273239"/>
                </a:solidFill>
                <a:latin typeface="Nunito"/>
              </a:rPr>
              <a:t>Boost interpretability</a:t>
            </a:r>
            <a:r>
              <a:rPr lang="en-US" sz="2000" dirty="0">
                <a:solidFill>
                  <a:srgbClr val="273239"/>
                </a:solidFill>
                <a:latin typeface="Nunito"/>
              </a:rPr>
              <a:t>: Well-chosen features make it easier to understand how the model makes its predictions.</a:t>
            </a:r>
          </a:p>
          <a:p>
            <a:pPr fontAlgn="base">
              <a:spcBef>
                <a:spcPts val="600"/>
              </a:spcBef>
              <a:buFont typeface="Arial" panose="020B0604020202020204" pitchFamily="34" charset="0"/>
              <a:buChar char="•"/>
            </a:pPr>
            <a:r>
              <a:rPr lang="en-US" sz="2000" b="1" dirty="0">
                <a:solidFill>
                  <a:srgbClr val="273239"/>
                </a:solidFill>
                <a:latin typeface="Nunito"/>
              </a:rPr>
              <a:t>Enhance efficiency</a:t>
            </a:r>
            <a:r>
              <a:rPr lang="en-US" sz="2000" dirty="0">
                <a:solidFill>
                  <a:srgbClr val="273239"/>
                </a:solidFill>
                <a:latin typeface="Nunito"/>
              </a:rPr>
              <a:t>: Focusing on key features speeds up the model’s training and prediction process, saving time and resources.</a:t>
            </a:r>
          </a:p>
        </p:txBody>
      </p:sp>
    </p:spTree>
    <p:extLst>
      <p:ext uri="{BB962C8B-B14F-4D97-AF65-F5344CB8AC3E}">
        <p14:creationId xmlns:p14="http://schemas.microsoft.com/office/powerpoint/2010/main" val="41855445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3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404" name="Google Shape;404;p3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405" name="Google Shape;405;p3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406" name="Google Shape;40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407" name="Google Shape;407;p30"/>
          <p:cNvSpPr txBox="1"/>
          <p:nvPr/>
        </p:nvSpPr>
        <p:spPr>
          <a:xfrm>
            <a:off x="265837" y="1242413"/>
            <a:ext cx="10493603" cy="4487827"/>
          </a:xfrm>
          <a:prstGeom prst="rect">
            <a:avLst/>
          </a:prstGeom>
          <a:noFill/>
          <a:ln>
            <a:noFill/>
          </a:ln>
        </p:spPr>
        <p:txBody>
          <a:bodyPr spcFirstLastPara="1" wrap="square" lIns="91425" tIns="45700" rIns="91425" bIns="45700" anchor="t" anchorCtr="0">
            <a:noAutofit/>
          </a:bodyPr>
          <a:lstStyle/>
          <a:p>
            <a:pPr fontAlgn="base"/>
            <a:r>
              <a:rPr lang="en-US" sz="2800" b="1" dirty="0"/>
              <a:t>Steps in Feature Engineering</a:t>
            </a:r>
          </a:p>
          <a:p>
            <a:pPr fontAlgn="base">
              <a:spcBef>
                <a:spcPts val="600"/>
              </a:spcBef>
            </a:pPr>
            <a:r>
              <a:rPr lang="en-US" sz="2000" dirty="0"/>
              <a:t>Feature engineering can vary depending on the specific problem but the general steps are:</a:t>
            </a:r>
          </a:p>
          <a:p>
            <a:pPr fontAlgn="base">
              <a:spcBef>
                <a:spcPts val="600"/>
              </a:spcBef>
            </a:pPr>
            <a:r>
              <a:rPr lang="en-US" sz="2000" b="1" dirty="0"/>
              <a:t>Data Cleansing:</a:t>
            </a:r>
            <a:r>
              <a:rPr lang="en-US" sz="2000" dirty="0"/>
              <a:t> Identify and correct errors or inconsistencies in the dataset to ensure data quality and reliability.</a:t>
            </a:r>
          </a:p>
          <a:p>
            <a:pPr fontAlgn="base">
              <a:spcBef>
                <a:spcPts val="600"/>
              </a:spcBef>
            </a:pPr>
            <a:r>
              <a:rPr lang="en-US" sz="2000" b="1" dirty="0"/>
              <a:t>Data Transformation:</a:t>
            </a:r>
            <a:r>
              <a:rPr lang="en-US" sz="2000" dirty="0"/>
              <a:t> Transform raw data into a format suitable for modeling including scaling, normalization and encoding.</a:t>
            </a:r>
          </a:p>
          <a:p>
            <a:pPr fontAlgn="base">
              <a:spcBef>
                <a:spcPts val="600"/>
              </a:spcBef>
            </a:pPr>
            <a:r>
              <a:rPr lang="en-US" sz="2000" b="1" dirty="0"/>
              <a:t>Feature Extraction:</a:t>
            </a:r>
            <a:r>
              <a:rPr lang="en-US" sz="2000" dirty="0"/>
              <a:t> Create new features by combining or deriving information from existing ones to provide more meaningful input to the model.</a:t>
            </a:r>
          </a:p>
          <a:p>
            <a:pPr fontAlgn="base">
              <a:spcBef>
                <a:spcPts val="600"/>
              </a:spcBef>
            </a:pPr>
            <a:r>
              <a:rPr lang="en-US" sz="2000" b="1" dirty="0"/>
              <a:t>Feature Selection:</a:t>
            </a:r>
            <a:r>
              <a:rPr lang="en-US" sz="2000" dirty="0"/>
              <a:t> Choose the most relevant features for the model using techniques like correlation analysis, mutual information and stepwise regression.</a:t>
            </a:r>
          </a:p>
          <a:p>
            <a:pPr fontAlgn="base">
              <a:spcBef>
                <a:spcPts val="600"/>
              </a:spcBef>
            </a:pPr>
            <a:r>
              <a:rPr lang="en-US" sz="2000" b="1" dirty="0"/>
              <a:t>Feature Iteration:</a:t>
            </a:r>
            <a:r>
              <a:rPr lang="en-US" sz="2000" dirty="0"/>
              <a:t> Continuously refine features based on model performance by adding, removing or modifying features for improvement.</a:t>
            </a:r>
          </a:p>
        </p:txBody>
      </p:sp>
    </p:spTree>
    <p:extLst>
      <p:ext uri="{BB962C8B-B14F-4D97-AF65-F5344CB8AC3E}">
        <p14:creationId xmlns:p14="http://schemas.microsoft.com/office/powerpoint/2010/main" val="2708978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pic>
        <p:nvPicPr>
          <p:cNvPr id="403" name="Google Shape;403;p30"/>
          <p:cNvPicPr preferRelativeResize="0"/>
          <p:nvPr/>
        </p:nvPicPr>
        <p:blipFill rotWithShape="1">
          <a:blip r:embed="rId3">
            <a:alphaModFix/>
          </a:blip>
          <a:srcRect b="2862"/>
          <a:stretch/>
        </p:blipFill>
        <p:spPr>
          <a:xfrm>
            <a:off x="-22948" y="-44371"/>
            <a:ext cx="12214948" cy="6874728"/>
          </a:xfrm>
          <a:prstGeom prst="rect">
            <a:avLst/>
          </a:prstGeom>
          <a:noFill/>
          <a:ln>
            <a:noFill/>
          </a:ln>
        </p:spPr>
      </p:pic>
      <p:pic>
        <p:nvPicPr>
          <p:cNvPr id="404" name="Google Shape;404;p30"/>
          <p:cNvPicPr preferRelativeResize="0"/>
          <p:nvPr/>
        </p:nvPicPr>
        <p:blipFill rotWithShape="1">
          <a:blip r:embed="rId4">
            <a:alphaModFix/>
          </a:blip>
          <a:srcRect/>
          <a:stretch/>
        </p:blipFill>
        <p:spPr>
          <a:xfrm>
            <a:off x="22302" y="1921"/>
            <a:ext cx="6725970" cy="831628"/>
          </a:xfrm>
          <a:prstGeom prst="rect">
            <a:avLst/>
          </a:prstGeom>
          <a:noFill/>
          <a:ln>
            <a:noFill/>
          </a:ln>
        </p:spPr>
      </p:pic>
      <p:sp>
        <p:nvSpPr>
          <p:cNvPr id="405" name="Google Shape;405;p30"/>
          <p:cNvSpPr txBox="1"/>
          <p:nvPr/>
        </p:nvSpPr>
        <p:spPr>
          <a:xfrm>
            <a:off x="954722" y="44466"/>
            <a:ext cx="4928058" cy="66010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MIT School of Computing</a:t>
            </a:r>
            <a:br>
              <a:rPr lang="en-US" sz="2400" b="1" i="0" u="none" strike="noStrike" cap="none">
                <a:solidFill>
                  <a:schemeClr val="lt1"/>
                </a:solidFill>
                <a:latin typeface="Arial"/>
                <a:ea typeface="Arial"/>
                <a:cs typeface="Arial"/>
                <a:sym typeface="Arial"/>
              </a:rPr>
            </a:br>
            <a:r>
              <a:rPr lang="en-US" sz="1600" b="1" i="0" u="none" strike="noStrike" cap="none">
                <a:solidFill>
                  <a:schemeClr val="lt1"/>
                </a:solidFill>
                <a:latin typeface="Arial"/>
                <a:ea typeface="Arial"/>
                <a:cs typeface="Arial"/>
                <a:sym typeface="Arial"/>
              </a:rPr>
              <a:t>Department of Computer Science &amp; Engineering</a:t>
            </a:r>
            <a:endParaRPr sz="1600" b="1" i="0" u="none" strike="noStrike" cap="none">
              <a:solidFill>
                <a:schemeClr val="lt1"/>
              </a:solidFill>
              <a:latin typeface="Arial"/>
              <a:ea typeface="Arial"/>
              <a:cs typeface="Arial"/>
              <a:sym typeface="Arial"/>
            </a:endParaRPr>
          </a:p>
        </p:txBody>
      </p:sp>
      <p:sp>
        <p:nvSpPr>
          <p:cNvPr id="406" name="Google Shape;40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pic>
        <p:nvPicPr>
          <p:cNvPr id="2" name="Picture 1"/>
          <p:cNvPicPr>
            <a:picLocks noChangeAspect="1"/>
          </p:cNvPicPr>
          <p:nvPr/>
        </p:nvPicPr>
        <p:blipFill>
          <a:blip r:embed="rId5"/>
          <a:stretch>
            <a:fillRect/>
          </a:stretch>
        </p:blipFill>
        <p:spPr>
          <a:xfrm>
            <a:off x="6790751" y="44466"/>
            <a:ext cx="5302523" cy="2932414"/>
          </a:xfrm>
          <a:prstGeom prst="rect">
            <a:avLst/>
          </a:prstGeom>
        </p:spPr>
      </p:pic>
      <p:sp>
        <p:nvSpPr>
          <p:cNvPr id="3" name="Rectangle 2"/>
          <p:cNvSpPr/>
          <p:nvPr/>
        </p:nvSpPr>
        <p:spPr>
          <a:xfrm>
            <a:off x="183377" y="823046"/>
            <a:ext cx="6401049" cy="5755422"/>
          </a:xfrm>
          <a:prstGeom prst="rect">
            <a:avLst/>
          </a:prstGeom>
        </p:spPr>
        <p:txBody>
          <a:bodyPr wrap="square">
            <a:spAutoFit/>
          </a:bodyPr>
          <a:lstStyle/>
          <a:p>
            <a:pPr fontAlgn="base"/>
            <a:r>
              <a:rPr lang="en-US" b="1" dirty="0">
                <a:solidFill>
                  <a:srgbClr val="273239"/>
                </a:solidFill>
                <a:latin typeface="Nunito"/>
              </a:rPr>
              <a:t>1. </a:t>
            </a:r>
            <a:r>
              <a:rPr lang="en-US" sz="1600" b="1" dirty="0">
                <a:solidFill>
                  <a:srgbClr val="273239"/>
                </a:solidFill>
                <a:latin typeface="Nunito"/>
              </a:rPr>
              <a:t>Feature Creation</a:t>
            </a:r>
            <a:r>
              <a:rPr lang="en-US" sz="1600" dirty="0">
                <a:solidFill>
                  <a:srgbClr val="273239"/>
                </a:solidFill>
                <a:latin typeface="Nunito"/>
              </a:rPr>
              <a:t>: Feature creation involves generating new features from domain knowledge or by observing patterns in the data. It can be:</a:t>
            </a:r>
          </a:p>
          <a:p>
            <a:pPr fontAlgn="base">
              <a:buFont typeface="Arial" panose="020B0604020202020204" pitchFamily="34" charset="0"/>
              <a:buChar char="•"/>
            </a:pPr>
            <a:r>
              <a:rPr lang="en-US" sz="1600" b="1" dirty="0">
                <a:solidFill>
                  <a:srgbClr val="273239"/>
                </a:solidFill>
                <a:latin typeface="Nunito"/>
              </a:rPr>
              <a:t>Domain-specific</a:t>
            </a:r>
            <a:r>
              <a:rPr lang="en-US" sz="1600" dirty="0">
                <a:solidFill>
                  <a:srgbClr val="273239"/>
                </a:solidFill>
                <a:latin typeface="Nunito"/>
              </a:rPr>
              <a:t>: Created based on industry knowledge </a:t>
            </a:r>
            <a:r>
              <a:rPr lang="en-US" sz="1600" dirty="0" err="1">
                <a:solidFill>
                  <a:srgbClr val="273239"/>
                </a:solidFill>
                <a:latin typeface="Nunito"/>
              </a:rPr>
              <a:t>likr</a:t>
            </a:r>
            <a:r>
              <a:rPr lang="en-US" sz="1600" dirty="0">
                <a:solidFill>
                  <a:srgbClr val="273239"/>
                </a:solidFill>
                <a:latin typeface="Nunito"/>
              </a:rPr>
              <a:t> business rules.</a:t>
            </a:r>
          </a:p>
          <a:p>
            <a:pPr fontAlgn="base">
              <a:buFont typeface="Arial" panose="020B0604020202020204" pitchFamily="34" charset="0"/>
              <a:buChar char="•"/>
            </a:pPr>
            <a:r>
              <a:rPr lang="en-US" sz="1600" b="1" dirty="0">
                <a:solidFill>
                  <a:srgbClr val="273239"/>
                </a:solidFill>
                <a:latin typeface="Nunito"/>
              </a:rPr>
              <a:t>Data-driven</a:t>
            </a:r>
            <a:r>
              <a:rPr lang="en-US" sz="1600" dirty="0">
                <a:solidFill>
                  <a:srgbClr val="273239"/>
                </a:solidFill>
                <a:latin typeface="Nunito"/>
              </a:rPr>
              <a:t>: Derived by recognizing patterns in data.</a:t>
            </a:r>
          </a:p>
          <a:p>
            <a:pPr fontAlgn="base">
              <a:buFont typeface="Arial" panose="020B0604020202020204" pitchFamily="34" charset="0"/>
              <a:buChar char="•"/>
            </a:pPr>
            <a:r>
              <a:rPr lang="en-US" sz="1600" b="1" dirty="0">
                <a:solidFill>
                  <a:srgbClr val="273239"/>
                </a:solidFill>
                <a:latin typeface="Nunito"/>
              </a:rPr>
              <a:t>Synthetic</a:t>
            </a:r>
            <a:r>
              <a:rPr lang="en-US" sz="1600" dirty="0">
                <a:solidFill>
                  <a:srgbClr val="273239"/>
                </a:solidFill>
                <a:latin typeface="Nunito"/>
              </a:rPr>
              <a:t>: Formed by combining existing features.</a:t>
            </a:r>
          </a:p>
          <a:p>
            <a:pPr fontAlgn="base">
              <a:buFont typeface="Arial" panose="020B0604020202020204" pitchFamily="34" charset="0"/>
              <a:buChar char="•"/>
            </a:pPr>
            <a:endParaRPr lang="en-US" sz="1600" dirty="0">
              <a:solidFill>
                <a:srgbClr val="273239"/>
              </a:solidFill>
              <a:latin typeface="Nunito"/>
            </a:endParaRPr>
          </a:p>
          <a:p>
            <a:pPr fontAlgn="base"/>
            <a:r>
              <a:rPr lang="en-US" sz="1600" b="1" dirty="0">
                <a:solidFill>
                  <a:srgbClr val="273239"/>
                </a:solidFill>
                <a:latin typeface="Nunito"/>
              </a:rPr>
              <a:t>2. Feature Transformation</a:t>
            </a:r>
            <a:r>
              <a:rPr lang="en-US" sz="1600" dirty="0">
                <a:solidFill>
                  <a:srgbClr val="273239"/>
                </a:solidFill>
                <a:latin typeface="Nunito"/>
              </a:rPr>
              <a:t>: Transformation adjusts features to improve model learning:</a:t>
            </a:r>
          </a:p>
          <a:p>
            <a:pPr fontAlgn="base">
              <a:buFont typeface="Arial" panose="020B0604020202020204" pitchFamily="34" charset="0"/>
              <a:buChar char="•"/>
            </a:pPr>
            <a:r>
              <a:rPr lang="en-US" sz="1600" b="1" dirty="0">
                <a:solidFill>
                  <a:srgbClr val="273239"/>
                </a:solidFill>
                <a:latin typeface="Nunito"/>
              </a:rPr>
              <a:t>Normalization &amp; Scaling</a:t>
            </a:r>
            <a:r>
              <a:rPr lang="en-US" sz="1600" dirty="0">
                <a:solidFill>
                  <a:srgbClr val="273239"/>
                </a:solidFill>
                <a:latin typeface="Nunito"/>
              </a:rPr>
              <a:t>: Adjust the range of features for consistency.</a:t>
            </a:r>
          </a:p>
          <a:p>
            <a:pPr fontAlgn="base">
              <a:buFont typeface="Arial" panose="020B0604020202020204" pitchFamily="34" charset="0"/>
              <a:buChar char="•"/>
            </a:pPr>
            <a:r>
              <a:rPr lang="en-US" sz="1600" b="1" dirty="0">
                <a:solidFill>
                  <a:srgbClr val="273239"/>
                </a:solidFill>
                <a:latin typeface="Nunito"/>
              </a:rPr>
              <a:t>Encoding</a:t>
            </a:r>
            <a:r>
              <a:rPr lang="en-US" sz="1600" dirty="0">
                <a:solidFill>
                  <a:srgbClr val="273239"/>
                </a:solidFill>
                <a:latin typeface="Nunito"/>
              </a:rPr>
              <a:t>: Converts categorical data to numerical form </a:t>
            </a:r>
            <a:r>
              <a:rPr lang="en-US" sz="1600" dirty="0" err="1">
                <a:solidFill>
                  <a:srgbClr val="273239"/>
                </a:solidFill>
                <a:latin typeface="Nunito"/>
              </a:rPr>
              <a:t>i.e</a:t>
            </a:r>
            <a:r>
              <a:rPr lang="en-US" sz="1600" dirty="0">
                <a:solidFill>
                  <a:srgbClr val="273239"/>
                </a:solidFill>
                <a:latin typeface="Nunito"/>
              </a:rPr>
              <a:t> one-hot encoding.</a:t>
            </a:r>
          </a:p>
          <a:p>
            <a:pPr fontAlgn="base">
              <a:buFont typeface="Arial" panose="020B0604020202020204" pitchFamily="34" charset="0"/>
              <a:buChar char="•"/>
            </a:pPr>
            <a:r>
              <a:rPr lang="en-US" sz="1600" b="1" dirty="0">
                <a:solidFill>
                  <a:srgbClr val="273239"/>
                </a:solidFill>
                <a:latin typeface="Nunito"/>
              </a:rPr>
              <a:t>Mathematical transformations</a:t>
            </a:r>
            <a:r>
              <a:rPr lang="en-US" sz="1600" dirty="0">
                <a:solidFill>
                  <a:srgbClr val="273239"/>
                </a:solidFill>
                <a:latin typeface="Nunito"/>
              </a:rPr>
              <a:t>: Like logarithmic transformations for skewed data.</a:t>
            </a:r>
          </a:p>
          <a:p>
            <a:pPr fontAlgn="base">
              <a:buFont typeface="Arial" panose="020B0604020202020204" pitchFamily="34" charset="0"/>
              <a:buChar char="•"/>
            </a:pPr>
            <a:endParaRPr lang="en-US" sz="1600" dirty="0">
              <a:solidFill>
                <a:srgbClr val="273239"/>
              </a:solidFill>
              <a:latin typeface="Nunito"/>
            </a:endParaRPr>
          </a:p>
          <a:p>
            <a:pPr fontAlgn="base"/>
            <a:r>
              <a:rPr lang="en-US" sz="1600" b="1" dirty="0">
                <a:solidFill>
                  <a:srgbClr val="273239"/>
                </a:solidFill>
                <a:latin typeface="Nunito"/>
              </a:rPr>
              <a:t>3. Feature Extraction</a:t>
            </a:r>
            <a:r>
              <a:rPr lang="en-US" sz="1600" dirty="0">
                <a:solidFill>
                  <a:srgbClr val="273239"/>
                </a:solidFill>
                <a:latin typeface="Nunito"/>
              </a:rPr>
              <a:t>: Extracting meaningful features can reduce dimensionality and improve model accuracy:</a:t>
            </a:r>
          </a:p>
          <a:p>
            <a:pPr fontAlgn="base">
              <a:buFont typeface="Arial" panose="020B0604020202020204" pitchFamily="34" charset="0"/>
              <a:buChar char="•"/>
            </a:pPr>
            <a:r>
              <a:rPr lang="en-US" sz="1600" b="1" dirty="0">
                <a:solidFill>
                  <a:srgbClr val="273239"/>
                </a:solidFill>
                <a:latin typeface="Nunito"/>
              </a:rPr>
              <a:t>Dimensionality reduction</a:t>
            </a:r>
            <a:r>
              <a:rPr lang="en-US" sz="1600" dirty="0">
                <a:solidFill>
                  <a:srgbClr val="273239"/>
                </a:solidFill>
                <a:latin typeface="Nunito"/>
              </a:rPr>
              <a:t>: Techniques like PCA reduce features while preserving important information.</a:t>
            </a:r>
          </a:p>
          <a:p>
            <a:pPr fontAlgn="base">
              <a:buFont typeface="Arial" panose="020B0604020202020204" pitchFamily="34" charset="0"/>
              <a:buChar char="•"/>
            </a:pPr>
            <a:r>
              <a:rPr lang="en-US" sz="1600" b="1" dirty="0">
                <a:solidFill>
                  <a:srgbClr val="273239"/>
                </a:solidFill>
                <a:latin typeface="Nunito"/>
              </a:rPr>
              <a:t>Aggregation &amp; Combination</a:t>
            </a:r>
            <a:r>
              <a:rPr lang="en-US" sz="1600" dirty="0">
                <a:solidFill>
                  <a:srgbClr val="273239"/>
                </a:solidFill>
                <a:latin typeface="Nunito"/>
              </a:rPr>
              <a:t>: Summing or averaging features to simplify the model.</a:t>
            </a:r>
          </a:p>
        </p:txBody>
      </p:sp>
      <p:sp>
        <p:nvSpPr>
          <p:cNvPr id="4" name="Rectangle 3"/>
          <p:cNvSpPr/>
          <p:nvPr/>
        </p:nvSpPr>
        <p:spPr>
          <a:xfrm>
            <a:off x="6485700" y="3285259"/>
            <a:ext cx="5607574" cy="3539430"/>
          </a:xfrm>
          <a:prstGeom prst="rect">
            <a:avLst/>
          </a:prstGeom>
        </p:spPr>
        <p:txBody>
          <a:bodyPr wrap="square">
            <a:spAutoFit/>
          </a:bodyPr>
          <a:lstStyle/>
          <a:p>
            <a:pPr fontAlgn="base"/>
            <a:r>
              <a:rPr lang="en-US" sz="1600" b="1" dirty="0">
                <a:solidFill>
                  <a:srgbClr val="273239"/>
                </a:solidFill>
                <a:latin typeface="Nunito"/>
              </a:rPr>
              <a:t>4. Feature Selection</a:t>
            </a:r>
            <a:r>
              <a:rPr lang="en-US" sz="1600" dirty="0">
                <a:solidFill>
                  <a:srgbClr val="273239"/>
                </a:solidFill>
                <a:latin typeface="Nunito"/>
              </a:rPr>
              <a:t>: Feature selection involves choosing a subset of relevant features to use:</a:t>
            </a:r>
          </a:p>
          <a:p>
            <a:pPr fontAlgn="base">
              <a:buFont typeface="Arial" panose="020B0604020202020204" pitchFamily="34" charset="0"/>
              <a:buChar char="•"/>
            </a:pPr>
            <a:r>
              <a:rPr lang="en-US" sz="1600" b="1" dirty="0">
                <a:solidFill>
                  <a:srgbClr val="273239"/>
                </a:solidFill>
                <a:latin typeface="Nunito"/>
              </a:rPr>
              <a:t>Filter methods</a:t>
            </a:r>
            <a:r>
              <a:rPr lang="en-US" sz="1600" dirty="0">
                <a:solidFill>
                  <a:srgbClr val="273239"/>
                </a:solidFill>
                <a:latin typeface="Nunito"/>
              </a:rPr>
              <a:t>: Based on statistical measures like correlation.</a:t>
            </a:r>
          </a:p>
          <a:p>
            <a:pPr fontAlgn="base">
              <a:buFont typeface="Arial" panose="020B0604020202020204" pitchFamily="34" charset="0"/>
              <a:buChar char="•"/>
            </a:pPr>
            <a:r>
              <a:rPr lang="en-US" sz="1600" b="1" dirty="0">
                <a:solidFill>
                  <a:srgbClr val="273239"/>
                </a:solidFill>
                <a:latin typeface="Nunito"/>
              </a:rPr>
              <a:t>Wrapper methods</a:t>
            </a:r>
            <a:r>
              <a:rPr lang="en-US" sz="1600" dirty="0">
                <a:solidFill>
                  <a:srgbClr val="273239"/>
                </a:solidFill>
                <a:latin typeface="Nunito"/>
              </a:rPr>
              <a:t>: Select based on model performance.</a:t>
            </a:r>
          </a:p>
          <a:p>
            <a:pPr fontAlgn="base">
              <a:buFont typeface="Arial" panose="020B0604020202020204" pitchFamily="34" charset="0"/>
              <a:buChar char="•"/>
            </a:pPr>
            <a:r>
              <a:rPr lang="en-US" sz="1600" b="1" dirty="0">
                <a:solidFill>
                  <a:srgbClr val="273239"/>
                </a:solidFill>
                <a:latin typeface="Nunito"/>
              </a:rPr>
              <a:t>Embedded methods</a:t>
            </a:r>
            <a:r>
              <a:rPr lang="en-US" sz="1600" dirty="0">
                <a:solidFill>
                  <a:srgbClr val="273239"/>
                </a:solidFill>
                <a:latin typeface="Nunito"/>
              </a:rPr>
              <a:t>: Feature selection integrated within model training.</a:t>
            </a:r>
          </a:p>
          <a:p>
            <a:pPr fontAlgn="base"/>
            <a:endParaRPr lang="en-US" sz="1100" b="1" dirty="0">
              <a:solidFill>
                <a:srgbClr val="273239"/>
              </a:solidFill>
              <a:latin typeface="Nunito"/>
            </a:endParaRPr>
          </a:p>
          <a:p>
            <a:pPr fontAlgn="base"/>
            <a:r>
              <a:rPr lang="en-US" sz="1600" b="1" dirty="0">
                <a:solidFill>
                  <a:srgbClr val="273239"/>
                </a:solidFill>
                <a:latin typeface="Nunito"/>
              </a:rPr>
              <a:t>5. Feature Scaling</a:t>
            </a:r>
            <a:r>
              <a:rPr lang="en-US" sz="1600" dirty="0">
                <a:solidFill>
                  <a:srgbClr val="273239"/>
                </a:solidFill>
                <a:latin typeface="Nunito"/>
              </a:rPr>
              <a:t>: Scaling ensures that all features contribute equally to the model:</a:t>
            </a:r>
          </a:p>
          <a:p>
            <a:pPr fontAlgn="base">
              <a:buFont typeface="Arial" panose="020B0604020202020204" pitchFamily="34" charset="0"/>
              <a:buChar char="•"/>
            </a:pPr>
            <a:r>
              <a:rPr lang="en-US" sz="1600" b="1" dirty="0">
                <a:solidFill>
                  <a:srgbClr val="273239"/>
                </a:solidFill>
                <a:latin typeface="Nunito"/>
              </a:rPr>
              <a:t>Min-Max scaling</a:t>
            </a:r>
            <a:r>
              <a:rPr lang="en-US" sz="1600" dirty="0">
                <a:solidFill>
                  <a:srgbClr val="273239"/>
                </a:solidFill>
                <a:latin typeface="Nunito"/>
              </a:rPr>
              <a:t>: Rescales values to a fixed range like 0 to 1.</a:t>
            </a:r>
          </a:p>
          <a:p>
            <a:pPr fontAlgn="base">
              <a:buFont typeface="Arial" panose="020B0604020202020204" pitchFamily="34" charset="0"/>
              <a:buChar char="•"/>
            </a:pPr>
            <a:r>
              <a:rPr lang="en-US" sz="1600" b="1" dirty="0">
                <a:solidFill>
                  <a:srgbClr val="273239"/>
                </a:solidFill>
                <a:latin typeface="Nunito"/>
              </a:rPr>
              <a:t>Standard scaling</a:t>
            </a:r>
            <a:r>
              <a:rPr lang="en-US" sz="1600" dirty="0">
                <a:solidFill>
                  <a:srgbClr val="273239"/>
                </a:solidFill>
                <a:latin typeface="Nunito"/>
              </a:rPr>
              <a:t>: Normalizes to have a mean of 0 and variance of 1.</a:t>
            </a:r>
          </a:p>
        </p:txBody>
      </p:sp>
    </p:spTree>
    <p:extLst>
      <p:ext uri="{BB962C8B-B14F-4D97-AF65-F5344CB8AC3E}">
        <p14:creationId xmlns:p14="http://schemas.microsoft.com/office/powerpoint/2010/main" val="70587972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17898</TotalTime>
  <Words>4886</Words>
  <Application>Microsoft Office PowerPoint</Application>
  <PresentationFormat>Widescreen</PresentationFormat>
  <Paragraphs>459</Paragraphs>
  <Slides>49</Slides>
  <Notes>49</Notes>
  <HiddenSlides>1</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Arial</vt:lpstr>
      <vt:lpstr>Calibri</vt:lpstr>
      <vt:lpstr>inter-bold</vt:lpstr>
      <vt:lpstr>inter-regular</vt:lpstr>
      <vt:lpstr>Noto Sans Symbols</vt:lpstr>
      <vt:lpstr>Nunito</vt:lpstr>
      <vt:lpstr>Source Sans 3</vt:lpstr>
      <vt:lpstr>Times New Roman</vt:lpstr>
      <vt:lpstr>Twentieth Century</vt:lpstr>
      <vt:lpstr>Office Theme</vt:lpstr>
      <vt:lpstr>PowerPoint Presentation</vt:lpstr>
      <vt:lpstr>PowerPoint Presentation</vt:lpstr>
      <vt:lpstr>PowerPoint Presentation</vt:lpstr>
      <vt:lpstr>Biggest Confusion: AI Vs ML Vs Deep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Training, Testing, and Validation Sets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Vijaya Patil</cp:lastModifiedBy>
  <cp:revision>61</cp:revision>
  <dcterms:created xsi:type="dcterms:W3CDTF">2023-07-07T18:04:48Z</dcterms:created>
  <dcterms:modified xsi:type="dcterms:W3CDTF">2026-01-03T18:23:23Z</dcterms:modified>
</cp:coreProperties>
</file>